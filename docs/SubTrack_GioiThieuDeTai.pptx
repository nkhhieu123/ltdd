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" id="{c1a69626-42a8-3f9d-f1a4-0e0690685eb4}">
          <p14:sldIdLst>
            <p14:sldId id="256"/>
            <p14:sldId id="257"/>
            <p14:sldId id="258"/>
            <p14:sldId id="259"/>
          </p14:sldIdLst>
        </p14:section>
        <p14:section name="Khảo sát" id="{8f74127b-796d-e174-2ec2-2dd5dbf66d5e}">
          <p14:sldIdLst>
            <p14:sldId id="260"/>
          </p14:sldIdLst>
        </p14:section>
        <p14:section name="Chức năng" id="{08dd189e-6156-4791-3a5a-fd110981c561}">
          <p14:sldIdLst>
            <p14:sldId id="261"/>
            <p14:sldId id="262"/>
            <p14:sldId id="263"/>
          </p14:sldIdLst>
        </p14:section>
        <p14:section name="Triển khai" id="{47a44a73-6862-cb9c-b19a-ed13f86cae0d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tên đề tài SubTrack và các thành viên trong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D2F5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SubTrack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D2F5"/>
                </a:solidFill>
              </a:rPr>
              <a:t>Ứng dụng quản lý gói đăng ký định kỳ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8AEE8"/>
                </a:solidFill>
              </a:rPr>
              <a:t>Môn Lập trình thiết bị di động · Nhóm 4 thành viên</a:t>
            </a:r>
            <a:endParaRPr lang="en-US" sz="2200" dirty="0"/>
          </a:p>
        </p:txBody>
      </p:sp>
      <p:sp>
        <p:nvSpPr>
          <p:cNvPr id="4" name="Trang trí circle"/>
          <p:cNvSpPr/>
          <p:nvPr/>
        </p:nvSpPr>
        <p:spPr>
          <a:xfrm>
            <a:off x="8229600" y="12801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ang trí icon" descr="Trang tr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16" y="1636776"/>
            <a:ext cx="658368" cy="658368"/>
          </a:xfrm>
          <a:prstGeom prst="rect">
            <a:avLst/>
          </a:prstGeom>
        </p:spPr>
      </p:pic>
      <p:sp>
        <p:nvSpPr>
          <p:cNvPr id="6" name="Trang trí circle"/>
          <p:cNvSpPr/>
          <p:nvPr/>
        </p:nvSpPr>
        <p:spPr>
          <a:xfrm>
            <a:off x="9966960" y="210312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Trang trí icon" descr="Trang tr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253" y="2388413"/>
            <a:ext cx="526694" cy="526694"/>
          </a:xfrm>
          <a:prstGeom prst="rect">
            <a:avLst/>
          </a:prstGeom>
        </p:spPr>
      </p:pic>
      <p:sp>
        <p:nvSpPr>
          <p:cNvPr id="8" name="Trang trí circle"/>
          <p:cNvSpPr/>
          <p:nvPr/>
        </p:nvSpPr>
        <p:spPr>
          <a:xfrm>
            <a:off x="8595360" y="3108960"/>
            <a:ext cx="1737360" cy="1737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Trang trí icon" descr="Trang trí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074" y="3560674"/>
            <a:ext cx="833933" cy="833933"/>
          </a:xfrm>
          <a:prstGeom prst="rect">
            <a:avLst/>
          </a:prstGeom>
        </p:spPr>
      </p:pic>
      <p:sp>
        <p:nvSpPr>
          <p:cNvPr id="10" name="Trang trí circle"/>
          <p:cNvSpPr/>
          <p:nvPr/>
        </p:nvSpPr>
        <p:spPr>
          <a:xfrm>
            <a:off x="10424160" y="37490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Trang trí icon" descr="Trang trí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678" y="4010558"/>
            <a:ext cx="482803" cy="482803"/>
          </a:xfrm>
          <a:prstGeom prst="rect">
            <a:avLst/>
          </a:prstGeom>
        </p:spPr>
      </p:pic>
      <p:sp>
        <p:nvSpPr>
          <p:cNvPr id="12" name="Trang trí circle"/>
          <p:cNvSpPr/>
          <p:nvPr/>
        </p:nvSpPr>
        <p:spPr>
          <a:xfrm>
            <a:off x="9326880" y="5120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Trang trí icon" descr="Trang trí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850" y="533461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Tên đề tài và lý do chọn</a:t>
            </a:r>
            <a:endParaRPr lang="en-US" sz="3600" dirty="0"/>
          </a:p>
        </p:txBody>
      </p:sp>
      <p:sp>
        <p:nvSpPr>
          <p:cNvPr id="3" name="Thẻ tên đề tài"/>
          <p:cNvSpPr/>
          <p:nvPr/>
        </p:nvSpPr>
        <p:spPr>
          <a:xfrm>
            <a:off x="548640" y="1417320"/>
            <a:ext cx="3931920" cy="475488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AEE8"/>
                </a:solidFill>
              </a:rPr>
              <a:t>TÊN ĐỀ TÀI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dựng ứng dụng di động quản lý các gói đăng ký định kỳ – SubTrack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97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2F5"/>
                </a:solidFill>
              </a:rPr>
              <a:t>Ý tưởng tham khảo từ Sub Radar (subradar.app); nhóm tự thiết kế tên, giao diện và mã nguồn.</a:t>
            </a:r>
            <a:endParaRPr lang="en-US" sz="1500" dirty="0"/>
          </a:p>
        </p:txBody>
      </p:sp>
      <p:sp>
        <p:nvSpPr>
          <p:cNvPr id="7" name="Dịch vụ trả phí định kỳ ngày càng nhiều circle"/>
          <p:cNvSpPr/>
          <p:nvPr/>
        </p:nvSpPr>
        <p:spPr>
          <a:xfrm>
            <a:off x="493776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Dịch vụ trả phí định kỳ ngày càng nhiều icon" descr="Dịch vụ trả phí định kỳ ngày càng nhiề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955" y="16532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9788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Dịch vụ trả phí định kỳ ngày càng nhiều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18470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Netflix, Spotify, YouTube Premium, iCloud, phần mềm học tập… mỗi người dùng cùng lúc nhiều gói.</a:t>
            </a:r>
            <a:endParaRPr lang="en-US" sz="1500" dirty="0"/>
          </a:p>
        </p:txBody>
      </p:sp>
      <p:sp>
        <p:nvSpPr>
          <p:cNvPr id="11" name="Tự động gia hạn nên dễ quên circle"/>
          <p:cNvSpPr/>
          <p:nvPr/>
        </p:nvSpPr>
        <p:spPr>
          <a:xfrm>
            <a:off x="4937760" y="2651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Tự động gia hạn nên dễ quên icon" descr="Tự động gia hạn nên dễ quê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955" y="28419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97880" y="26334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Tự động gia hạn nên dễ quên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5897880" y="303580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Khoản nhỏ lẻ, bị trừ tiền cho cả dịch vụ không còn dùng đến.</a:t>
            </a:r>
            <a:endParaRPr lang="en-US" sz="1500" dirty="0"/>
          </a:p>
        </p:txBody>
      </p:sp>
      <p:sp>
        <p:nvSpPr>
          <p:cNvPr id="15" name="Khó biết tổng chi mỗi tháng circle"/>
          <p:cNvSpPr/>
          <p:nvPr/>
        </p:nvSpPr>
        <p:spPr>
          <a:xfrm>
            <a:off x="4937760" y="3840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Khó biết tổng chi mỗi tháng icon" descr="Khó biết tổng chi mỗi thá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955" y="40306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97880" y="38221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Khó biết tổng chi mỗi tháng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5897880" y="422452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Mỗi gói một chu kỳ tuần/tháng/năm, khó cộng dồn bằng tay.</a:t>
            </a:r>
            <a:endParaRPr lang="en-US" sz="1500" dirty="0"/>
          </a:p>
        </p:txBody>
      </p:sp>
      <p:sp>
        <p:nvSpPr>
          <p:cNvPr id="19" name="Phù hợp yêu cầu môn học circle"/>
          <p:cNvSpPr/>
          <p:nvPr/>
        </p:nvSpPr>
        <p:spPr>
          <a:xfrm>
            <a:off x="4937760" y="50292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Phù hợp yêu cầu môn học icon" descr="Phù hợp yêu cầu môn họ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955" y="521939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97880" y="50109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Phù hợp yêu cầu môn học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5897880" y="54132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Đủ CRUD, database, xử lý ngày, tìm kiếm/lọc và thống kê.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Mục đích của ứng dụng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Giúp người dùng chủ động kiểm soát mọi khoản đăng ký định kỳ ở một nơi duy nhất</a:t>
            </a:r>
            <a:endParaRPr lang="en-US" sz="1800" dirty="0"/>
          </a:p>
        </p:txBody>
      </p:sp>
      <p:sp>
        <p:nvSpPr>
          <p:cNvPr id="4" name="Thẻ Quản lý tập trung"/>
          <p:cNvSpPr/>
          <p:nvPr/>
        </p:nvSpPr>
        <p:spPr>
          <a:xfrm>
            <a:off x="548640" y="201168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5" name="Quản lý tập trung circle"/>
          <p:cNvSpPr/>
          <p:nvPr/>
        </p:nvSpPr>
        <p:spPr>
          <a:xfrm>
            <a:off x="868680" y="23317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Quản lý tập trung icon" descr="Quản lý tập tru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694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Quản lý tập trung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519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Lưu tên dịch vụ, giá, chu kỳ, ngày thanh toán, danh mục, ghi chú của mọi gói.</a:t>
            </a:r>
            <a:endParaRPr lang="en-US" sz="1500" dirty="0"/>
          </a:p>
        </p:txBody>
      </p:sp>
      <p:sp>
        <p:nvSpPr>
          <p:cNvPr id="9" name="Thẻ Nhắc trước hạn"/>
          <p:cNvSpPr/>
          <p:nvPr/>
        </p:nvSpPr>
        <p:spPr>
          <a:xfrm>
            <a:off x="3383280" y="201168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0" name="Nhắc trước hạn circle"/>
          <p:cNvSpPr/>
          <p:nvPr/>
        </p:nvSpPr>
        <p:spPr>
          <a:xfrm>
            <a:off x="3703320" y="2331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Nhắc trước hạn icon" descr="Nhắc trước hạ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5694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0332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Nhắc trước hạn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42519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Hiển thị khoản sắp đến hạn, gửi thông báo để không bị trừ tiền bất ngờ.</a:t>
            </a:r>
            <a:endParaRPr lang="en-US" sz="1500" dirty="0"/>
          </a:p>
        </p:txBody>
      </p:sp>
      <p:sp>
        <p:nvSpPr>
          <p:cNvPr id="14" name="Thẻ Nắm rõ chi phí"/>
          <p:cNvSpPr/>
          <p:nvPr/>
        </p:nvSpPr>
        <p:spPr>
          <a:xfrm>
            <a:off x="6217920" y="201168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5" name="Nắm rõ chi phí circle"/>
          <p:cNvSpPr/>
          <p:nvPr/>
        </p:nvSpPr>
        <p:spPr>
          <a:xfrm>
            <a:off x="6537960" y="23317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Nắm rõ chi phí icon" descr="Nắm rõ chi phí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25694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3796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Nắm rõ chi phí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42519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Quy đổi mọi gói về chi phí tháng, thống kê theo danh mục và gói đắt nhất.</a:t>
            </a:r>
            <a:endParaRPr lang="en-US" sz="1500" dirty="0"/>
          </a:p>
        </p:txBody>
      </p:sp>
      <p:sp>
        <p:nvSpPr>
          <p:cNvPr id="19" name="Thẻ Ra quyết định giữ / hủy"/>
          <p:cNvSpPr/>
          <p:nvPr/>
        </p:nvSpPr>
        <p:spPr>
          <a:xfrm>
            <a:off x="9052560" y="201168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0" name="Ra quyết định giữ / hủy circle"/>
          <p:cNvSpPr/>
          <p:nvPr/>
        </p:nvSpPr>
        <p:spPr>
          <a:xfrm>
            <a:off x="9372600" y="233172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Ra quyết định giữ / hủy icon" descr="Ra quyết định giữ / hủ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25694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7260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Ra quyết định giữ / hủy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425196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Thấy rõ gói nào ít dùng mà tốn tiền để chủ động hủy, tiết kiệm.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Ứng dụng phục vụ ai, giải quyết vấn đề gì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ĐỐI TƯỢNG SỬ DỤNG</a:t>
            </a:r>
            <a:endParaRPr lang="en-US" sz="1400" dirty="0"/>
          </a:p>
        </p:txBody>
      </p:sp>
      <p:sp>
        <p:nvSpPr>
          <p:cNvPr id="4" name="Sinh viên circle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inh viên icon" descr="Sinh viê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0528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56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Sinh viên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240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Ngân sách hạn chế, dùng nhiều app giải trí, học tập.</a:t>
            </a:r>
            <a:endParaRPr lang="en-US" sz="1500" dirty="0"/>
          </a:p>
        </p:txBody>
      </p:sp>
      <p:sp>
        <p:nvSpPr>
          <p:cNvPr id="8" name="Người đi làm circle"/>
          <p:cNvSpPr/>
          <p:nvPr/>
        </p:nvSpPr>
        <p:spPr>
          <a:xfrm>
            <a:off x="548640" y="32461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Người đi làm icon" descr="Người đi là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4244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227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Người đi làm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Nhiều gói công việc, lưu trữ đám mây, phần mềm.</a:t>
            </a:r>
            <a:endParaRPr lang="en-US" sz="1500" dirty="0"/>
          </a:p>
        </p:txBody>
      </p:sp>
      <p:sp>
        <p:nvSpPr>
          <p:cNvPr id="12" name="Gia đình, nhóm bạn circle"/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Gia đình, nhóm bạn icon" descr="Gia đình, nhóm bạ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7960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599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Gia đình, nhóm bạn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Dùng chung gói, cần nhớ ai trả và khi nào.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VẤN ĐỀ  →  GIẢI PHÁP</a:t>
            </a:r>
            <a:endParaRPr lang="en-US" sz="1400" dirty="0"/>
          </a:p>
        </p:txBody>
      </p:sp>
      <p:sp>
        <p:nvSpPr>
          <p:cNvPr id="17" name="Vấn đề 1"/>
          <p:cNvSpPr/>
          <p:nvPr/>
        </p:nvSpPr>
        <p:spPr>
          <a:xfrm>
            <a:off x="5212080" y="18745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EDE7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5394960" y="1874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2E1C"/>
                </a:solidFill>
              </a:rPr>
              <a:t>Quên ngày gia hạn, bị trừ tiền bất ngờ</a:t>
            </a:r>
            <a:endParaRPr lang="en-US" sz="1500" dirty="0"/>
          </a:p>
        </p:txBody>
      </p:sp>
      <p:pic>
        <p:nvPicPr>
          <p:cNvPr id="19" name="Mũi tên 1" descr="dẫn đế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2121408"/>
            <a:ext cx="365760" cy="365760"/>
          </a:xfrm>
          <a:prstGeom prst="rect">
            <a:avLst/>
          </a:prstGeom>
        </p:spPr>
      </p:pic>
      <p:sp>
        <p:nvSpPr>
          <p:cNvPr id="20" name="Giải pháp 1"/>
          <p:cNvSpPr/>
          <p:nvPr/>
        </p:nvSpPr>
        <p:spPr>
          <a:xfrm>
            <a:off x="8915400" y="187452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E3F6F4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909828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5A53"/>
                </a:solidFill>
              </a:rPr>
              <a:t>Danh sách khoản sắp đến hạn + thông báo nhắc trước</a:t>
            </a:r>
            <a:endParaRPr lang="en-US" sz="1500" dirty="0"/>
          </a:p>
        </p:txBody>
      </p:sp>
      <p:sp>
        <p:nvSpPr>
          <p:cNvPr id="22" name="Vấn đề 2"/>
          <p:cNvSpPr/>
          <p:nvPr/>
        </p:nvSpPr>
        <p:spPr>
          <a:xfrm>
            <a:off x="5212080" y="292608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EDE7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539496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2E1C"/>
                </a:solidFill>
              </a:rPr>
              <a:t>Không biết tổng chi cho đăng ký mỗi tháng</a:t>
            </a:r>
            <a:endParaRPr lang="en-US" sz="1500" dirty="0"/>
          </a:p>
        </p:txBody>
      </p:sp>
      <p:pic>
        <p:nvPicPr>
          <p:cNvPr id="24" name="Mũi tên 2" descr="dẫn đế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3172968"/>
            <a:ext cx="365760" cy="365760"/>
          </a:xfrm>
          <a:prstGeom prst="rect">
            <a:avLst/>
          </a:prstGeom>
        </p:spPr>
      </p:pic>
      <p:sp>
        <p:nvSpPr>
          <p:cNvPr id="25" name="Giải pháp 2"/>
          <p:cNvSpPr/>
          <p:nvPr/>
        </p:nvSpPr>
        <p:spPr>
          <a:xfrm>
            <a:off x="8915400" y="292608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E3F6F4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9098280" y="29260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5A53"/>
                </a:solidFill>
              </a:rPr>
              <a:t>Dashboard và thống kê quy đổi chi phí theo tháng</a:t>
            </a:r>
            <a:endParaRPr lang="en-US" sz="1500" dirty="0"/>
          </a:p>
        </p:txBody>
      </p:sp>
      <p:sp>
        <p:nvSpPr>
          <p:cNvPr id="27" name="Vấn đề 3"/>
          <p:cNvSpPr/>
          <p:nvPr/>
        </p:nvSpPr>
        <p:spPr>
          <a:xfrm>
            <a:off x="5212080" y="397764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EDE7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5394960" y="3977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2E1C"/>
                </a:solidFill>
              </a:rPr>
              <a:t>Thông tin rải rác trong email, ghi chú</a:t>
            </a:r>
            <a:endParaRPr lang="en-US" sz="1500" dirty="0"/>
          </a:p>
        </p:txBody>
      </p:sp>
      <p:pic>
        <p:nvPicPr>
          <p:cNvPr id="29" name="Mũi tên 3" descr="dẫn đế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224528"/>
            <a:ext cx="365760" cy="365760"/>
          </a:xfrm>
          <a:prstGeom prst="rect">
            <a:avLst/>
          </a:prstGeom>
        </p:spPr>
      </p:pic>
      <p:sp>
        <p:nvSpPr>
          <p:cNvPr id="30" name="Giải pháp 3"/>
          <p:cNvSpPr/>
          <p:nvPr/>
        </p:nvSpPr>
        <p:spPr>
          <a:xfrm>
            <a:off x="8915400" y="397764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E3F6F4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9098280" y="3977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5A53"/>
                </a:solidFill>
              </a:rPr>
              <a:t>Lưu tập trung một nơi, tìm kiếm, lọc, sắp xếp</a:t>
            </a:r>
            <a:endParaRPr lang="en-US" sz="1500" dirty="0"/>
          </a:p>
        </p:txBody>
      </p:sp>
      <p:sp>
        <p:nvSpPr>
          <p:cNvPr id="32" name="Vấn đề 4"/>
          <p:cNvSpPr/>
          <p:nvPr/>
        </p:nvSpPr>
        <p:spPr>
          <a:xfrm>
            <a:off x="5212080" y="50292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EDE7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5394960" y="50292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2E1C"/>
                </a:solidFill>
              </a:rPr>
              <a:t>Trả tiền cho gói không còn dùng</a:t>
            </a:r>
            <a:endParaRPr lang="en-US" sz="1500" dirty="0"/>
          </a:p>
        </p:txBody>
      </p:sp>
      <p:pic>
        <p:nvPicPr>
          <p:cNvPr id="34" name="Mũi tên 4" descr="dẫn đế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8" y="5276088"/>
            <a:ext cx="365760" cy="365760"/>
          </a:xfrm>
          <a:prstGeom prst="rect">
            <a:avLst/>
          </a:prstGeom>
        </p:spPr>
      </p:pic>
      <p:sp>
        <p:nvSpPr>
          <p:cNvPr id="35" name="Giải pháp 4"/>
          <p:cNvSpPr/>
          <p:nvPr/>
        </p:nvSpPr>
        <p:spPr>
          <a:xfrm>
            <a:off x="8915400" y="50292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E3F6F4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36" name="Text 27"/>
          <p:cNvSpPr txBox="1"/>
          <p:nvPr/>
        </p:nvSpPr>
        <p:spPr>
          <a:xfrm>
            <a:off x="9098280" y="50292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5A53"/>
                </a:solidFill>
              </a:rPr>
              <a:t>Trạng thái gói, danh sách gói tốn tiền nhất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Khảo sát ứng dụng tương tự</a:t>
            </a:r>
            <a:endParaRPr lang="en-US" sz="3600" dirty="0"/>
          </a:p>
        </p:txBody>
      </p:sp>
      <p:sp>
        <p:nvSpPr>
          <p:cNvPr id="3" name="Thẻ Sub Radar"/>
          <p:cNvSpPr/>
          <p:nvPr/>
        </p:nvSpPr>
        <p:spPr>
          <a:xfrm>
            <a:off x="548640" y="1325880"/>
            <a:ext cx="3520440" cy="3611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4" name="Sub Radar logo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Sub Radar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88"/>
                </a:solidFill>
              </a:rPr>
              <a:t>subradar.app · Web/Mobile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6E64"/>
                </a:solidFill>
              </a:rPr>
              <a:t>+  Giao diện tối giản, dễ dùng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6E64"/>
                </a:solidFill>
              </a:rPr>
              <a:t>+  Theo dõi gói và ngày gia hạn rõ ràng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23B22"/>
                </a:solidFill>
              </a:rPr>
              <a:t>−  Giao diện tiếng Anh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23B22"/>
                </a:solidFill>
              </a:rPr>
              <a:t>−  Chưa sát thói quen dùng VND và dịch vụ trong nước</a:t>
            </a:r>
            <a:endParaRPr lang="en-US" sz="1600" dirty="0"/>
          </a:p>
        </p:txBody>
      </p:sp>
      <p:sp>
        <p:nvSpPr>
          <p:cNvPr id="9" name="Thẻ Bobby"/>
          <p:cNvSpPr/>
          <p:nvPr/>
        </p:nvSpPr>
        <p:spPr>
          <a:xfrm>
            <a:off x="4297680" y="1325880"/>
            <a:ext cx="3520440" cy="3611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0" name="Bobby logo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Bobby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88"/>
                </a:solidFill>
              </a:rPr>
              <a:t>iOS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6E64"/>
                </a:solidFill>
              </a:rPr>
              <a:t>+  Thiết kế đẹp, nhập gói nhanh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6E64"/>
                </a:solidFill>
              </a:rPr>
              <a:t>+  Có sẵn biểu tượng nhiều dịch vụ, nhắc trước hạn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23B22"/>
                </a:solidFill>
              </a:rPr>
              <a:t>−  Chỉ có trên iOS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23B22"/>
                </a:solidFill>
              </a:rPr>
              <a:t>−  Bản miễn phí giới hạn số gói</a:t>
            </a:r>
            <a:endParaRPr lang="en-US" sz="1600" dirty="0"/>
          </a:p>
        </p:txBody>
      </p:sp>
      <p:sp>
        <p:nvSpPr>
          <p:cNvPr id="15" name="Thẻ Rocket Money"/>
          <p:cNvSpPr/>
          <p:nvPr/>
        </p:nvSpPr>
        <p:spPr>
          <a:xfrm>
            <a:off x="8046720" y="1325880"/>
            <a:ext cx="3520440" cy="3611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6" name="Rocket Money logo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Rocket Money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888"/>
                </a:solidFill>
              </a:rPr>
              <a:t>iOS · Android · Web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6E64"/>
                </a:solidFill>
              </a:rPr>
              <a:t>+  Tự phát hiện gói đăng ký từ tài khoản ngân hàng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E6E64"/>
                </a:solidFill>
              </a:rPr>
              <a:t>+  Hỗ trợ hủy gói, quản lý ngân sách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23B22"/>
                </a:solidFill>
              </a:rPr>
              <a:t>−  Phải liên kết ngân hàng, lo ngại riêng tư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23B22"/>
                </a:solidFill>
              </a:rPr>
              <a:t>−  Chủ yếu cho thị trường Mỹ; nhiều tính năng trả phí</a:t>
            </a:r>
            <a:endParaRPr lang="en-US" sz="1600" dirty="0"/>
          </a:p>
        </p:txBody>
      </p:sp>
      <p:sp>
        <p:nvSpPr>
          <p:cNvPr id="21" name="Điểm khác biệt"/>
          <p:cNvSpPr/>
          <p:nvPr/>
        </p:nvSpPr>
        <p:spPr>
          <a:xfrm>
            <a:off x="548640" y="5212080"/>
            <a:ext cx="110185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2" name="Điểm khác biệt circle"/>
          <p:cNvSpPr/>
          <p:nvPr/>
        </p:nvSpPr>
        <p:spPr>
          <a:xfrm>
            <a:off x="777240" y="53949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Điểm khác biệt icon" descr="Điểm khác biệ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5537606"/>
            <a:ext cx="263347" cy="26334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508760" y="5212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Hướng đi của SubTrack: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giao diện tiếng Việt, VND mặc định, nhập tay không cần liên kết ngân hàng, miễn phí, tập trung đúng nhu cầu nhắc hạn và thống kê.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Chức năng chính (MVP)</a:t>
            </a:r>
            <a:endParaRPr lang="en-US" sz="3600" dirty="0"/>
          </a:p>
        </p:txBody>
      </p:sp>
      <p:sp>
        <p:nvSpPr>
          <p:cNvPr id="3" name="Thẻ Dashboard tổng quan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4" name="Dashboard tổng quan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ashboard tổng quan icon" descr="Dashboard tổng qu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Dashboard tổng quan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Tổng số gói, chi phí tháng ước tính, khoản sắp đến hạn, gói gần nhất.</a:t>
            </a:r>
            <a:endParaRPr lang="en-US" sz="1500" dirty="0"/>
          </a:p>
        </p:txBody>
      </p:sp>
      <p:sp>
        <p:nvSpPr>
          <p:cNvPr id="8" name="Thẻ Quản lý gói (CRUD)"/>
          <p:cNvSpPr/>
          <p:nvPr/>
        </p:nvSpPr>
        <p:spPr>
          <a:xfrm>
            <a:off x="429768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9" name="Quản lý gói (CRUD) circle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Quản lý gói (CRUD) icon" descr="Quản lý gói (CRUD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242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Quản lý gói (CRUD)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Thêm, xem chi tiết, sửa, xóa gói; kiểm tra dữ liệu hợp lệ.</a:t>
            </a:r>
            <a:endParaRPr lang="en-US" sz="1500" dirty="0"/>
          </a:p>
        </p:txBody>
      </p:sp>
      <p:sp>
        <p:nvSpPr>
          <p:cNvPr id="13" name="Thẻ Tìm kiếm, lọc, sắp xếp"/>
          <p:cNvSpPr/>
          <p:nvPr/>
        </p:nvSpPr>
        <p:spPr>
          <a:xfrm>
            <a:off x="8046720" y="137160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4" name="Tìm kiếm, lọc, sắp xếp circle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Tìm kiếm, lọc, sắp xếp icon" descr="Tìm kiếm, lọc, sắp xế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18242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Tìm kiếm, lọc, sắp xếp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Tìm theo tên; lọc danh mục, trạng thái; sắp theo ngày hoặc chi phí.</a:t>
            </a:r>
            <a:endParaRPr lang="en-US" sz="1500" dirty="0"/>
          </a:p>
        </p:txBody>
      </p:sp>
      <p:sp>
        <p:nvSpPr>
          <p:cNvPr id="18" name="Thẻ Nhắc hạn thanh toán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9" name="Nhắc hạn thanh toán circle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Nhắc hạn thanh toán icon" descr="Nhắc hạn thanh toá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42931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Nhắc hạn thanh toán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Danh sách khoản sắp đến hạn; thông báo cục bộ nếu đủ thời gian.</a:t>
            </a:r>
            <a:endParaRPr lang="en-US" sz="1500" dirty="0"/>
          </a:p>
        </p:txBody>
      </p:sp>
      <p:sp>
        <p:nvSpPr>
          <p:cNvPr id="23" name="Thẻ Thống kê chi phí"/>
          <p:cNvSpPr/>
          <p:nvPr/>
        </p:nvSpPr>
        <p:spPr>
          <a:xfrm>
            <a:off x="429768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4" name="Thống kê chi phí circle"/>
          <p:cNvSpPr/>
          <p:nvPr/>
        </p:nvSpPr>
        <p:spPr>
          <a:xfrm>
            <a:off x="4572000" y="41148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Thống kê chi phí icon" descr="Thống kê chi phí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308" y="42931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Thống kê chi phí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Tổng chi theo tháng, phân bổ theo danh mục, gói chi phí cao.</a:t>
            </a:r>
            <a:endParaRPr lang="en-US" sz="1500" dirty="0"/>
          </a:p>
        </p:txBody>
      </p:sp>
      <p:sp>
        <p:nvSpPr>
          <p:cNvPr id="28" name="Thẻ Lưu trữ bền vững"/>
          <p:cNvSpPr/>
          <p:nvPr/>
        </p:nvSpPr>
        <p:spPr>
          <a:xfrm>
            <a:off x="8046720" y="38404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9" name="Lưu trữ bền vững circle"/>
          <p:cNvSpPr/>
          <p:nvPr/>
        </p:nvSpPr>
        <p:spPr>
          <a:xfrm>
            <a:off x="8321040" y="41148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Lưu trữ bền vững icon" descr="Lưu trữ bền vữ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348" y="429310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Lưu trữ bền vững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Dữ liệu lưu trên database, mở lại app vẫn còn.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Chức năng mở rộng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Làm sau khi MVP đã ổn định</a:t>
            </a:r>
            <a:endParaRPr lang="en-US" sz="1600" dirty="0"/>
          </a:p>
        </p:txBody>
      </p:sp>
      <p:sp>
        <p:nvSpPr>
          <p:cNvPr id="4" name="Đăng ký / đăng nhập circle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Đăng ký / đăng nhập icon" descr="Đăng ký / đăng nhậ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00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Đăng ký / đăng nhập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66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Mỗi tài khoản chỉ xem dữ liệu của mình</a:t>
            </a:r>
            <a:endParaRPr lang="en-US" sz="1500" dirty="0"/>
          </a:p>
        </p:txBody>
      </p:sp>
      <p:sp>
        <p:nvSpPr>
          <p:cNvPr id="8" name="Trạng thái gói circle"/>
          <p:cNvSpPr/>
          <p:nvPr/>
        </p:nvSpPr>
        <p:spPr>
          <a:xfrm>
            <a:off x="548640" y="263347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Trạng thái gói icon" descr="Trạng thái gó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799893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5968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Trạng thái gói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9626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Đang hoạt động, tạm ngưng, đã hủy</a:t>
            </a:r>
            <a:endParaRPr lang="en-US" sz="1500" dirty="0"/>
          </a:p>
        </p:txBody>
      </p:sp>
      <p:sp>
        <p:nvSpPr>
          <p:cNvPr id="12" name="Biểu đồ chi phí circle"/>
          <p:cNvSpPr/>
          <p:nvPr/>
        </p:nvSpPr>
        <p:spPr>
          <a:xfrm>
            <a:off x="548640" y="352958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Biểu đồ chi phí icon" descr="Biểu đồ chi phí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696005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Biểu đồ chi phí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858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Theo tháng và theo danh mục</a:t>
            </a:r>
            <a:endParaRPr lang="en-US" sz="1500" dirty="0"/>
          </a:p>
        </p:txBody>
      </p:sp>
      <p:sp>
        <p:nvSpPr>
          <p:cNvPr id="16" name="Tùy chọn thời gian nhắc circle"/>
          <p:cNvSpPr/>
          <p:nvPr/>
        </p:nvSpPr>
        <p:spPr>
          <a:xfrm>
            <a:off x="548640" y="4425696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Tùy chọn thời gian nhắc icon" descr="Tùy chọn thời gian nhắ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4592117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Tùy chọn thời gian nhắc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754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Nhắc trước 1, 3 hoặc 7 ngày</a:t>
            </a:r>
            <a:endParaRPr lang="en-US" sz="1500" dirty="0"/>
          </a:p>
        </p:txBody>
      </p:sp>
      <p:sp>
        <p:nvSpPr>
          <p:cNvPr id="20" name="Xuất CSV, chia sẻ báo cáo circle"/>
          <p:cNvSpPr/>
          <p:nvPr/>
        </p:nvSpPr>
        <p:spPr>
          <a:xfrm>
            <a:off x="548640" y="5321808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Xuất CSV, chia sẻ báo cáo icon" descr="Xuất CSV, chia sẻ báo cá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5488229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5285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Xuất CSV, chia sẻ báo cáo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371600" y="5650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Sao lưu danh sách, gửi báo cáo chi phí</a:t>
            </a:r>
            <a:endParaRPr lang="en-US" sz="1500" dirty="0"/>
          </a:p>
        </p:txBody>
      </p:sp>
      <p:sp>
        <p:nvSpPr>
          <p:cNvPr id="24" name="Ngoài phạm vi"/>
          <p:cNvSpPr/>
          <p:nvPr/>
        </p:nvSpPr>
        <p:spPr>
          <a:xfrm>
            <a:off x="7040880" y="173736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EDE7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5" name="Ngoài phạm vi circle"/>
          <p:cNvSpPr/>
          <p:nvPr/>
        </p:nvSpPr>
        <p:spPr>
          <a:xfrm>
            <a:off x="7315200" y="19659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Ngoài phạm vi icon" descr="Ngoài phạm v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846" y="210860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00100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2E1C"/>
                </a:solidFill>
              </a:rPr>
              <a:t>Không làm trong phạm vi môn học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7315200" y="274320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2A1F"/>
                </a:solidFill>
              </a:rPr>
              <a:t>Thanh toán thật, lưu thông tin thẻ ngân hàng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2A1F"/>
                </a:solidFill>
              </a:rPr>
              <a:t>Tự đọc giao dịch ngân hàng hoặc email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2A1F"/>
                </a:solidFill>
              </a:rPr>
              <a:t>AI, đồng bộ đa thiết bị, hệ thống quản trị phức tạp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2A1F"/>
                </a:solidFill>
              </a:rPr>
              <a:t>Phụ thuộc API bên thứ ba cho chức năng cốt lõi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Sơ đồ Use Case</a:t>
            </a:r>
            <a:endParaRPr lang="en-US" sz="3600" dirty="0"/>
          </a:p>
        </p:txBody>
      </p:sp>
      <p:pic>
        <p:nvPicPr>
          <p:cNvPr id="3" name="Sơ đồ Use Case" descr="Sơ đồ Use Case tổng quát của Sub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5184648"/>
          </a:xfrm>
          <a:prstGeom prst="rect">
            <a:avLst/>
          </a:prstGeom>
        </p:spPr>
      </p:pic>
      <p:sp>
        <p:nvSpPr>
          <p:cNvPr id="4" name="Số liệu tác nhân"/>
          <p:cNvSpPr/>
          <p:nvPr/>
        </p:nvSpPr>
        <p:spPr>
          <a:xfrm>
            <a:off x="7863840" y="1371600"/>
            <a:ext cx="3749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37160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tác nhân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1920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Người dùng, Firebase Auth, Hệ thống thông báo</a:t>
            </a:r>
            <a:endParaRPr lang="en-US" sz="1400" dirty="0"/>
          </a:p>
        </p:txBody>
      </p:sp>
      <p:sp>
        <p:nvSpPr>
          <p:cNvPr id="8" name="Số liệu use case chính"/>
          <p:cNvSpPr/>
          <p:nvPr/>
        </p:nvSpPr>
        <p:spPr>
          <a:xfrm>
            <a:off x="7863840" y="2834640"/>
            <a:ext cx="3749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283464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use case chính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961120" y="3383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CRUD, Dashboard, tìm kiếm, thống kê, nhắc hạn</a:t>
            </a:r>
            <a:endParaRPr lang="en-US" sz="1400" dirty="0"/>
          </a:p>
        </p:txBody>
      </p:sp>
      <p:sp>
        <p:nvSpPr>
          <p:cNvPr id="12" name="Số liệu use case mở rộng"/>
          <p:cNvSpPr/>
          <p:nvPr/>
        </p:nvSpPr>
        <p:spPr>
          <a:xfrm>
            <a:off x="7863840" y="4297680"/>
            <a:ext cx="3749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92440" y="429768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4480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use case mở rộng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48463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Đăng nhập, trạng thái, thời gian nhắc, biểu đồ, xuất CSV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5852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888"/>
                </a:solidFill>
              </a:rPr>
              <a:t>Đặc tả chi tiết: file UseCase_SubTrack.docx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Công nghệ sử dụng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KIẾN TRÚC</a:t>
            </a:r>
            <a:endParaRPr lang="en-US" sz="1400" dirty="0"/>
          </a:p>
        </p:txBody>
      </p:sp>
      <p:sp>
        <p:nvSpPr>
          <p:cNvPr id="4" name="Tầng Giao diện (Screens, Widgets)"/>
          <p:cNvSpPr/>
          <p:nvPr/>
        </p:nvSpPr>
        <p:spPr>
          <a:xfrm>
            <a:off x="548640" y="1828800"/>
            <a:ext cx="420624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Giao diện (Screens, Widgets)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Flutter · Dart</a:t>
            </a:r>
            <a:endParaRPr lang="en-US" sz="1500" dirty="0"/>
          </a:p>
        </p:txBody>
      </p:sp>
      <p:pic>
        <p:nvPicPr>
          <p:cNvPr id="6" name="Mũi tên tầng 0" descr="gọi xuố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880360"/>
            <a:ext cx="365760" cy="365760"/>
          </a:xfrm>
          <a:prstGeom prst="rect">
            <a:avLst/>
          </a:prstGeom>
        </p:spPr>
      </p:pic>
      <p:sp>
        <p:nvSpPr>
          <p:cNvPr id="7" name="Tầng Repository / Service"/>
          <p:cNvSpPr/>
          <p:nvPr/>
        </p:nvSpPr>
        <p:spPr>
          <a:xfrm>
            <a:off x="548640" y="3291840"/>
            <a:ext cx="420624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Repository / Service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Tách UI khỏi truy cập dữ liệu</a:t>
            </a:r>
            <a:endParaRPr lang="en-US" sz="1500" dirty="0"/>
          </a:p>
        </p:txBody>
      </p:sp>
      <p:pic>
        <p:nvPicPr>
          <p:cNvPr id="9" name="Mũi tên tầng 1" descr="gọi xuố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343400"/>
            <a:ext cx="365760" cy="365760"/>
          </a:xfrm>
          <a:prstGeom prst="rect">
            <a:avLst/>
          </a:prstGeom>
        </p:spPr>
      </p:pic>
      <p:sp>
        <p:nvSpPr>
          <p:cNvPr id="10" name="Tầng Firebase"/>
          <p:cNvSpPr/>
          <p:nvPr/>
        </p:nvSpPr>
        <p:spPr>
          <a:xfrm>
            <a:off x="548640" y="4754880"/>
            <a:ext cx="420624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" y="4754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Firebase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Firestore · Authentication</a:t>
            </a:r>
            <a:endParaRPr lang="en-US" sz="1500" dirty="0"/>
          </a:p>
        </p:txBody>
      </p:sp>
      <p:sp>
        <p:nvSpPr>
          <p:cNvPr id="12" name="Thẻ Flutter 3 (Dart)"/>
          <p:cNvSpPr/>
          <p:nvPr/>
        </p:nvSpPr>
        <p:spPr>
          <a:xfrm>
            <a:off x="5303520" y="137160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3" name="Flutter 3 (Dart) circle"/>
          <p:cNvSpPr/>
          <p:nvPr/>
        </p:nvSpPr>
        <p:spPr>
          <a:xfrm>
            <a:off x="5486400" y="15727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lutter 3 (Dart) icon" descr="Flutter 3 (Dart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159" y="1703527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2648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Flutter 3 (Dart)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0" y="21488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Một mã nguồn chạy Android và iOS, hot reload</a:t>
            </a:r>
            <a:endParaRPr lang="en-US" sz="1400" dirty="0"/>
          </a:p>
        </p:txBody>
      </p:sp>
      <p:sp>
        <p:nvSpPr>
          <p:cNvPr id="17" name="Thẻ Cloud Firestore"/>
          <p:cNvSpPr/>
          <p:nvPr/>
        </p:nvSpPr>
        <p:spPr>
          <a:xfrm>
            <a:off x="8503920" y="137160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8" name="Cloud Firestore circle"/>
          <p:cNvSpPr/>
          <p:nvPr/>
        </p:nvSpPr>
        <p:spPr>
          <a:xfrm>
            <a:off x="8686800" y="157276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Cloud Firestore icon" descr="Cloud Firest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559" y="1703527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2688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Cloud Firestore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686800" y="21488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Database online, realtime, không cần tự viết server</a:t>
            </a:r>
            <a:endParaRPr lang="en-US" sz="1400" dirty="0"/>
          </a:p>
        </p:txBody>
      </p:sp>
      <p:sp>
        <p:nvSpPr>
          <p:cNvPr id="22" name="Thẻ Firebase Authentication"/>
          <p:cNvSpPr/>
          <p:nvPr/>
        </p:nvSpPr>
        <p:spPr>
          <a:xfrm>
            <a:off x="5303520" y="297180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3" name="Firebase Authentication circle"/>
          <p:cNvSpPr/>
          <p:nvPr/>
        </p:nvSpPr>
        <p:spPr>
          <a:xfrm>
            <a:off x="5486400" y="31729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Firebase Authentication icon" descr="Firebase Authentic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7159" y="3303727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12648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Firebase Authentication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0" y="3749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Đăng ký, đăng nhập bằng email (mở rộng)</a:t>
            </a:r>
            <a:endParaRPr lang="en-US" sz="1400" dirty="0"/>
          </a:p>
        </p:txBody>
      </p:sp>
      <p:sp>
        <p:nvSpPr>
          <p:cNvPr id="27" name="Thẻ flutter_local_notifications"/>
          <p:cNvSpPr/>
          <p:nvPr/>
        </p:nvSpPr>
        <p:spPr>
          <a:xfrm>
            <a:off x="8503920" y="297180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8" name="flutter_local_notifications circle"/>
          <p:cNvSpPr/>
          <p:nvPr/>
        </p:nvSpPr>
        <p:spPr>
          <a:xfrm>
            <a:off x="8686800" y="317296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flutter_local_notifications icon" descr="flutter_local_notificatio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7559" y="3303727"/>
            <a:ext cx="241402" cy="2414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32688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flutter_local_notifications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686800" y="3749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Thông báo nhắc hạn thanh toán</a:t>
            </a:r>
            <a:endParaRPr lang="en-US" sz="1400" dirty="0"/>
          </a:p>
        </p:txBody>
      </p:sp>
      <p:sp>
        <p:nvSpPr>
          <p:cNvPr id="32" name="Thẻ fl_chart"/>
          <p:cNvSpPr/>
          <p:nvPr/>
        </p:nvSpPr>
        <p:spPr>
          <a:xfrm>
            <a:off x="5303520" y="457200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33" name="fl_chart circle"/>
          <p:cNvSpPr/>
          <p:nvPr/>
        </p:nvSpPr>
        <p:spPr>
          <a:xfrm>
            <a:off x="5486400" y="477316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fl_chart icon" descr="fl_cha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7159" y="4903927"/>
            <a:ext cx="241402" cy="2414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12648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fl_chart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0" y="5349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Vẽ biểu đồ chi phí</a:t>
            </a:r>
            <a:endParaRPr lang="en-US" sz="1400" dirty="0"/>
          </a:p>
        </p:txBody>
      </p:sp>
      <p:sp>
        <p:nvSpPr>
          <p:cNvPr id="37" name="Thẻ Git, GitHub, Figma"/>
          <p:cNvSpPr/>
          <p:nvPr/>
        </p:nvSpPr>
        <p:spPr>
          <a:xfrm>
            <a:off x="8503920" y="457200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38" name="Git, GitHub, Figma circle"/>
          <p:cNvSpPr/>
          <p:nvPr/>
        </p:nvSpPr>
        <p:spPr>
          <a:xfrm>
            <a:off x="8686800" y="4773168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9" name="Git, GitHub, Figma icon" descr="Git, GitHub, Figm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7559" y="4903927"/>
            <a:ext cx="241402" cy="24140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32688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Git, GitHub, Figma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8686800" y="53492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60"/>
                </a:solidFill>
              </a:rPr>
              <a:t>Quản lý mã nguồn, review; thiết kế wireframe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Phân công công việc</a:t>
            </a:r>
            <a:endParaRPr lang="en-US" sz="3600" dirty="0"/>
          </a:p>
        </p:txBody>
      </p:sp>
      <p:sp>
        <p:nvSpPr>
          <p:cNvPr id="3" name="Thẻ Thành viên 1"/>
          <p:cNvSpPr/>
          <p:nvPr/>
        </p:nvSpPr>
        <p:spPr>
          <a:xfrm>
            <a:off x="548640" y="1371600"/>
            <a:ext cx="2606040" cy="4800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4" name="Thành viên 1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hành viên 1 icon" descr="Thành viê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8361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Thành viên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Giao diện &amp; Dashboard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Bộ màu, component chung, điều hướng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Màn hình 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Danh sách gói, trạng thái rỗng/loading/lỗi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669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E6888"/>
                </a:solidFill>
              </a:rPr>
              <a:t>Họ tên: ………………</a:t>
            </a:r>
            <a:endParaRPr lang="en-US" sz="1400" dirty="0"/>
          </a:p>
        </p:txBody>
      </p:sp>
      <p:sp>
        <p:nvSpPr>
          <p:cNvPr id="10" name="Thẻ Thành viên 2"/>
          <p:cNvSpPr/>
          <p:nvPr/>
        </p:nvSpPr>
        <p:spPr>
          <a:xfrm>
            <a:off x="3383280" y="1371600"/>
            <a:ext cx="2606040" cy="4800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1" name="Thành viên 2 circle"/>
          <p:cNvSpPr/>
          <p:nvPr/>
        </p:nvSpPr>
        <p:spPr>
          <a:xfrm>
            <a:off x="365760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Thành viên 2 icon" descr="Thành viê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795" y="18361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Thành viên 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CRUD gói đăng ký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657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Form thêm/sửa, màn hình chi tiết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Kiểm tra dữ liệu nhập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Tìm kiếm, lọc, sắp xếp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5669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E6888"/>
                </a:solidFill>
              </a:rPr>
              <a:t>Họ tên: ………………</a:t>
            </a:r>
            <a:endParaRPr lang="en-US" sz="1400" dirty="0"/>
          </a:p>
        </p:txBody>
      </p:sp>
      <p:sp>
        <p:nvSpPr>
          <p:cNvPr id="17" name="Thẻ Thành viên 3"/>
          <p:cNvSpPr/>
          <p:nvPr/>
        </p:nvSpPr>
        <p:spPr>
          <a:xfrm>
            <a:off x="6217920" y="1371600"/>
            <a:ext cx="2606040" cy="4800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8" name="Thành viên 3 circle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Thành viên 3 icon" descr="Thành viê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183611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922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Thành viên 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Database &amp; bảo mật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3657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Schema, cấu hình Firebase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Lớp repository dùng chung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Xác thực, quy tắc truy cập, ERD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492240" y="5669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E6888"/>
                </a:solidFill>
              </a:rPr>
              <a:t>Họ tên: ………………</a:t>
            </a:r>
            <a:endParaRPr lang="en-US" sz="1400" dirty="0"/>
          </a:p>
        </p:txBody>
      </p:sp>
      <p:sp>
        <p:nvSpPr>
          <p:cNvPr id="24" name="Thẻ Thành viên 4"/>
          <p:cNvSpPr/>
          <p:nvPr/>
        </p:nvSpPr>
        <p:spPr>
          <a:xfrm>
            <a:off x="9052560" y="1371600"/>
            <a:ext cx="2606040" cy="4800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5" name="Thành viên 4 circle"/>
          <p:cNvSpPr/>
          <p:nvPr/>
        </p:nvSpPr>
        <p:spPr>
          <a:xfrm>
            <a:off x="9326880" y="16459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Thành viên 4 icon" descr="Thành viê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075" y="1836115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268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Thành viên 4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932688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Nhắc hạn, thống kê, kiểm thử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326880" y="3657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Tính chi phí tháng, màn hình thống kê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Nhắc hạn, thông báo cục bộ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560"/>
                </a:solidFill>
              </a:rPr>
              <a:t>Test case, tích hợp Git, dữ liệu demo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326880" y="5669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E6888"/>
                </a:solidFill>
              </a:rPr>
              <a:t>Họ tên: ………………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Kế hoạch thực hiện 4 tuần</a:t>
            </a:r>
            <a:endParaRPr lang="en-US" sz="3600" dirty="0"/>
          </a:p>
        </p:txBody>
      </p:sp>
      <p:sp>
        <p:nvSpPr>
          <p:cNvPr id="3" name="Trục thời gian"/>
          <p:cNvSpPr/>
          <p:nvPr/>
        </p:nvSpPr>
        <p:spPr>
          <a:xfrm>
            <a:off x="1097280" y="2148840"/>
            <a:ext cx="9966960" cy="0"/>
          </a:xfrm>
          <a:prstGeom prst="line">
            <a:avLst/>
          </a:prstGeom>
          <a:noFill/>
          <a:ln w="38100">
            <a:solidFill>
              <a:srgbClr val="CFC8EC"/>
            </a:solidFill>
            <a:prstDash val="solid"/>
          </a:ln>
        </p:spPr>
      </p:sp>
      <p:sp>
        <p:nvSpPr>
          <p:cNvPr id="4" name="Tuần 1 mốc"/>
          <p:cNvSpPr/>
          <p:nvPr/>
        </p:nvSpPr>
        <p:spPr>
          <a:xfrm>
            <a:off x="1417320" y="18288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hẻ Tuần 1"/>
          <p:cNvSpPr/>
          <p:nvPr/>
        </p:nvSpPr>
        <p:spPr>
          <a:xfrm>
            <a:off x="548640" y="28346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Tuần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Phân tích &amp; thiết kế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Chốt yêu cầu, Use Case, wireframe, ERD, tạo repo Git</a:t>
            </a:r>
            <a:endParaRPr lang="en-US" sz="1500" dirty="0"/>
          </a:p>
        </p:txBody>
      </p:sp>
      <p:sp>
        <p:nvSpPr>
          <p:cNvPr id="10" name="Tuần 2 mốc"/>
          <p:cNvSpPr/>
          <p:nvPr/>
        </p:nvSpPr>
        <p:spPr>
          <a:xfrm>
            <a:off x="4251960" y="182880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hẻ Tuần 2"/>
          <p:cNvSpPr/>
          <p:nvPr/>
        </p:nvSpPr>
        <p:spPr>
          <a:xfrm>
            <a:off x="3383280" y="28346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576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Tuần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Nền tảng &amp; CRUD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06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Dựng giao diện chính, thiết lập Firebase, CRUD, dữ liệu mẫu</a:t>
            </a:r>
            <a:endParaRPr lang="en-US" sz="1500" dirty="0"/>
          </a:p>
        </p:txBody>
      </p:sp>
      <p:sp>
        <p:nvSpPr>
          <p:cNvPr id="16" name="Tuần 3 mốc"/>
          <p:cNvSpPr/>
          <p:nvPr/>
        </p:nvSpPr>
        <p:spPr>
          <a:xfrm>
            <a:off x="7086600" y="182880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hẻ Tuần 3"/>
          <p:cNvSpPr/>
          <p:nvPr/>
        </p:nvSpPr>
        <p:spPr>
          <a:xfrm>
            <a:off x="6217920" y="28346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Tuần 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Hoàn thiện tính năng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206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Dashboard, tìm kiếm/lọc, thống kê, nhắc hạn; tích hợp</a:t>
            </a:r>
            <a:endParaRPr lang="en-US" sz="1500" dirty="0"/>
          </a:p>
        </p:txBody>
      </p:sp>
      <p:sp>
        <p:nvSpPr>
          <p:cNvPr id="22" name="Tuần 4 mốc"/>
          <p:cNvSpPr/>
          <p:nvPr/>
        </p:nvSpPr>
        <p:spPr>
          <a:xfrm>
            <a:off x="9921240" y="182880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21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hẻ Tuần 4"/>
          <p:cNvSpPr/>
          <p:nvPr/>
        </p:nvSpPr>
        <p:spPr>
          <a:xfrm>
            <a:off x="9052560" y="28346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2B1B5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3268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888"/>
                </a:solidFill>
              </a:rPr>
              <a:t>Tuần 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Kiểm thử &amp; báo cáo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206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60"/>
                </a:solidFill>
              </a:rPr>
              <a:t>Sửa lỗi, hoàn thiện UI, báo cáo, slide, demo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E8A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Cảm ơn thầy cô và các bạn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D2F5"/>
                </a:solidFill>
              </a:rPr>
              <a:t>Nhóm 4 – SubTrack · Rất mong nhận được góp ý</a:t>
            </a:r>
            <a:endParaRPr lang="en-US" sz="2200" dirty="0"/>
          </a:p>
        </p:txBody>
      </p:sp>
      <p:sp>
        <p:nvSpPr>
          <p:cNvPr id="4" name="Trang trí circle"/>
          <p:cNvSpPr/>
          <p:nvPr/>
        </p:nvSpPr>
        <p:spPr>
          <a:xfrm>
            <a:off x="8229600" y="12801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ang trí icon" descr="Trang tr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16" y="1636776"/>
            <a:ext cx="658368" cy="658368"/>
          </a:xfrm>
          <a:prstGeom prst="rect">
            <a:avLst/>
          </a:prstGeom>
        </p:spPr>
      </p:pic>
      <p:sp>
        <p:nvSpPr>
          <p:cNvPr id="6" name="Trang trí circle"/>
          <p:cNvSpPr/>
          <p:nvPr/>
        </p:nvSpPr>
        <p:spPr>
          <a:xfrm>
            <a:off x="9966960" y="210312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Trang trí icon" descr="Trang tr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253" y="2388413"/>
            <a:ext cx="526694" cy="526694"/>
          </a:xfrm>
          <a:prstGeom prst="rect">
            <a:avLst/>
          </a:prstGeom>
        </p:spPr>
      </p:pic>
      <p:sp>
        <p:nvSpPr>
          <p:cNvPr id="8" name="Trang trí circle"/>
          <p:cNvSpPr/>
          <p:nvPr/>
        </p:nvSpPr>
        <p:spPr>
          <a:xfrm>
            <a:off x="8595360" y="3108960"/>
            <a:ext cx="1737360" cy="1737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Trang trí icon" descr="Trang trí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074" y="3560674"/>
            <a:ext cx="833933" cy="833933"/>
          </a:xfrm>
          <a:prstGeom prst="rect">
            <a:avLst/>
          </a:prstGeom>
        </p:spPr>
      </p:pic>
      <p:sp>
        <p:nvSpPr>
          <p:cNvPr id="10" name="Trang trí circle"/>
          <p:cNvSpPr/>
          <p:nvPr/>
        </p:nvSpPr>
        <p:spPr>
          <a:xfrm>
            <a:off x="10424160" y="37490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Trang trí icon" descr="Trang trí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678" y="4010558"/>
            <a:ext cx="482803" cy="482803"/>
          </a:xfrm>
          <a:prstGeom prst="rect">
            <a:avLst/>
          </a:prstGeom>
        </p:spPr>
      </p:pic>
      <p:sp>
        <p:nvSpPr>
          <p:cNvPr id="12" name="Trang trí circle"/>
          <p:cNvSpPr/>
          <p:nvPr/>
        </p:nvSpPr>
        <p:spPr>
          <a:xfrm>
            <a:off x="9326880" y="5120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Trang trí icon" descr="Trang trí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850" y="533461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bTrack">
  <a:themeElements>
    <a:clrScheme name="SubTrack">
      <a:dk1>
        <a:srgbClr val="1F1A3D"/>
      </a:dk1>
      <a:lt1>
        <a:srgbClr val="FFFFFF"/>
      </a:lt1>
      <a:dk2>
        <a:srgbClr val="2B1B5A"/>
      </a:dk2>
      <a:lt2>
        <a:srgbClr val="F3F0FB"/>
      </a:lt2>
      <a:accent1>
        <a:srgbClr val="6C4CF1"/>
      </a:accent1>
      <a:accent2>
        <a:srgbClr val="FF7A59"/>
      </a:accent2>
      <a:accent3>
        <a:srgbClr val="1FA99C"/>
      </a:accent3>
      <a:accent4>
        <a:srgbClr val="F2A900"/>
      </a:accent4>
      <a:accent5>
        <a:srgbClr val="8E7CC3"/>
      </a:accent5>
      <a:accent6>
        <a:srgbClr val="3D2C78"/>
      </a:accent6>
      <a:hlink>
        <a:srgbClr val="6C4CF1"/>
      </a:hlink>
      <a:folHlink>
        <a:srgbClr val="8E7CC3"/>
      </a:folHlink>
    </a:clrScheme>
    <a:fontScheme name="Sub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SubTrack – Ứng dụng quản lý gói đăng ký định kỳ</dc:title>
  <dc:subject>PptxGenJS Presentation</dc:subject>
  <dc:creator>Nhóm 4</dc:creator>
  <cp:lastModifiedBy>Nhóm 4</cp:lastModifiedBy>
  <cp:revision>1</cp:revision>
  <dcterms:created xsi:type="dcterms:W3CDTF">2026-10-27T14:51:44Z</dcterms:created>
  <dcterms:modified xsi:type="dcterms:W3CDTF">2026-10-27T14:51:44Z</dcterms:modified>
</cp:coreProperties>
</file>