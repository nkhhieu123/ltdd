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ới thiệu" id="{4a7de15f-d51a-4186-995b-f2299a037b79}">
          <p14:sldIdLst>
            <p14:sldId id="256"/>
            <p14:sldId id="257"/>
            <p14:sldId id="258"/>
            <p14:sldId id="259"/>
          </p14:sldIdLst>
        </p14:section>
        <p14:section name="Khảo sát" id="{ae12344f-491a-4659-84ca-43156c901b71}">
          <p14:sldIdLst>
            <p14:sldId id="260"/>
          </p14:sldIdLst>
        </p14:section>
        <p14:section name="Chức năng" id="{b7d78a9f-6b72-c2d9-7395-275f29fd07a7}">
          <p14:sldIdLst>
            <p14:sldId id="261"/>
            <p14:sldId id="262"/>
            <p14:sldId id="263"/>
            <p14:sldId id="264"/>
          </p14:sldIdLst>
        </p14:section>
        <p14:section name="Triển khai" id="{538ba6c9-5340-08fb-dfc4-a6a7705e2d78}">
          <p14:sldIdLst>
            <p14:sldId id="265"/>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tên đề tài SubTrack và các thành viên trong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SubTrack giúp người dùng biết mình đang đăng ký dịch vụ nào và ước tính chi phí bao nhiêu. Ứng dụng chưa thu thập tần suất sử dụng nên người dùng tự đánh giá gói nào còn cần thiết. Chuyển trạng thái thành “Đã hủy” trong SubTrack chỉ cập nhật dữ liệu theo dõi, không dừng việc thu phí của nhà cung cấp.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Căn cứ: Models.kt và schema SQLite không có thực thể người dùng, thành viên, nhóm hoặc phần tiền phải trả của mỗi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Nguồn:
Sub Radar: https://subradar.app/ và https://subradar.app/help (không nhầm với sản phẩm trùng tên ở tên miền khác).
Bobby: https://apps.apple.com/vn/app/bobby-track-subscriptions/id1059152023 (App Store còn liệt kê tương thích một số thiết bị Apple khác).
Rocket Money: https://help.rocketmoney.com/en/articles/2677184-premium-membership-features ; https://help.rocketmoney.com/en/articles/79778-does-rocket-money-support-international-banks ; https://help.rocketmoney.com/en/articles/934402-how-do-i-cancel-a-subscription-on-rocket-money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chi phí ước tính từ mức phí và chu kỳ người dùng nhập. SubTrack chưa lưu lịch sử giao dịch hoặc xác nhận khoản tiền đã thanh toán, nên con số theo tháng không phải số tiền thực tế đã bị trừ trong tháng đó. Gói khác tiền tệ báo cáo được loại khỏi phép cộng và có ghi chú riêng.
Ví dụ giả lập: A 120.000 VND/tháng → 120.000; B 1.200.000 VND/năm → 100.000; C 10 USD/tháng → không cộng vào báo cáo VND. Tổng VND: 220.000 VND/tháng.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dùng là tác nhân chính. Ứng dụng Lịch và dịch vụ thông báo Android hỗ trợ các thao tác tích hợp. WorkManager là thành phần triển khai bên trong SubTrack. Thêm và lưu chỉnh sửa gói đều kiểm tra dữ liệu. Việc đặt nhắc hạn chỉ lưu cấu hình; thông báo xuất hiện khi gói thỏa điều kiện nhắc và hệ thống cho phép hiển thị. 14 mục UC có mã xử lý tương ứng, không phải 14 chức năng độc lập cùng cấp.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Cấu hình dự án: Android tối thiểu API 26, compileSdk/targetSdk 37, Java 17.
libs.versions.toml khai báo AGP 9.3.3, Kotlin Compose plugin 2.2.10, JUnit 4.13.2 (phiên bản trong dự án, không phải khẳng định mới nhất).
WorkManager kiểm tra theo chu kỳ một ngày; không cam kết nhắc đúng một giờ cố định.
Chức năng cốt lõi không cần API key. Mở website và các ứng dụng ngoài phụ thuộc môi trường thiết bị.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unit test và lint đã qua trong lần kiểm tra trước; ứng dụng chưa chạy thử trên máy ảo/điện thoại. Không coi đó là kết quả kiểm thử giao diện. Đã sửa: tác vụ nhắc hạn chỉ đánh dấu “đã nhắc” khi gửi thông báo thành công.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766560" cy="137160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640080" y="3520440"/>
            <a:ext cx="6766560" cy="1463040"/>
          </a:xfrm>
          <a:prstGeom prst="rect">
            <a:avLst/>
          </a:prstGeom>
          <a:noFill/>
          <a:ln/>
        </p:spPr>
        <p:txBody>
          <a:bodyPr wrap="square" rtlCol="0"/>
          <a:lstStyle>
            <a:lvl1pPr algn="l" indent="0" marL="0">
              <a:buNone/>
              <a:defRPr lang="en-US" sz="2200" dirty="0">
                <a:solidFill>
                  <a:srgbClr val="D9D2F5"/>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indent="0" marL="0">
              <a:buNone/>
              <a:defRPr lang="en-US" sz="3600" b="1" dirty="0">
                <a:solidFill>
                  <a:schemeClr val="tx2"/>
                </a:solidFill>
              </a:defRPr>
            </a:lvl1pPr>
          </a:lstStyle>
          <a:p>
            <a:pPr indent="0" marL="0">
              <a:buNone/>
            </a:pPr>
            <a:endParaRPr lang="en-US" sz="3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E8AA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E8AA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766560" cy="1371600"/>
          </a:xfrm>
          <a:prstGeom prst="rect">
            <a:avLst/>
          </a:prstGeom>
          <a:noFill/>
          <a:ln/>
        </p:spPr>
        <p:txBody>
          <a:bodyPr wrap="square" lIns="0" tIns="0" rIns="0" bIns="0" rtlCol="0" anchor="b"/>
          <a:lstStyle/>
          <a:p>
            <a:pPr algn="l" indent="0" marL="0">
              <a:buNone/>
            </a:pPr>
            <a:r>
              <a:rPr lang="en-US" sz="5400" b="1" dirty="0">
                <a:solidFill>
                  <a:schemeClr val="bg1"/>
                </a:solidFill>
              </a:rPr>
              <a:t>SubTrack</a:t>
            </a:r>
            <a:endParaRPr lang="en-US" sz="5400" dirty="0"/>
          </a:p>
        </p:txBody>
      </p:sp>
      <p:sp>
        <p:nvSpPr>
          <p:cNvPr id="3" name="Text 0"/>
          <p:cNvSpPr/>
          <p:nvPr>
            <p:ph idx="101" type="body" hasCustomPrompt="1"/>
          </p:nvPr>
        </p:nvSpPr>
        <p:spPr>
          <a:xfrm>
            <a:off x="640080" y="3520440"/>
            <a:ext cx="6766560" cy="1463040"/>
          </a:xfrm>
          <a:prstGeom prst="rect">
            <a:avLst/>
          </a:prstGeom>
          <a:noFill/>
          <a:ln/>
        </p:spPr>
        <p:txBody>
          <a:bodyPr wrap="square" lIns="0" tIns="0" rIns="0" bIns="0" rtlCol="0" anchor="t"/>
          <a:lstStyle/>
          <a:p>
            <a:pPr algn="l" indent="0" marL="0">
              <a:buNone/>
            </a:pPr>
            <a:r>
              <a:rPr lang="en-US" sz="2200" dirty="0">
                <a:solidFill>
                  <a:srgbClr val="D9D2F5"/>
                </a:solidFill>
              </a:rPr>
              <a:t>Ứng dụng quản lý gói đăng ký định kỳ</a:t>
            </a:r>
            <a:endParaRPr lang="en-US" sz="2200" dirty="0"/>
          </a:p>
          <a:p>
            <a:pPr algn="l" indent="0" marL="0">
              <a:buNone/>
            </a:pPr>
            <a:r>
              <a:rPr lang="en-US" sz="1600" dirty="0">
                <a:solidFill>
                  <a:srgbClr val="B8AEE8"/>
                </a:solidFill>
              </a:rPr>
              <a:t>Môn Lập trình thiết bị di động · Nhóm 4 thành viên</a:t>
            </a:r>
            <a:endParaRPr lang="en-US" sz="2200" dirty="0"/>
          </a:p>
        </p:txBody>
      </p:sp>
      <p:sp>
        <p:nvSpPr>
          <p:cNvPr id="4" name="Trang trí circle"/>
          <p:cNvSpPr/>
          <p:nvPr/>
        </p:nvSpPr>
        <p:spPr>
          <a:xfrm>
            <a:off x="8229600" y="1280160"/>
            <a:ext cx="1371600" cy="1371600"/>
          </a:xfrm>
          <a:prstGeom prst="ellipse">
            <a:avLst/>
          </a:prstGeom>
          <a:solidFill>
            <a:schemeClr val="accent1"/>
          </a:solidFill>
          <a:ln/>
        </p:spPr>
      </p:sp>
      <p:pic>
        <p:nvPicPr>
          <p:cNvPr id="5" name="Trang trí icon" descr="Trang trí">    </p:cNvPr>
          <p:cNvPicPr>
            <a:picLocks noChangeAspect="1"/>
          </p:cNvPicPr>
          <p:nvPr/>
        </p:nvPicPr>
        <p:blipFill>
          <a:blip r:embed="rId1"/>
          <a:stretch>
            <a:fillRect/>
          </a:stretch>
        </p:blipFill>
        <p:spPr>
          <a:xfrm>
            <a:off x="8586216" y="1636776"/>
            <a:ext cx="658368" cy="658368"/>
          </a:xfrm>
          <a:prstGeom prst="rect">
            <a:avLst/>
          </a:prstGeom>
        </p:spPr>
      </p:pic>
      <p:sp>
        <p:nvSpPr>
          <p:cNvPr id="6" name="Trang trí circle"/>
          <p:cNvSpPr/>
          <p:nvPr/>
        </p:nvSpPr>
        <p:spPr>
          <a:xfrm>
            <a:off x="9966960" y="2103120"/>
            <a:ext cx="1097280" cy="1097280"/>
          </a:xfrm>
          <a:prstGeom prst="ellipse">
            <a:avLst/>
          </a:prstGeom>
          <a:solidFill>
            <a:schemeClr val="accent2"/>
          </a:solidFill>
          <a:ln/>
        </p:spPr>
      </p:sp>
      <p:pic>
        <p:nvPicPr>
          <p:cNvPr id="7" name="Trang trí icon" descr="Trang trí">    </p:cNvPr>
          <p:cNvPicPr>
            <a:picLocks noChangeAspect="1"/>
          </p:cNvPicPr>
          <p:nvPr/>
        </p:nvPicPr>
        <p:blipFill>
          <a:blip r:embed="rId2"/>
          <a:stretch>
            <a:fillRect/>
          </a:stretch>
        </p:blipFill>
        <p:spPr>
          <a:xfrm>
            <a:off x="10252253" y="2388413"/>
            <a:ext cx="526694" cy="526694"/>
          </a:xfrm>
          <a:prstGeom prst="rect">
            <a:avLst/>
          </a:prstGeom>
        </p:spPr>
      </p:pic>
      <p:sp>
        <p:nvSpPr>
          <p:cNvPr id="8" name="Trang trí circle"/>
          <p:cNvSpPr/>
          <p:nvPr/>
        </p:nvSpPr>
        <p:spPr>
          <a:xfrm>
            <a:off x="8595360" y="3108960"/>
            <a:ext cx="1737360" cy="1737360"/>
          </a:xfrm>
          <a:prstGeom prst="ellipse">
            <a:avLst/>
          </a:prstGeom>
          <a:solidFill>
            <a:schemeClr val="accent3"/>
          </a:solidFill>
          <a:ln/>
        </p:spPr>
      </p:sp>
      <p:pic>
        <p:nvPicPr>
          <p:cNvPr id="9" name="Trang trí icon" descr="Trang trí">    </p:cNvPr>
          <p:cNvPicPr>
            <a:picLocks noChangeAspect="1"/>
          </p:cNvPicPr>
          <p:nvPr/>
        </p:nvPicPr>
        <p:blipFill>
          <a:blip r:embed="rId3"/>
          <a:stretch>
            <a:fillRect/>
          </a:stretch>
        </p:blipFill>
        <p:spPr>
          <a:xfrm>
            <a:off x="9047074" y="3560674"/>
            <a:ext cx="833933" cy="833933"/>
          </a:xfrm>
          <a:prstGeom prst="rect">
            <a:avLst/>
          </a:prstGeom>
        </p:spPr>
      </p:pic>
      <p:sp>
        <p:nvSpPr>
          <p:cNvPr id="10" name="Trang trí circle"/>
          <p:cNvSpPr/>
          <p:nvPr/>
        </p:nvSpPr>
        <p:spPr>
          <a:xfrm>
            <a:off x="10424160" y="3749040"/>
            <a:ext cx="1005840" cy="1005840"/>
          </a:xfrm>
          <a:prstGeom prst="ellipse">
            <a:avLst/>
          </a:prstGeom>
          <a:solidFill>
            <a:schemeClr val="accent4"/>
          </a:solidFill>
          <a:ln/>
        </p:spPr>
      </p:sp>
      <p:pic>
        <p:nvPicPr>
          <p:cNvPr id="11" name="Trang trí icon" descr="Trang trí">    </p:cNvPr>
          <p:cNvPicPr>
            <a:picLocks noChangeAspect="1"/>
          </p:cNvPicPr>
          <p:nvPr/>
        </p:nvPicPr>
        <p:blipFill>
          <a:blip r:embed="rId4"/>
          <a:stretch>
            <a:fillRect/>
          </a:stretch>
        </p:blipFill>
        <p:spPr>
          <a:xfrm>
            <a:off x="10685678" y="4010558"/>
            <a:ext cx="482803" cy="482803"/>
          </a:xfrm>
          <a:prstGeom prst="rect">
            <a:avLst/>
          </a:prstGeom>
        </p:spPr>
      </p:pic>
      <p:sp>
        <p:nvSpPr>
          <p:cNvPr id="12" name="Trang trí circle"/>
          <p:cNvSpPr/>
          <p:nvPr/>
        </p:nvSpPr>
        <p:spPr>
          <a:xfrm>
            <a:off x="9326880" y="5120640"/>
            <a:ext cx="822960" cy="822960"/>
          </a:xfrm>
          <a:prstGeom prst="ellipse">
            <a:avLst/>
          </a:prstGeom>
          <a:solidFill>
            <a:schemeClr val="accent5"/>
          </a:solidFill>
          <a:ln/>
        </p:spPr>
      </p:sp>
      <p:pic>
        <p:nvPicPr>
          <p:cNvPr id="13" name="Trang trí icon" descr="Trang trí">    </p:cNvPr>
          <p:cNvPicPr>
            <a:picLocks noChangeAspect="1"/>
          </p:cNvPicPr>
          <p:nvPr/>
        </p:nvPicPr>
        <p:blipFill>
          <a:blip r:embed="rId5"/>
          <a:stretch>
            <a:fillRect/>
          </a:stretch>
        </p:blipFill>
        <p:spPr>
          <a:xfrm>
            <a:off x="9540850" y="5334610"/>
            <a:ext cx="395021" cy="39502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indent="0" marL="0">
              <a:buNone/>
            </a:pPr>
            <a:r>
              <a:rPr lang="en-US" sz="3600" b="1" dirty="0">
                <a:solidFill>
                  <a:schemeClr val="tx2"/>
                </a:solidFill>
              </a:rPr>
              <a:t>Tên đề tài và lý do chọn</a:t>
            </a:r>
            <a:endParaRPr lang="en-US" sz="3600" dirty="0"/>
          </a:p>
        </p:txBody>
      </p:sp>
      <p:sp>
        <p:nvSpPr>
          <p:cNvPr id="3" name="Thẻ tên đề tài"/>
          <p:cNvSpPr/>
          <p:nvPr/>
        </p:nvSpPr>
        <p:spPr>
          <a:xfrm>
            <a:off x="548640" y="1417320"/>
            <a:ext cx="3931920" cy="4754880"/>
          </a:xfrm>
          <a:prstGeom prst="roundRect">
            <a:avLst>
              <a:gd name="adj" fmla="val 2791"/>
            </a:avLst>
          </a:prstGeom>
          <a:solidFill>
            <a:schemeClr val="tx2"/>
          </a:solidFill>
          <a:ln/>
          <a:effectLst>
            <a:outerShdw sx="100000" sy="100000" kx="0" ky="0" algn="bl" rotWithShape="0" blurRad="101600" dist="25400" dir="5400000">
              <a:srgbClr val="2B1B5A">
                <a:alpha val="12000"/>
              </a:srgbClr>
            </a:outerShdw>
          </a:effectLst>
        </p:spPr>
      </p:sp>
      <p:sp>
        <p:nvSpPr>
          <p:cNvPr id="4" name="Text 2"/>
          <p:cNvSpPr txBox="1"/>
          <p:nvPr/>
        </p:nvSpPr>
        <p:spPr>
          <a:xfrm>
            <a:off x="868680" y="1737360"/>
            <a:ext cx="3291840" cy="365760"/>
          </a:xfrm>
          <a:prstGeom prst="rect">
            <a:avLst/>
          </a:prstGeom>
          <a:noFill/>
          <a:ln/>
        </p:spPr>
        <p:txBody>
          <a:bodyPr wrap="square" lIns="0" tIns="0" rIns="0" bIns="0" rtlCol="0" anchor="t"/>
          <a:lstStyle/>
          <a:p>
            <a:pPr indent="0" marL="0">
              <a:buNone/>
            </a:pPr>
            <a:r>
              <a:rPr lang="en-US" sz="1400" b="1" spc="200" kern="0" dirty="0">
                <a:solidFill>
                  <a:srgbClr val="B8AEE8"/>
                </a:solidFill>
              </a:rPr>
              <a:t>TÊN ĐỀ TÀI</a:t>
            </a:r>
            <a:endParaRPr lang="en-US" sz="1400" dirty="0"/>
          </a:p>
        </p:txBody>
      </p:sp>
      <p:sp>
        <p:nvSpPr>
          <p:cNvPr id="5" name="Text 3"/>
          <p:cNvSpPr txBox="1"/>
          <p:nvPr/>
        </p:nvSpPr>
        <p:spPr>
          <a:xfrm>
            <a:off x="868680" y="2148840"/>
            <a:ext cx="3291840" cy="182880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Xây dựng ứng dụng di động quản lý các gói đăng ký định kỳ – SubTrack</a:t>
            </a:r>
            <a:endParaRPr lang="en-US" sz="2400" dirty="0"/>
          </a:p>
        </p:txBody>
      </p:sp>
      <p:sp>
        <p:nvSpPr>
          <p:cNvPr id="6" name="Text 4"/>
          <p:cNvSpPr txBox="1"/>
          <p:nvPr/>
        </p:nvSpPr>
        <p:spPr>
          <a:xfrm>
            <a:off x="868680" y="4297680"/>
            <a:ext cx="3291840" cy="1463040"/>
          </a:xfrm>
          <a:prstGeom prst="rect">
            <a:avLst/>
          </a:prstGeom>
          <a:noFill/>
          <a:ln/>
        </p:spPr>
        <p:txBody>
          <a:bodyPr wrap="square" lIns="0" tIns="0" rIns="0" bIns="0" rtlCol="0" anchor="t"/>
          <a:lstStyle/>
          <a:p>
            <a:pPr indent="0" marL="0">
              <a:buNone/>
            </a:pPr>
            <a:r>
              <a:rPr lang="en-US" sz="1500" dirty="0">
                <a:solidFill>
                  <a:srgbClr val="D9D2F5"/>
                </a:solidFill>
              </a:rPr>
              <a:t>Ý tưởng tham khảo từ Sub Radar (subradar.app); nhóm tự thiết kế tên, giao diện và mã nguồn.</a:t>
            </a:r>
            <a:endParaRPr lang="en-US" sz="1500" dirty="0"/>
          </a:p>
        </p:txBody>
      </p:sp>
      <p:sp>
        <p:nvSpPr>
          <p:cNvPr id="7" name="Dịch vụ trả phí định kỳ ngày càng nhiều circle"/>
          <p:cNvSpPr/>
          <p:nvPr/>
        </p:nvSpPr>
        <p:spPr>
          <a:xfrm>
            <a:off x="4937760" y="1463040"/>
            <a:ext cx="731520" cy="731520"/>
          </a:xfrm>
          <a:prstGeom prst="ellipse">
            <a:avLst/>
          </a:prstGeom>
          <a:solidFill>
            <a:schemeClr val="accent1"/>
          </a:solidFill>
          <a:ln/>
        </p:spPr>
      </p:sp>
      <p:pic>
        <p:nvPicPr>
          <p:cNvPr id="8" name="Dịch vụ trả phí định kỳ ngày càng nhiều icon" descr="Dịch vụ trả phí định kỳ ngày càng nhiều">    </p:cNvPr>
          <p:cNvPicPr>
            <a:picLocks noChangeAspect="1"/>
          </p:cNvPicPr>
          <p:nvPr/>
        </p:nvPicPr>
        <p:blipFill>
          <a:blip r:embed="rId1"/>
          <a:stretch>
            <a:fillRect/>
          </a:stretch>
        </p:blipFill>
        <p:spPr>
          <a:xfrm>
            <a:off x="5127955" y="1653235"/>
            <a:ext cx="351130" cy="351130"/>
          </a:xfrm>
          <a:prstGeom prst="rect">
            <a:avLst/>
          </a:prstGeom>
        </p:spPr>
      </p:pic>
      <p:sp>
        <p:nvSpPr>
          <p:cNvPr id="9" name="Text 6"/>
          <p:cNvSpPr txBox="1"/>
          <p:nvPr/>
        </p:nvSpPr>
        <p:spPr>
          <a:xfrm>
            <a:off x="5897880" y="1444752"/>
            <a:ext cx="5760720" cy="384048"/>
          </a:xfrm>
          <a:prstGeom prst="rect">
            <a:avLst/>
          </a:prstGeom>
          <a:noFill/>
          <a:ln/>
        </p:spPr>
        <p:txBody>
          <a:bodyPr wrap="square" lIns="0" tIns="0" rIns="0" bIns="0" rtlCol="0" anchor="t"/>
          <a:lstStyle/>
          <a:p>
            <a:pPr indent="0" marL="0">
              <a:buNone/>
            </a:pPr>
            <a:r>
              <a:rPr lang="en-US" sz="1900" b="1" dirty="0">
                <a:solidFill>
                  <a:schemeClr val="tx2"/>
                </a:solidFill>
              </a:rPr>
              <a:t>Dịch vụ trả phí định kỳ ngày càng nhiều</a:t>
            </a:r>
            <a:endParaRPr lang="en-US" sz="1900" dirty="0"/>
          </a:p>
        </p:txBody>
      </p:sp>
      <p:sp>
        <p:nvSpPr>
          <p:cNvPr id="10" name="Text 7"/>
          <p:cNvSpPr txBox="1"/>
          <p:nvPr/>
        </p:nvSpPr>
        <p:spPr>
          <a:xfrm>
            <a:off x="5897880" y="1847088"/>
            <a:ext cx="5760720" cy="640080"/>
          </a:xfrm>
          <a:prstGeom prst="rect">
            <a:avLst/>
          </a:prstGeom>
          <a:noFill/>
          <a:ln/>
        </p:spPr>
        <p:txBody>
          <a:bodyPr wrap="square" lIns="0" tIns="0" rIns="0" bIns="0" rtlCol="0" anchor="t"/>
          <a:lstStyle/>
          <a:p>
            <a:pPr indent="0" marL="0">
              <a:buNone/>
            </a:pPr>
            <a:r>
              <a:rPr lang="en-US" sz="1500" dirty="0">
                <a:solidFill>
                  <a:srgbClr val="4A4560"/>
                </a:solidFill>
              </a:rPr>
              <a:t>Netflix, Spotify, YouTube Premium, iCloud, phần mềm học tập… mỗi người dùng cùng lúc nhiều gói.</a:t>
            </a:r>
            <a:endParaRPr lang="en-US" sz="1500" dirty="0"/>
          </a:p>
        </p:txBody>
      </p:sp>
      <p:sp>
        <p:nvSpPr>
          <p:cNvPr id="11" name="Tự động gia hạn nên dễ quên circle"/>
          <p:cNvSpPr/>
          <p:nvPr/>
        </p:nvSpPr>
        <p:spPr>
          <a:xfrm>
            <a:off x="4937760" y="2651760"/>
            <a:ext cx="731520" cy="731520"/>
          </a:xfrm>
          <a:prstGeom prst="ellipse">
            <a:avLst/>
          </a:prstGeom>
          <a:solidFill>
            <a:schemeClr val="accent2"/>
          </a:solidFill>
          <a:ln/>
        </p:spPr>
      </p:sp>
      <p:pic>
        <p:nvPicPr>
          <p:cNvPr id="12" name="Tự động gia hạn nên dễ quên icon" descr="Tự động gia hạn nên dễ quên">    </p:cNvPr>
          <p:cNvPicPr>
            <a:picLocks noChangeAspect="1"/>
          </p:cNvPicPr>
          <p:nvPr/>
        </p:nvPicPr>
        <p:blipFill>
          <a:blip r:embed="rId2"/>
          <a:stretch>
            <a:fillRect/>
          </a:stretch>
        </p:blipFill>
        <p:spPr>
          <a:xfrm>
            <a:off x="5127955" y="2841955"/>
            <a:ext cx="351130" cy="351130"/>
          </a:xfrm>
          <a:prstGeom prst="rect">
            <a:avLst/>
          </a:prstGeom>
        </p:spPr>
      </p:pic>
      <p:sp>
        <p:nvSpPr>
          <p:cNvPr id="13" name="Text 9"/>
          <p:cNvSpPr txBox="1"/>
          <p:nvPr/>
        </p:nvSpPr>
        <p:spPr>
          <a:xfrm>
            <a:off x="5897880" y="2633472"/>
            <a:ext cx="5760720" cy="384048"/>
          </a:xfrm>
          <a:prstGeom prst="rect">
            <a:avLst/>
          </a:prstGeom>
          <a:noFill/>
          <a:ln/>
        </p:spPr>
        <p:txBody>
          <a:bodyPr wrap="square" lIns="0" tIns="0" rIns="0" bIns="0" rtlCol="0" anchor="t"/>
          <a:lstStyle/>
          <a:p>
            <a:pPr indent="0" marL="0">
              <a:buNone/>
            </a:pPr>
            <a:r>
              <a:rPr lang="en-US" sz="1900" b="1" dirty="0">
                <a:solidFill>
                  <a:schemeClr val="tx2"/>
                </a:solidFill>
              </a:rPr>
              <a:t>Tự động gia hạn nên dễ quên</a:t>
            </a:r>
            <a:endParaRPr lang="en-US" sz="1900" dirty="0"/>
          </a:p>
        </p:txBody>
      </p:sp>
      <p:sp>
        <p:nvSpPr>
          <p:cNvPr id="14" name="Text 10"/>
          <p:cNvSpPr txBox="1"/>
          <p:nvPr/>
        </p:nvSpPr>
        <p:spPr>
          <a:xfrm>
            <a:off x="5897880" y="3035808"/>
            <a:ext cx="5760720" cy="640080"/>
          </a:xfrm>
          <a:prstGeom prst="rect">
            <a:avLst/>
          </a:prstGeom>
          <a:noFill/>
          <a:ln/>
        </p:spPr>
        <p:txBody>
          <a:bodyPr wrap="square" lIns="0" tIns="0" rIns="0" bIns="0" rtlCol="0" anchor="t"/>
          <a:lstStyle/>
          <a:p>
            <a:pPr indent="0" marL="0">
              <a:buNone/>
            </a:pPr>
            <a:r>
              <a:rPr lang="en-US" sz="1500" dirty="0">
                <a:solidFill>
                  <a:srgbClr val="4A4560"/>
                </a:solidFill>
              </a:rPr>
              <a:t>Khoản nhỏ lẻ, bị trừ tiền cho cả dịch vụ không còn dùng đến.</a:t>
            </a:r>
            <a:endParaRPr lang="en-US" sz="1500" dirty="0"/>
          </a:p>
        </p:txBody>
      </p:sp>
      <p:sp>
        <p:nvSpPr>
          <p:cNvPr id="15" name="Khó biết tổng chi mỗi tháng circle"/>
          <p:cNvSpPr/>
          <p:nvPr/>
        </p:nvSpPr>
        <p:spPr>
          <a:xfrm>
            <a:off x="4937760" y="3840480"/>
            <a:ext cx="731520" cy="731520"/>
          </a:xfrm>
          <a:prstGeom prst="ellipse">
            <a:avLst/>
          </a:prstGeom>
          <a:solidFill>
            <a:schemeClr val="accent3"/>
          </a:solidFill>
          <a:ln/>
        </p:spPr>
      </p:sp>
      <p:pic>
        <p:nvPicPr>
          <p:cNvPr id="16" name="Khó biết tổng chi mỗi tháng icon" descr="Khó biết tổng chi mỗi tháng">    </p:cNvPr>
          <p:cNvPicPr>
            <a:picLocks noChangeAspect="1"/>
          </p:cNvPicPr>
          <p:nvPr/>
        </p:nvPicPr>
        <p:blipFill>
          <a:blip r:embed="rId3"/>
          <a:stretch>
            <a:fillRect/>
          </a:stretch>
        </p:blipFill>
        <p:spPr>
          <a:xfrm>
            <a:off x="5127955" y="4030675"/>
            <a:ext cx="351130" cy="351130"/>
          </a:xfrm>
          <a:prstGeom prst="rect">
            <a:avLst/>
          </a:prstGeom>
        </p:spPr>
      </p:pic>
      <p:sp>
        <p:nvSpPr>
          <p:cNvPr id="17" name="Text 12"/>
          <p:cNvSpPr txBox="1"/>
          <p:nvPr/>
        </p:nvSpPr>
        <p:spPr>
          <a:xfrm>
            <a:off x="5897880" y="3822192"/>
            <a:ext cx="5760720" cy="384048"/>
          </a:xfrm>
          <a:prstGeom prst="rect">
            <a:avLst/>
          </a:prstGeom>
          <a:noFill/>
          <a:ln/>
        </p:spPr>
        <p:txBody>
          <a:bodyPr wrap="square" lIns="0" tIns="0" rIns="0" bIns="0" rtlCol="0" anchor="t"/>
          <a:lstStyle/>
          <a:p>
            <a:pPr indent="0" marL="0">
              <a:buNone/>
            </a:pPr>
            <a:r>
              <a:rPr lang="en-US" sz="1900" b="1" dirty="0">
                <a:solidFill>
                  <a:schemeClr val="tx2"/>
                </a:solidFill>
              </a:rPr>
              <a:t>Khó biết tổng chi mỗi tháng</a:t>
            </a:r>
            <a:endParaRPr lang="en-US" sz="1900" dirty="0"/>
          </a:p>
        </p:txBody>
      </p:sp>
      <p:sp>
        <p:nvSpPr>
          <p:cNvPr id="18" name="Text 13"/>
          <p:cNvSpPr txBox="1"/>
          <p:nvPr/>
        </p:nvSpPr>
        <p:spPr>
          <a:xfrm>
            <a:off x="5897880" y="4224528"/>
            <a:ext cx="5760720" cy="640080"/>
          </a:xfrm>
          <a:prstGeom prst="rect">
            <a:avLst/>
          </a:prstGeom>
          <a:noFill/>
          <a:ln/>
        </p:spPr>
        <p:txBody>
          <a:bodyPr wrap="square" lIns="0" tIns="0" rIns="0" bIns="0" rtlCol="0" anchor="t"/>
          <a:lstStyle/>
          <a:p>
            <a:pPr indent="0" marL="0">
              <a:buNone/>
            </a:pPr>
            <a:r>
              <a:rPr lang="en-US" sz="1500" dirty="0">
                <a:solidFill>
                  <a:srgbClr val="4A4560"/>
                </a:solidFill>
              </a:rPr>
              <a:t>Mỗi gói một chu kỳ tuần/tháng/năm, khó cộng dồn bằng tay.</a:t>
            </a:r>
            <a:endParaRPr lang="en-US" sz="1500" dirty="0"/>
          </a:p>
        </p:txBody>
      </p:sp>
      <p:sp>
        <p:nvSpPr>
          <p:cNvPr id="19" name="Phù hợp yêu cầu môn học circle"/>
          <p:cNvSpPr/>
          <p:nvPr/>
        </p:nvSpPr>
        <p:spPr>
          <a:xfrm>
            <a:off x="4937760" y="5029200"/>
            <a:ext cx="731520" cy="731520"/>
          </a:xfrm>
          <a:prstGeom prst="ellipse">
            <a:avLst/>
          </a:prstGeom>
          <a:solidFill>
            <a:schemeClr val="accent4"/>
          </a:solidFill>
          <a:ln/>
        </p:spPr>
      </p:sp>
      <p:pic>
        <p:nvPicPr>
          <p:cNvPr id="20" name="Phù hợp yêu cầu môn học icon" descr="Phù hợp yêu cầu môn học">    </p:cNvPr>
          <p:cNvPicPr>
            <a:picLocks noChangeAspect="1"/>
          </p:cNvPicPr>
          <p:nvPr/>
        </p:nvPicPr>
        <p:blipFill>
          <a:blip r:embed="rId4"/>
          <a:stretch>
            <a:fillRect/>
          </a:stretch>
        </p:blipFill>
        <p:spPr>
          <a:xfrm>
            <a:off x="5127955" y="5219395"/>
            <a:ext cx="351130" cy="351130"/>
          </a:xfrm>
          <a:prstGeom prst="rect">
            <a:avLst/>
          </a:prstGeom>
        </p:spPr>
      </p:pic>
      <p:sp>
        <p:nvSpPr>
          <p:cNvPr id="21" name="Text 15"/>
          <p:cNvSpPr txBox="1"/>
          <p:nvPr/>
        </p:nvSpPr>
        <p:spPr>
          <a:xfrm>
            <a:off x="5897880" y="5010912"/>
            <a:ext cx="5760720" cy="384048"/>
          </a:xfrm>
          <a:prstGeom prst="rect">
            <a:avLst/>
          </a:prstGeom>
          <a:noFill/>
          <a:ln/>
        </p:spPr>
        <p:txBody>
          <a:bodyPr wrap="square" lIns="0" tIns="0" rIns="0" bIns="0" rtlCol="0" anchor="t"/>
          <a:lstStyle/>
          <a:p>
            <a:pPr indent="0" marL="0">
              <a:buNone/>
            </a:pPr>
            <a:r>
              <a:rPr lang="en-US" sz="1900" b="1" dirty="0">
                <a:solidFill>
                  <a:schemeClr val="tx2"/>
                </a:solidFill>
              </a:rPr>
              <a:t>Phù hợp yêu cầu môn học</a:t>
            </a:r>
            <a:endParaRPr lang="en-US" sz="1900" dirty="0"/>
          </a:p>
        </p:txBody>
      </p:sp>
      <p:sp>
        <p:nvSpPr>
          <p:cNvPr id="22" name="Text 16"/>
          <p:cNvSpPr txBox="1"/>
          <p:nvPr/>
        </p:nvSpPr>
        <p:spPr>
          <a:xfrm>
            <a:off x="5897880" y="5413248"/>
            <a:ext cx="5760720" cy="640080"/>
          </a:xfrm>
          <a:prstGeom prst="rect">
            <a:avLst/>
          </a:prstGeom>
          <a:noFill/>
          <a:ln/>
        </p:spPr>
        <p:txBody>
          <a:bodyPr wrap="square" lIns="0" tIns="0" rIns="0" bIns="0" rtlCol="0" anchor="t"/>
          <a:lstStyle/>
          <a:p>
            <a:pPr indent="0" marL="0">
              <a:buNone/>
            </a:pPr>
            <a:r>
              <a:rPr lang="en-US" sz="1500" dirty="0">
                <a:solidFill>
                  <a:srgbClr val="4A4560"/>
                </a:solidFill>
              </a:rPr>
              <a:t>Đủ CRUD, database, xử lý ngày, tìm kiếm/lọc và thống kê.</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E8AA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indent="0" marL="0">
              <a:buNone/>
            </a:pPr>
            <a:r>
              <a:rPr lang="en-US" sz="3600" b="1" dirty="0">
                <a:solidFill>
                  <a:schemeClr val="tx2"/>
                </a:solidFill>
              </a:rPr>
              <a:t>Mục đích của ứng dụng</a:t>
            </a:r>
            <a:endParaRPr lang="en-US" sz="3600" dirty="0"/>
          </a:p>
        </p:txBody>
      </p:sp>
      <p:sp>
        <p:nvSpPr>
          <p:cNvPr id="3" name="Text 1"/>
          <p:cNvSpPr txBox="1"/>
          <p:nvPr/>
        </p:nvSpPr>
        <p:spPr>
          <a:xfrm>
            <a:off x="548640" y="1234440"/>
            <a:ext cx="11064240" cy="457200"/>
          </a:xfrm>
          <a:prstGeom prst="rect">
            <a:avLst/>
          </a:prstGeom>
          <a:noFill/>
          <a:ln/>
        </p:spPr>
        <p:txBody>
          <a:bodyPr wrap="square" lIns="0" tIns="0" rIns="0" bIns="0" rtlCol="0" anchor="t"/>
          <a:lstStyle/>
          <a:p>
            <a:pPr indent="0" marL="0">
              <a:buNone/>
            </a:pPr>
            <a:r>
              <a:rPr lang="en-US" sz="1800" i="1" dirty="0">
                <a:solidFill>
                  <a:schemeClr val="accent6"/>
                </a:solidFill>
              </a:rPr>
              <a:t>Giúp người dùng chủ động kiểm soát mọi khoản đăng ký định kỳ ở một nơi duy nhất</a:t>
            </a:r>
            <a:endParaRPr lang="en-US" sz="1800" dirty="0"/>
          </a:p>
        </p:txBody>
      </p:sp>
      <p:sp>
        <p:nvSpPr>
          <p:cNvPr id="4" name="Thẻ Quản lý tập trung"/>
          <p:cNvSpPr/>
          <p:nvPr/>
        </p:nvSpPr>
        <p:spPr>
          <a:xfrm>
            <a:off x="548640" y="2011680"/>
            <a:ext cx="2606040" cy="3566160"/>
          </a:xfrm>
          <a:prstGeom prst="roundRect">
            <a:avLst>
              <a:gd name="adj" fmla="val 4211"/>
            </a:avLst>
          </a:prstGeom>
          <a:solidFill>
            <a:schemeClr val="bg2"/>
          </a:solidFill>
          <a:ln/>
          <a:effectLst>
            <a:outerShdw sx="100000" sy="100000" kx="0" ky="0" algn="bl" rotWithShape="0" blurRad="101600" dist="25400" dir="5400000">
              <a:srgbClr val="2B1B5A">
                <a:alpha val="12000"/>
              </a:srgbClr>
            </a:outerShdw>
          </a:effectLst>
        </p:spPr>
      </p:sp>
      <p:sp>
        <p:nvSpPr>
          <p:cNvPr id="5" name="Quản lý tập trung circle"/>
          <p:cNvSpPr/>
          <p:nvPr/>
        </p:nvSpPr>
        <p:spPr>
          <a:xfrm>
            <a:off x="868680" y="2331720"/>
            <a:ext cx="914400" cy="914400"/>
          </a:xfrm>
          <a:prstGeom prst="ellipse">
            <a:avLst/>
          </a:prstGeom>
          <a:solidFill>
            <a:schemeClr val="accent1"/>
          </a:solidFill>
          <a:ln/>
        </p:spPr>
      </p:sp>
      <p:pic>
        <p:nvPicPr>
          <p:cNvPr id="6" name="Quản lý tập trung icon" descr="Quản lý tập trung">    </p:cNvPr>
          <p:cNvPicPr>
            <a:picLocks noChangeAspect="1"/>
          </p:cNvPicPr>
          <p:nvPr/>
        </p:nvPicPr>
        <p:blipFill>
          <a:blip r:embed="rId1"/>
          <a:stretch>
            <a:fillRect/>
          </a:stretch>
        </p:blipFill>
        <p:spPr>
          <a:xfrm>
            <a:off x="1106424" y="2569464"/>
            <a:ext cx="438912" cy="438912"/>
          </a:xfrm>
          <a:prstGeom prst="rect">
            <a:avLst/>
          </a:prstGeom>
        </p:spPr>
      </p:pic>
      <p:sp>
        <p:nvSpPr>
          <p:cNvPr id="7" name="Text 4"/>
          <p:cNvSpPr txBox="1"/>
          <p:nvPr/>
        </p:nvSpPr>
        <p:spPr>
          <a:xfrm>
            <a:off x="868680" y="3474720"/>
            <a:ext cx="2011680" cy="731520"/>
          </a:xfrm>
          <a:prstGeom prst="rect">
            <a:avLst/>
          </a:prstGeom>
          <a:noFill/>
          <a:ln/>
        </p:spPr>
        <p:txBody>
          <a:bodyPr wrap="square" lIns="0" tIns="0" rIns="0" bIns="0" rtlCol="0" anchor="t"/>
          <a:lstStyle/>
          <a:p>
            <a:pPr indent="0" marL="0">
              <a:buNone/>
            </a:pPr>
            <a:r>
              <a:rPr lang="en-US" sz="2000" b="1" dirty="0">
                <a:solidFill>
                  <a:schemeClr val="tx2"/>
                </a:solidFill>
              </a:rPr>
              <a:t>Quản lý tập trung</a:t>
            </a:r>
            <a:endParaRPr lang="en-US" sz="2000" dirty="0"/>
          </a:p>
        </p:txBody>
      </p:sp>
      <p:sp>
        <p:nvSpPr>
          <p:cNvPr id="8" name="Text 5"/>
          <p:cNvSpPr txBox="1"/>
          <p:nvPr/>
        </p:nvSpPr>
        <p:spPr>
          <a:xfrm>
            <a:off x="868680" y="4251960"/>
            <a:ext cx="2011680" cy="1645920"/>
          </a:xfrm>
          <a:prstGeom prst="rect">
            <a:avLst/>
          </a:prstGeom>
          <a:noFill/>
          <a:ln/>
        </p:spPr>
        <p:txBody>
          <a:bodyPr wrap="square" lIns="0" tIns="0" rIns="0" bIns="0" rtlCol="0" anchor="t"/>
          <a:lstStyle/>
          <a:p>
            <a:pPr indent="0" marL="0">
              <a:buNone/>
            </a:pPr>
            <a:r>
              <a:rPr lang="en-US" sz="1500" dirty="0">
                <a:solidFill>
                  <a:srgbClr val="4A4560"/>
                </a:solidFill>
              </a:rPr>
              <a:t>Lưu tên dịch vụ, giá, chu kỳ, ngày thanh toán, danh mục, ghi chú của mọi gói.</a:t>
            </a:r>
            <a:endParaRPr lang="en-US" sz="1500" dirty="0"/>
          </a:p>
        </p:txBody>
      </p:sp>
      <p:sp>
        <p:nvSpPr>
          <p:cNvPr id="9" name="Thẻ Nhắc trước hạn"/>
          <p:cNvSpPr/>
          <p:nvPr/>
        </p:nvSpPr>
        <p:spPr>
          <a:xfrm>
            <a:off x="3383280" y="2011680"/>
            <a:ext cx="2606040" cy="3566160"/>
          </a:xfrm>
          <a:prstGeom prst="roundRect">
            <a:avLst>
              <a:gd name="adj" fmla="val 4211"/>
            </a:avLst>
          </a:prstGeom>
          <a:solidFill>
            <a:schemeClr val="bg2"/>
          </a:solidFill>
          <a:ln/>
          <a:effectLst>
            <a:outerShdw sx="100000" sy="100000" kx="0" ky="0" algn="bl" rotWithShape="0" blurRad="101600" dist="25400" dir="5400000">
              <a:srgbClr val="2B1B5A">
                <a:alpha val="12000"/>
              </a:srgbClr>
            </a:outerShdw>
          </a:effectLst>
        </p:spPr>
      </p:sp>
      <p:sp>
        <p:nvSpPr>
          <p:cNvPr id="10" name="Nhắc trước hạn circle"/>
          <p:cNvSpPr/>
          <p:nvPr/>
        </p:nvSpPr>
        <p:spPr>
          <a:xfrm>
            <a:off x="3703320" y="2331720"/>
            <a:ext cx="914400" cy="914400"/>
          </a:xfrm>
          <a:prstGeom prst="ellipse">
            <a:avLst/>
          </a:prstGeom>
          <a:solidFill>
            <a:schemeClr val="accent2"/>
          </a:solidFill>
          <a:ln/>
        </p:spPr>
      </p:sp>
      <p:pic>
        <p:nvPicPr>
          <p:cNvPr id="11" name="Nhắc trước hạn icon" descr="Nhắc trước hạn">    </p:cNvPr>
          <p:cNvPicPr>
            <a:picLocks noChangeAspect="1"/>
          </p:cNvPicPr>
          <p:nvPr/>
        </p:nvPicPr>
        <p:blipFill>
          <a:blip r:embed="rId2"/>
          <a:stretch>
            <a:fillRect/>
          </a:stretch>
        </p:blipFill>
        <p:spPr>
          <a:xfrm>
            <a:off x="3941064" y="2569464"/>
            <a:ext cx="438912" cy="438912"/>
          </a:xfrm>
          <a:prstGeom prst="rect">
            <a:avLst/>
          </a:prstGeom>
        </p:spPr>
      </p:pic>
      <p:sp>
        <p:nvSpPr>
          <p:cNvPr id="12" name="Text 8"/>
          <p:cNvSpPr txBox="1"/>
          <p:nvPr/>
        </p:nvSpPr>
        <p:spPr>
          <a:xfrm>
            <a:off x="3703320" y="3474720"/>
            <a:ext cx="2011680" cy="731520"/>
          </a:xfrm>
          <a:prstGeom prst="rect">
            <a:avLst/>
          </a:prstGeom>
          <a:noFill/>
          <a:ln/>
        </p:spPr>
        <p:txBody>
          <a:bodyPr wrap="square" lIns="0" tIns="0" rIns="0" bIns="0" rtlCol="0" anchor="t"/>
          <a:lstStyle/>
          <a:p>
            <a:pPr indent="0" marL="0">
              <a:buNone/>
            </a:pPr>
            <a:r>
              <a:rPr lang="en-US" sz="2000" b="1" dirty="0">
                <a:solidFill>
                  <a:schemeClr val="tx2"/>
                </a:solidFill>
              </a:rPr>
              <a:t>Nhắc trước hạn</a:t>
            </a:r>
            <a:endParaRPr lang="en-US" sz="2000" dirty="0"/>
          </a:p>
        </p:txBody>
      </p:sp>
      <p:sp>
        <p:nvSpPr>
          <p:cNvPr id="13" name="Text 9"/>
          <p:cNvSpPr txBox="1"/>
          <p:nvPr/>
        </p:nvSpPr>
        <p:spPr>
          <a:xfrm>
            <a:off x="3703320" y="4251960"/>
            <a:ext cx="2011680" cy="1645920"/>
          </a:xfrm>
          <a:prstGeom prst="rect">
            <a:avLst/>
          </a:prstGeom>
          <a:noFill/>
          <a:ln/>
        </p:spPr>
        <p:txBody>
          <a:bodyPr wrap="square" lIns="0" tIns="0" rIns="0" bIns="0" rtlCol="0" anchor="t"/>
          <a:lstStyle/>
          <a:p>
            <a:pPr indent="0" marL="0">
              <a:buNone/>
            </a:pPr>
            <a:r>
              <a:rPr lang="en-US" sz="1500" dirty="0">
                <a:solidFill>
                  <a:srgbClr val="4A4560"/>
                </a:solidFill>
              </a:rPr>
              <a:t>Hiển thị khoản sắp đến hạn, gửi thông báo để không bị trừ tiền bất ngờ.</a:t>
            </a:r>
            <a:endParaRPr lang="en-US" sz="1500" dirty="0"/>
          </a:p>
        </p:txBody>
      </p:sp>
      <p:sp>
        <p:nvSpPr>
          <p:cNvPr id="14" name="Thẻ Nắm rõ chi phí"/>
          <p:cNvSpPr/>
          <p:nvPr/>
        </p:nvSpPr>
        <p:spPr>
          <a:xfrm>
            <a:off x="6217920" y="2011680"/>
            <a:ext cx="2606040" cy="3566160"/>
          </a:xfrm>
          <a:prstGeom prst="roundRect">
            <a:avLst>
              <a:gd name="adj" fmla="val 4211"/>
            </a:avLst>
          </a:prstGeom>
          <a:solidFill>
            <a:schemeClr val="bg2"/>
          </a:solidFill>
          <a:ln/>
          <a:effectLst>
            <a:outerShdw sx="100000" sy="100000" kx="0" ky="0" algn="bl" rotWithShape="0" blurRad="101600" dist="25400" dir="5400000">
              <a:srgbClr val="2B1B5A">
                <a:alpha val="12000"/>
              </a:srgbClr>
            </a:outerShdw>
          </a:effectLst>
        </p:spPr>
      </p:sp>
      <p:sp>
        <p:nvSpPr>
          <p:cNvPr id="15" name="Nắm rõ chi phí circle"/>
          <p:cNvSpPr/>
          <p:nvPr/>
        </p:nvSpPr>
        <p:spPr>
          <a:xfrm>
            <a:off x="6537960" y="2331720"/>
            <a:ext cx="914400" cy="914400"/>
          </a:xfrm>
          <a:prstGeom prst="ellipse">
            <a:avLst/>
          </a:prstGeom>
          <a:solidFill>
            <a:schemeClr val="accent3"/>
          </a:solidFill>
          <a:ln/>
        </p:spPr>
      </p:sp>
      <p:pic>
        <p:nvPicPr>
          <p:cNvPr id="16" name="Nắm rõ chi phí icon" descr="Nắm rõ chi phí">    </p:cNvPr>
          <p:cNvPicPr>
            <a:picLocks noChangeAspect="1"/>
          </p:cNvPicPr>
          <p:nvPr/>
        </p:nvPicPr>
        <p:blipFill>
          <a:blip r:embed="rId3"/>
          <a:stretch>
            <a:fillRect/>
          </a:stretch>
        </p:blipFill>
        <p:spPr>
          <a:xfrm>
            <a:off x="6775704" y="2569464"/>
            <a:ext cx="438912" cy="438912"/>
          </a:xfrm>
          <a:prstGeom prst="rect">
            <a:avLst/>
          </a:prstGeom>
        </p:spPr>
      </p:pic>
      <p:sp>
        <p:nvSpPr>
          <p:cNvPr id="17" name="Text 12"/>
          <p:cNvSpPr txBox="1"/>
          <p:nvPr/>
        </p:nvSpPr>
        <p:spPr>
          <a:xfrm>
            <a:off x="6537960" y="3474720"/>
            <a:ext cx="2011680" cy="731520"/>
          </a:xfrm>
          <a:prstGeom prst="rect">
            <a:avLst/>
          </a:prstGeom>
          <a:noFill/>
          <a:ln/>
        </p:spPr>
        <p:txBody>
          <a:bodyPr wrap="square" lIns="0" tIns="0" rIns="0" bIns="0" rtlCol="0" anchor="t"/>
          <a:lstStyle/>
          <a:p>
            <a:pPr indent="0" marL="0">
              <a:buNone/>
            </a:pPr>
            <a:r>
              <a:rPr lang="en-US" sz="2000" b="1" dirty="0">
                <a:solidFill>
                  <a:schemeClr val="tx2"/>
                </a:solidFill>
              </a:rPr>
              <a:t>Nắm rõ chi phí</a:t>
            </a:r>
            <a:endParaRPr lang="en-US" sz="2000" dirty="0"/>
          </a:p>
        </p:txBody>
      </p:sp>
      <p:sp>
        <p:nvSpPr>
          <p:cNvPr id="18" name="Text 13"/>
          <p:cNvSpPr txBox="1"/>
          <p:nvPr/>
        </p:nvSpPr>
        <p:spPr>
          <a:xfrm>
            <a:off x="6537960" y="4251960"/>
            <a:ext cx="2011680" cy="1645920"/>
          </a:xfrm>
          <a:prstGeom prst="rect">
            <a:avLst/>
          </a:prstGeom>
          <a:noFill/>
          <a:ln/>
        </p:spPr>
        <p:txBody>
          <a:bodyPr wrap="square" lIns="0" tIns="0" rIns="0" bIns="0" rtlCol="0" anchor="t"/>
          <a:lstStyle/>
          <a:p>
            <a:pPr indent="0" marL="0">
              <a:buNone/>
            </a:pPr>
            <a:r>
              <a:rPr lang="en-US" sz="1500" dirty="0">
                <a:solidFill>
                  <a:srgbClr val="4A4560"/>
                </a:solidFill>
              </a:rPr>
              <a:t>Quy đổi mọi gói về chi phí tháng, thống kê theo danh mục và gói đắt nhất.</a:t>
            </a:r>
            <a:endParaRPr lang="en-US" sz="1500" dirty="0"/>
          </a:p>
        </p:txBody>
      </p:sp>
      <p:sp>
        <p:nvSpPr>
          <p:cNvPr id="19" name="Thẻ Hỗ trợ quyết định giữ / hủy"/>
          <p:cNvSpPr/>
          <p:nvPr/>
        </p:nvSpPr>
        <p:spPr>
          <a:xfrm>
            <a:off x="9052560" y="2011680"/>
            <a:ext cx="2606040" cy="3566160"/>
          </a:xfrm>
          <a:prstGeom prst="roundRect">
            <a:avLst>
              <a:gd name="adj" fmla="val 4211"/>
            </a:avLst>
          </a:prstGeom>
          <a:solidFill>
            <a:schemeClr val="bg2"/>
          </a:solidFill>
          <a:ln/>
          <a:effectLst>
            <a:outerShdw sx="100000" sy="100000" kx="0" ky="0" algn="bl" rotWithShape="0" blurRad="101600" dist="25400" dir="5400000">
              <a:srgbClr val="2B1B5A">
                <a:alpha val="12000"/>
              </a:srgbClr>
            </a:outerShdw>
          </a:effectLst>
        </p:spPr>
      </p:sp>
      <p:sp>
        <p:nvSpPr>
          <p:cNvPr id="20" name="Hỗ trợ quyết định giữ / hủy circle"/>
          <p:cNvSpPr/>
          <p:nvPr/>
        </p:nvSpPr>
        <p:spPr>
          <a:xfrm>
            <a:off x="9372600" y="2331720"/>
            <a:ext cx="914400" cy="914400"/>
          </a:xfrm>
          <a:prstGeom prst="ellipse">
            <a:avLst/>
          </a:prstGeom>
          <a:solidFill>
            <a:schemeClr val="accent4"/>
          </a:solidFill>
          <a:ln/>
        </p:spPr>
      </p:sp>
      <p:pic>
        <p:nvPicPr>
          <p:cNvPr id="21" name="Hỗ trợ quyết định giữ / hủy icon" descr="Hỗ trợ quyết định giữ / hủy">    </p:cNvPr>
          <p:cNvPicPr>
            <a:picLocks noChangeAspect="1"/>
          </p:cNvPicPr>
          <p:nvPr/>
        </p:nvPicPr>
        <p:blipFill>
          <a:blip r:embed="rId4"/>
          <a:stretch>
            <a:fillRect/>
          </a:stretch>
        </p:blipFill>
        <p:spPr>
          <a:xfrm>
            <a:off x="9610344" y="2569464"/>
            <a:ext cx="438912" cy="438912"/>
          </a:xfrm>
          <a:prstGeom prst="rect">
            <a:avLst/>
          </a:prstGeom>
        </p:spPr>
      </p:pic>
      <p:sp>
        <p:nvSpPr>
          <p:cNvPr id="22" name="Text 16"/>
          <p:cNvSpPr txBox="1"/>
          <p:nvPr/>
        </p:nvSpPr>
        <p:spPr>
          <a:xfrm>
            <a:off x="9372600" y="3474720"/>
            <a:ext cx="2011680" cy="731520"/>
          </a:xfrm>
          <a:prstGeom prst="rect">
            <a:avLst/>
          </a:prstGeom>
          <a:noFill/>
          <a:ln/>
        </p:spPr>
        <p:txBody>
          <a:bodyPr wrap="square" lIns="0" tIns="0" rIns="0" bIns="0" rtlCol="0" anchor="t"/>
          <a:lstStyle/>
          <a:p>
            <a:pPr indent="0" marL="0">
              <a:buNone/>
            </a:pPr>
            <a:r>
              <a:rPr lang="en-US" sz="2000" b="1" dirty="0">
                <a:solidFill>
                  <a:schemeClr val="tx2"/>
                </a:solidFill>
              </a:rPr>
              <a:t>Hỗ trợ quyết định giữ / hủy</a:t>
            </a:r>
            <a:endParaRPr lang="en-US" sz="2000" dirty="0"/>
          </a:p>
        </p:txBody>
      </p:sp>
      <p:sp>
        <p:nvSpPr>
          <p:cNvPr id="23" name="Text 17"/>
          <p:cNvSpPr txBox="1"/>
          <p:nvPr/>
        </p:nvSpPr>
        <p:spPr>
          <a:xfrm>
            <a:off x="9372600" y="4251960"/>
            <a:ext cx="2011680" cy="1645920"/>
          </a:xfrm>
          <a:prstGeom prst="rect">
            <a:avLst/>
          </a:prstGeom>
          <a:noFill/>
          <a:ln/>
        </p:spPr>
        <p:txBody>
          <a:bodyPr wrap="square" lIns="0" tIns="0" rIns="0" bIns="0" rtlCol="0" anchor="t"/>
          <a:lstStyle/>
          <a:p>
            <a:pPr indent="0" marL="0">
              <a:buNone/>
            </a:pPr>
            <a:r>
              <a:rPr lang="en-US" sz="1500" dirty="0">
                <a:solidFill>
                  <a:srgbClr val="4A4560"/>
                </a:solidFill>
              </a:rPr>
              <a:t>Hiển thị chi phí, trạng thái, liên kết quản lý để tự đánh giá. Việc hủy làm tại nhà cung cấp.</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E8AA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indent="0" marL="0">
              <a:buNone/>
            </a:pPr>
            <a:r>
              <a:rPr lang="en-US" sz="3600" b="1" dirty="0">
                <a:solidFill>
                  <a:schemeClr val="tx2"/>
                </a:solidFill>
              </a:rPr>
              <a:t>Ứng dụng phục vụ ai, giải quyết vấn đề gì</a:t>
            </a:r>
            <a:endParaRPr lang="en-US" sz="3600" dirty="0"/>
          </a:p>
        </p:txBody>
      </p:sp>
      <p:sp>
        <p:nvSpPr>
          <p:cNvPr id="3" name="Text 1"/>
          <p:cNvSpPr txBox="1"/>
          <p:nvPr/>
        </p:nvSpPr>
        <p:spPr>
          <a:xfrm>
            <a:off x="548640" y="1371600"/>
            <a:ext cx="4114800" cy="365760"/>
          </a:xfrm>
          <a:prstGeom prst="rect">
            <a:avLst/>
          </a:prstGeom>
          <a:noFill/>
          <a:ln/>
        </p:spPr>
        <p:txBody>
          <a:bodyPr wrap="square" lIns="0" tIns="0" rIns="0" bIns="0" rtlCol="0" anchor="t"/>
          <a:lstStyle/>
          <a:p>
            <a:pPr indent="0" marL="0">
              <a:buNone/>
            </a:pPr>
            <a:r>
              <a:rPr lang="en-US" sz="1400" b="1" spc="200" kern="0" dirty="0">
                <a:solidFill>
                  <a:schemeClr val="accent1"/>
                </a:solidFill>
              </a:rPr>
              <a:t>ĐỐI TƯỢNG SỬ DỤNG</a:t>
            </a:r>
            <a:endParaRPr lang="en-US" sz="1400" dirty="0"/>
          </a:p>
        </p:txBody>
      </p:sp>
      <p:sp>
        <p:nvSpPr>
          <p:cNvPr id="4" name="Sinh viên circle"/>
          <p:cNvSpPr/>
          <p:nvPr/>
        </p:nvSpPr>
        <p:spPr>
          <a:xfrm>
            <a:off x="548640" y="1874520"/>
            <a:ext cx="685800" cy="685800"/>
          </a:xfrm>
          <a:prstGeom prst="ellipse">
            <a:avLst/>
          </a:prstGeom>
          <a:solidFill>
            <a:schemeClr val="accent1"/>
          </a:solidFill>
          <a:ln/>
        </p:spPr>
      </p:sp>
      <p:pic>
        <p:nvPicPr>
          <p:cNvPr id="5" name="Sinh viên icon" descr="Sinh viên">    </p:cNvPr>
          <p:cNvPicPr>
            <a:picLocks noChangeAspect="1"/>
          </p:cNvPicPr>
          <p:nvPr/>
        </p:nvPicPr>
        <p:blipFill>
          <a:blip r:embed="rId1"/>
          <a:stretch>
            <a:fillRect/>
          </a:stretch>
        </p:blipFill>
        <p:spPr>
          <a:xfrm>
            <a:off x="726948" y="2052828"/>
            <a:ext cx="329184" cy="329184"/>
          </a:xfrm>
          <a:prstGeom prst="rect">
            <a:avLst/>
          </a:prstGeom>
        </p:spPr>
      </p:pic>
      <p:sp>
        <p:nvSpPr>
          <p:cNvPr id="6" name="Text 3"/>
          <p:cNvSpPr txBox="1"/>
          <p:nvPr/>
        </p:nvSpPr>
        <p:spPr>
          <a:xfrm>
            <a:off x="1417320" y="1856232"/>
            <a:ext cx="3291840" cy="365760"/>
          </a:xfrm>
          <a:prstGeom prst="rect">
            <a:avLst/>
          </a:prstGeom>
          <a:noFill/>
          <a:ln/>
        </p:spPr>
        <p:txBody>
          <a:bodyPr wrap="square" lIns="0" tIns="0" rIns="0" bIns="0" rtlCol="0" anchor="t"/>
          <a:lstStyle/>
          <a:p>
            <a:pPr indent="0" marL="0">
              <a:buNone/>
            </a:pPr>
            <a:r>
              <a:rPr lang="en-US" sz="1900" b="1" dirty="0">
                <a:solidFill>
                  <a:schemeClr val="tx2"/>
                </a:solidFill>
              </a:rPr>
              <a:t>Sinh viên</a:t>
            </a:r>
            <a:endParaRPr lang="en-US" sz="1900" dirty="0"/>
          </a:p>
        </p:txBody>
      </p:sp>
      <p:sp>
        <p:nvSpPr>
          <p:cNvPr id="7" name="Text 4"/>
          <p:cNvSpPr txBox="1"/>
          <p:nvPr/>
        </p:nvSpPr>
        <p:spPr>
          <a:xfrm>
            <a:off x="1417320" y="2240280"/>
            <a:ext cx="3291840" cy="731520"/>
          </a:xfrm>
          <a:prstGeom prst="rect">
            <a:avLst/>
          </a:prstGeom>
          <a:noFill/>
          <a:ln/>
        </p:spPr>
        <p:txBody>
          <a:bodyPr wrap="square" lIns="0" tIns="0" rIns="0" bIns="0" rtlCol="0" anchor="t"/>
          <a:lstStyle/>
          <a:p>
            <a:pPr indent="0" marL="0">
              <a:buNone/>
            </a:pPr>
            <a:r>
              <a:rPr lang="en-US" sz="1500" dirty="0">
                <a:solidFill>
                  <a:srgbClr val="4A4560"/>
                </a:solidFill>
              </a:rPr>
              <a:t>Ngân sách hạn chế, dùng nhiều app giải trí, học tập.</a:t>
            </a:r>
            <a:endParaRPr lang="en-US" sz="1500" dirty="0"/>
          </a:p>
        </p:txBody>
      </p:sp>
      <p:sp>
        <p:nvSpPr>
          <p:cNvPr id="8" name="Người đi làm circle"/>
          <p:cNvSpPr/>
          <p:nvPr/>
        </p:nvSpPr>
        <p:spPr>
          <a:xfrm>
            <a:off x="548640" y="3246120"/>
            <a:ext cx="685800" cy="685800"/>
          </a:xfrm>
          <a:prstGeom prst="ellipse">
            <a:avLst/>
          </a:prstGeom>
          <a:solidFill>
            <a:schemeClr val="accent2"/>
          </a:solidFill>
          <a:ln/>
        </p:spPr>
      </p:sp>
      <p:pic>
        <p:nvPicPr>
          <p:cNvPr id="9" name="Người đi làm icon" descr="Người đi làm">    </p:cNvPr>
          <p:cNvPicPr>
            <a:picLocks noChangeAspect="1"/>
          </p:cNvPicPr>
          <p:nvPr/>
        </p:nvPicPr>
        <p:blipFill>
          <a:blip r:embed="rId2"/>
          <a:stretch>
            <a:fillRect/>
          </a:stretch>
        </p:blipFill>
        <p:spPr>
          <a:xfrm>
            <a:off x="726948" y="3424428"/>
            <a:ext cx="329184" cy="329184"/>
          </a:xfrm>
          <a:prstGeom prst="rect">
            <a:avLst/>
          </a:prstGeom>
        </p:spPr>
      </p:pic>
      <p:sp>
        <p:nvSpPr>
          <p:cNvPr id="10" name="Text 6"/>
          <p:cNvSpPr txBox="1"/>
          <p:nvPr/>
        </p:nvSpPr>
        <p:spPr>
          <a:xfrm>
            <a:off x="1417320" y="3227832"/>
            <a:ext cx="3291840" cy="365760"/>
          </a:xfrm>
          <a:prstGeom prst="rect">
            <a:avLst/>
          </a:prstGeom>
          <a:noFill/>
          <a:ln/>
        </p:spPr>
        <p:txBody>
          <a:bodyPr wrap="square" lIns="0" tIns="0" rIns="0" bIns="0" rtlCol="0" anchor="t"/>
          <a:lstStyle/>
          <a:p>
            <a:pPr indent="0" marL="0">
              <a:buNone/>
            </a:pPr>
            <a:r>
              <a:rPr lang="en-US" sz="1900" b="1" dirty="0">
                <a:solidFill>
                  <a:schemeClr val="tx2"/>
                </a:solidFill>
              </a:rPr>
              <a:t>Người đi làm</a:t>
            </a:r>
            <a:endParaRPr lang="en-US" sz="1900" dirty="0"/>
          </a:p>
        </p:txBody>
      </p:sp>
      <p:sp>
        <p:nvSpPr>
          <p:cNvPr id="11" name="Text 7"/>
          <p:cNvSpPr txBox="1"/>
          <p:nvPr/>
        </p:nvSpPr>
        <p:spPr>
          <a:xfrm>
            <a:off x="1417320" y="3611880"/>
            <a:ext cx="3291840" cy="731520"/>
          </a:xfrm>
          <a:prstGeom prst="rect">
            <a:avLst/>
          </a:prstGeom>
          <a:noFill/>
          <a:ln/>
        </p:spPr>
        <p:txBody>
          <a:bodyPr wrap="square" lIns="0" tIns="0" rIns="0" bIns="0" rtlCol="0" anchor="t"/>
          <a:lstStyle/>
          <a:p>
            <a:pPr indent="0" marL="0">
              <a:buNone/>
            </a:pPr>
            <a:r>
              <a:rPr lang="en-US" sz="1500" dirty="0">
                <a:solidFill>
                  <a:srgbClr val="4A4560"/>
                </a:solidFill>
              </a:rPr>
              <a:t>Nhiều gói công việc, lưu trữ đám mây, phần mềm.</a:t>
            </a:r>
            <a:endParaRPr lang="en-US" sz="1500" dirty="0"/>
          </a:p>
        </p:txBody>
      </p:sp>
      <p:sp>
        <p:nvSpPr>
          <p:cNvPr id="12" name="Người đại diện gói dùng chung circle"/>
          <p:cNvSpPr/>
          <p:nvPr/>
        </p:nvSpPr>
        <p:spPr>
          <a:xfrm>
            <a:off x="548640" y="4617720"/>
            <a:ext cx="685800" cy="685800"/>
          </a:xfrm>
          <a:prstGeom prst="ellipse">
            <a:avLst/>
          </a:prstGeom>
          <a:solidFill>
            <a:schemeClr val="accent3"/>
          </a:solidFill>
          <a:ln/>
        </p:spPr>
      </p:sp>
      <p:pic>
        <p:nvPicPr>
          <p:cNvPr id="13" name="Người đại diện gói dùng chung icon" descr="Người đại diện gói dùng chung">    </p:cNvPr>
          <p:cNvPicPr>
            <a:picLocks noChangeAspect="1"/>
          </p:cNvPicPr>
          <p:nvPr/>
        </p:nvPicPr>
        <p:blipFill>
          <a:blip r:embed="rId3"/>
          <a:stretch>
            <a:fillRect/>
          </a:stretch>
        </p:blipFill>
        <p:spPr>
          <a:xfrm>
            <a:off x="726948" y="4796028"/>
            <a:ext cx="329184" cy="329184"/>
          </a:xfrm>
          <a:prstGeom prst="rect">
            <a:avLst/>
          </a:prstGeom>
        </p:spPr>
      </p:pic>
      <p:sp>
        <p:nvSpPr>
          <p:cNvPr id="14" name="Text 9"/>
          <p:cNvSpPr txBox="1"/>
          <p:nvPr/>
        </p:nvSpPr>
        <p:spPr>
          <a:xfrm>
            <a:off x="1417320" y="4599432"/>
            <a:ext cx="3291840" cy="365760"/>
          </a:xfrm>
          <a:prstGeom prst="rect">
            <a:avLst/>
          </a:prstGeom>
          <a:noFill/>
          <a:ln/>
        </p:spPr>
        <p:txBody>
          <a:bodyPr wrap="square" lIns="0" tIns="0" rIns="0" bIns="0" rtlCol="0" anchor="t"/>
          <a:lstStyle/>
          <a:p>
            <a:pPr indent="0" marL="0">
              <a:buNone/>
            </a:pPr>
            <a:r>
              <a:rPr lang="en-US" sz="1900" b="1" dirty="0">
                <a:solidFill>
                  <a:schemeClr val="tx2"/>
                </a:solidFill>
              </a:rPr>
              <a:t>Người đại diện gói dùng chung</a:t>
            </a:r>
            <a:endParaRPr lang="en-US" sz="1900" dirty="0"/>
          </a:p>
        </p:txBody>
      </p:sp>
      <p:sp>
        <p:nvSpPr>
          <p:cNvPr id="15" name="Text 10"/>
          <p:cNvSpPr txBox="1"/>
          <p:nvPr/>
        </p:nvSpPr>
        <p:spPr>
          <a:xfrm>
            <a:off x="1417320" y="4983480"/>
            <a:ext cx="3291840" cy="731520"/>
          </a:xfrm>
          <a:prstGeom prst="rect">
            <a:avLst/>
          </a:prstGeom>
          <a:noFill/>
          <a:ln/>
        </p:spPr>
        <p:txBody>
          <a:bodyPr wrap="square" lIns="0" tIns="0" rIns="0" bIns="0" rtlCol="0" anchor="t"/>
          <a:lstStyle/>
          <a:p>
            <a:pPr indent="0" marL="0">
              <a:buNone/>
            </a:pPr>
            <a:r>
              <a:rPr lang="en-US" sz="1500" dirty="0">
                <a:solidFill>
                  <a:srgbClr val="4A4560"/>
                </a:solidFill>
              </a:rPr>
              <a:t>Một người ghi lại chi phí, ngày gia hạn gói gia đình/nhóm bạn trên máy mình.</a:t>
            </a:r>
            <a:endParaRPr lang="en-US" sz="1500" dirty="0"/>
          </a:p>
        </p:txBody>
      </p:sp>
      <p:sp>
        <p:nvSpPr>
          <p:cNvPr id="16" name="Text 11"/>
          <p:cNvSpPr txBox="1"/>
          <p:nvPr/>
        </p:nvSpPr>
        <p:spPr>
          <a:xfrm>
            <a:off x="5212080" y="1371600"/>
            <a:ext cx="6400800" cy="365760"/>
          </a:xfrm>
          <a:prstGeom prst="rect">
            <a:avLst/>
          </a:prstGeom>
          <a:noFill/>
          <a:ln/>
        </p:spPr>
        <p:txBody>
          <a:bodyPr wrap="square" lIns="0" tIns="0" rIns="0" bIns="0" rtlCol="0" anchor="t"/>
          <a:lstStyle/>
          <a:p>
            <a:pPr indent="0" marL="0">
              <a:buNone/>
            </a:pPr>
            <a:r>
              <a:rPr lang="en-US" sz="1400" b="1" spc="200" kern="0" dirty="0">
                <a:solidFill>
                  <a:schemeClr val="accent1"/>
                </a:solidFill>
              </a:rPr>
              <a:t>VẤN ĐỀ  →  GIẢI PHÁP</a:t>
            </a:r>
            <a:endParaRPr lang="en-US" sz="1400" dirty="0"/>
          </a:p>
        </p:txBody>
      </p:sp>
      <p:sp>
        <p:nvSpPr>
          <p:cNvPr id="17" name="Vấn đề 1"/>
          <p:cNvSpPr/>
          <p:nvPr/>
        </p:nvSpPr>
        <p:spPr>
          <a:xfrm>
            <a:off x="5212080" y="1874520"/>
            <a:ext cx="3017520" cy="868680"/>
          </a:xfrm>
          <a:prstGeom prst="roundRect">
            <a:avLst>
              <a:gd name="adj" fmla="val 12632"/>
            </a:avLst>
          </a:prstGeom>
          <a:solidFill>
            <a:srgbClr val="FFEDE7"/>
          </a:solidFill>
          <a:ln/>
          <a:effectLst>
            <a:outerShdw sx="100000" sy="100000" kx="0" ky="0" algn="bl" rotWithShape="0" blurRad="101600" dist="25400" dir="5400000">
              <a:srgbClr val="2B1B5A">
                <a:alpha val="12000"/>
              </a:srgbClr>
            </a:outerShdw>
          </a:effectLst>
        </p:spPr>
      </p:sp>
      <p:sp>
        <p:nvSpPr>
          <p:cNvPr id="18" name="Text 13"/>
          <p:cNvSpPr txBox="1"/>
          <p:nvPr/>
        </p:nvSpPr>
        <p:spPr>
          <a:xfrm>
            <a:off x="5394960" y="1874520"/>
            <a:ext cx="2651760" cy="868680"/>
          </a:xfrm>
          <a:prstGeom prst="rect">
            <a:avLst/>
          </a:prstGeom>
          <a:noFill/>
          <a:ln/>
        </p:spPr>
        <p:txBody>
          <a:bodyPr wrap="square" lIns="0" tIns="0" rIns="0" bIns="0" rtlCol="0" anchor="ctr"/>
          <a:lstStyle/>
          <a:p>
            <a:pPr indent="0" marL="0">
              <a:buNone/>
            </a:pPr>
            <a:r>
              <a:rPr lang="en-US" sz="1500" dirty="0">
                <a:solidFill>
                  <a:srgbClr val="7A2E1C"/>
                </a:solidFill>
              </a:rPr>
              <a:t>Quên ngày gia hạn, bị trừ tiền bất ngờ</a:t>
            </a:r>
            <a:endParaRPr lang="en-US" sz="1500" dirty="0"/>
          </a:p>
        </p:txBody>
      </p:sp>
      <p:pic>
        <p:nvPicPr>
          <p:cNvPr id="19" name="Mũi tên 1" descr="dẫn đến">    </p:cNvPr>
          <p:cNvPicPr>
            <a:picLocks noChangeAspect="1"/>
          </p:cNvPicPr>
          <p:nvPr/>
        </p:nvPicPr>
        <p:blipFill>
          <a:blip r:embed="rId4"/>
          <a:stretch>
            <a:fillRect/>
          </a:stretch>
        </p:blipFill>
        <p:spPr>
          <a:xfrm>
            <a:off x="8385048" y="2121408"/>
            <a:ext cx="365760" cy="365760"/>
          </a:xfrm>
          <a:prstGeom prst="rect">
            <a:avLst/>
          </a:prstGeom>
        </p:spPr>
      </p:pic>
      <p:sp>
        <p:nvSpPr>
          <p:cNvPr id="20" name="Giải pháp 1"/>
          <p:cNvSpPr/>
          <p:nvPr/>
        </p:nvSpPr>
        <p:spPr>
          <a:xfrm>
            <a:off x="8915400" y="1874520"/>
            <a:ext cx="2743200" cy="868680"/>
          </a:xfrm>
          <a:prstGeom prst="roundRect">
            <a:avLst>
              <a:gd name="adj" fmla="val 12632"/>
            </a:avLst>
          </a:prstGeom>
          <a:solidFill>
            <a:srgbClr val="E3F6F4"/>
          </a:solidFill>
          <a:ln/>
          <a:effectLst>
            <a:outerShdw sx="100000" sy="100000" kx="0" ky="0" algn="bl" rotWithShape="0" blurRad="101600" dist="25400" dir="5400000">
              <a:srgbClr val="2B1B5A">
                <a:alpha val="12000"/>
              </a:srgbClr>
            </a:outerShdw>
          </a:effectLst>
        </p:spPr>
      </p:sp>
      <p:sp>
        <p:nvSpPr>
          <p:cNvPr id="21" name="Text 15"/>
          <p:cNvSpPr txBox="1"/>
          <p:nvPr/>
        </p:nvSpPr>
        <p:spPr>
          <a:xfrm>
            <a:off x="9098280" y="1874520"/>
            <a:ext cx="2423160" cy="868680"/>
          </a:xfrm>
          <a:prstGeom prst="rect">
            <a:avLst/>
          </a:prstGeom>
          <a:noFill/>
          <a:ln/>
        </p:spPr>
        <p:txBody>
          <a:bodyPr wrap="square" lIns="0" tIns="0" rIns="0" bIns="0" rtlCol="0" anchor="ctr"/>
          <a:lstStyle/>
          <a:p>
            <a:pPr indent="0" marL="0">
              <a:buNone/>
            </a:pPr>
            <a:r>
              <a:rPr lang="en-US" sz="1500" dirty="0">
                <a:solidFill>
                  <a:srgbClr val="0E5A53"/>
                </a:solidFill>
              </a:rPr>
              <a:t>Danh sách khoản sắp đến hạn + thông báo nhắc trước</a:t>
            </a:r>
            <a:endParaRPr lang="en-US" sz="1500" dirty="0"/>
          </a:p>
        </p:txBody>
      </p:sp>
      <p:sp>
        <p:nvSpPr>
          <p:cNvPr id="22" name="Vấn đề 2"/>
          <p:cNvSpPr/>
          <p:nvPr/>
        </p:nvSpPr>
        <p:spPr>
          <a:xfrm>
            <a:off x="5212080" y="2926080"/>
            <a:ext cx="3017520" cy="868680"/>
          </a:xfrm>
          <a:prstGeom prst="roundRect">
            <a:avLst>
              <a:gd name="adj" fmla="val 12632"/>
            </a:avLst>
          </a:prstGeom>
          <a:solidFill>
            <a:srgbClr val="FFEDE7"/>
          </a:solidFill>
          <a:ln/>
          <a:effectLst>
            <a:outerShdw sx="100000" sy="100000" kx="0" ky="0" algn="bl" rotWithShape="0" blurRad="101600" dist="25400" dir="5400000">
              <a:srgbClr val="2B1B5A">
                <a:alpha val="12000"/>
              </a:srgbClr>
            </a:outerShdw>
          </a:effectLst>
        </p:spPr>
      </p:sp>
      <p:sp>
        <p:nvSpPr>
          <p:cNvPr id="23" name="Text 17"/>
          <p:cNvSpPr txBox="1"/>
          <p:nvPr/>
        </p:nvSpPr>
        <p:spPr>
          <a:xfrm>
            <a:off x="5394960" y="2926080"/>
            <a:ext cx="2651760" cy="868680"/>
          </a:xfrm>
          <a:prstGeom prst="rect">
            <a:avLst/>
          </a:prstGeom>
          <a:noFill/>
          <a:ln/>
        </p:spPr>
        <p:txBody>
          <a:bodyPr wrap="square" lIns="0" tIns="0" rIns="0" bIns="0" rtlCol="0" anchor="ctr"/>
          <a:lstStyle/>
          <a:p>
            <a:pPr indent="0" marL="0">
              <a:buNone/>
            </a:pPr>
            <a:r>
              <a:rPr lang="en-US" sz="1500" dirty="0">
                <a:solidFill>
                  <a:srgbClr val="7A2E1C"/>
                </a:solidFill>
              </a:rPr>
              <a:t>Không biết tổng chi cho đăng ký mỗi tháng</a:t>
            </a:r>
            <a:endParaRPr lang="en-US" sz="1500" dirty="0"/>
          </a:p>
        </p:txBody>
      </p:sp>
      <p:pic>
        <p:nvPicPr>
          <p:cNvPr id="24" name="Mũi tên 2" descr="dẫn đến">    </p:cNvPr>
          <p:cNvPicPr>
            <a:picLocks noChangeAspect="1"/>
          </p:cNvPicPr>
          <p:nvPr/>
        </p:nvPicPr>
        <p:blipFill>
          <a:blip r:embed="rId5"/>
          <a:stretch>
            <a:fillRect/>
          </a:stretch>
        </p:blipFill>
        <p:spPr>
          <a:xfrm>
            <a:off x="8385048" y="3172968"/>
            <a:ext cx="365760" cy="365760"/>
          </a:xfrm>
          <a:prstGeom prst="rect">
            <a:avLst/>
          </a:prstGeom>
        </p:spPr>
      </p:pic>
      <p:sp>
        <p:nvSpPr>
          <p:cNvPr id="25" name="Giải pháp 2"/>
          <p:cNvSpPr/>
          <p:nvPr/>
        </p:nvSpPr>
        <p:spPr>
          <a:xfrm>
            <a:off x="8915400" y="2926080"/>
            <a:ext cx="2743200" cy="868680"/>
          </a:xfrm>
          <a:prstGeom prst="roundRect">
            <a:avLst>
              <a:gd name="adj" fmla="val 12632"/>
            </a:avLst>
          </a:prstGeom>
          <a:solidFill>
            <a:srgbClr val="E3F6F4"/>
          </a:solidFill>
          <a:ln/>
          <a:effectLst>
            <a:outerShdw sx="100000" sy="100000" kx="0" ky="0" algn="bl" rotWithShape="0" blurRad="101600" dist="25400" dir="5400000">
              <a:srgbClr val="2B1B5A">
                <a:alpha val="12000"/>
              </a:srgbClr>
            </a:outerShdw>
          </a:effectLst>
        </p:spPr>
      </p:sp>
      <p:sp>
        <p:nvSpPr>
          <p:cNvPr id="26" name="Text 19"/>
          <p:cNvSpPr txBox="1"/>
          <p:nvPr/>
        </p:nvSpPr>
        <p:spPr>
          <a:xfrm>
            <a:off x="9098280" y="2926080"/>
            <a:ext cx="2423160" cy="868680"/>
          </a:xfrm>
          <a:prstGeom prst="rect">
            <a:avLst/>
          </a:prstGeom>
          <a:noFill/>
          <a:ln/>
        </p:spPr>
        <p:txBody>
          <a:bodyPr wrap="square" lIns="0" tIns="0" rIns="0" bIns="0" rtlCol="0" anchor="ctr"/>
          <a:lstStyle/>
          <a:p>
            <a:pPr indent="0" marL="0">
              <a:buNone/>
            </a:pPr>
            <a:r>
              <a:rPr lang="en-US" sz="1500" dirty="0">
                <a:solidFill>
                  <a:srgbClr val="0E5A53"/>
                </a:solidFill>
              </a:rPr>
              <a:t>Tổng quan và báo cáo chi phí ước tính theo chu kỳ</a:t>
            </a:r>
            <a:endParaRPr lang="en-US" sz="1500" dirty="0"/>
          </a:p>
        </p:txBody>
      </p:sp>
      <p:sp>
        <p:nvSpPr>
          <p:cNvPr id="27" name="Vấn đề 3"/>
          <p:cNvSpPr/>
          <p:nvPr/>
        </p:nvSpPr>
        <p:spPr>
          <a:xfrm>
            <a:off x="5212080" y="3977640"/>
            <a:ext cx="3017520" cy="868680"/>
          </a:xfrm>
          <a:prstGeom prst="roundRect">
            <a:avLst>
              <a:gd name="adj" fmla="val 12632"/>
            </a:avLst>
          </a:prstGeom>
          <a:solidFill>
            <a:srgbClr val="FFEDE7"/>
          </a:solidFill>
          <a:ln/>
          <a:effectLst>
            <a:outerShdw sx="100000" sy="100000" kx="0" ky="0" algn="bl" rotWithShape="0" blurRad="101600" dist="25400" dir="5400000">
              <a:srgbClr val="2B1B5A">
                <a:alpha val="12000"/>
              </a:srgbClr>
            </a:outerShdw>
          </a:effectLst>
        </p:spPr>
      </p:sp>
      <p:sp>
        <p:nvSpPr>
          <p:cNvPr id="28" name="Text 21"/>
          <p:cNvSpPr txBox="1"/>
          <p:nvPr/>
        </p:nvSpPr>
        <p:spPr>
          <a:xfrm>
            <a:off x="5394960" y="3977640"/>
            <a:ext cx="2651760" cy="868680"/>
          </a:xfrm>
          <a:prstGeom prst="rect">
            <a:avLst/>
          </a:prstGeom>
          <a:noFill/>
          <a:ln/>
        </p:spPr>
        <p:txBody>
          <a:bodyPr wrap="square" lIns="0" tIns="0" rIns="0" bIns="0" rtlCol="0" anchor="ctr"/>
          <a:lstStyle/>
          <a:p>
            <a:pPr indent="0" marL="0">
              <a:buNone/>
            </a:pPr>
            <a:r>
              <a:rPr lang="en-US" sz="1500" dirty="0">
                <a:solidFill>
                  <a:srgbClr val="7A2E1C"/>
                </a:solidFill>
              </a:rPr>
              <a:t>Thông tin rải rác trong email, ghi chú</a:t>
            </a:r>
            <a:endParaRPr lang="en-US" sz="1500" dirty="0"/>
          </a:p>
        </p:txBody>
      </p:sp>
      <p:pic>
        <p:nvPicPr>
          <p:cNvPr id="29" name="Mũi tên 3" descr="dẫn đến">    </p:cNvPr>
          <p:cNvPicPr>
            <a:picLocks noChangeAspect="1"/>
          </p:cNvPicPr>
          <p:nvPr/>
        </p:nvPicPr>
        <p:blipFill>
          <a:blip r:embed="rId6"/>
          <a:stretch>
            <a:fillRect/>
          </a:stretch>
        </p:blipFill>
        <p:spPr>
          <a:xfrm>
            <a:off x="8385048" y="4224528"/>
            <a:ext cx="365760" cy="365760"/>
          </a:xfrm>
          <a:prstGeom prst="rect">
            <a:avLst/>
          </a:prstGeom>
        </p:spPr>
      </p:pic>
      <p:sp>
        <p:nvSpPr>
          <p:cNvPr id="30" name="Giải pháp 3"/>
          <p:cNvSpPr/>
          <p:nvPr/>
        </p:nvSpPr>
        <p:spPr>
          <a:xfrm>
            <a:off x="8915400" y="3977640"/>
            <a:ext cx="2743200" cy="868680"/>
          </a:xfrm>
          <a:prstGeom prst="roundRect">
            <a:avLst>
              <a:gd name="adj" fmla="val 12632"/>
            </a:avLst>
          </a:prstGeom>
          <a:solidFill>
            <a:srgbClr val="E3F6F4"/>
          </a:solidFill>
          <a:ln/>
          <a:effectLst>
            <a:outerShdw sx="100000" sy="100000" kx="0" ky="0" algn="bl" rotWithShape="0" blurRad="101600" dist="25400" dir="5400000">
              <a:srgbClr val="2B1B5A">
                <a:alpha val="12000"/>
              </a:srgbClr>
            </a:outerShdw>
          </a:effectLst>
        </p:spPr>
      </p:sp>
      <p:sp>
        <p:nvSpPr>
          <p:cNvPr id="31" name="Text 23"/>
          <p:cNvSpPr txBox="1"/>
          <p:nvPr/>
        </p:nvSpPr>
        <p:spPr>
          <a:xfrm>
            <a:off x="9098280" y="3977640"/>
            <a:ext cx="2423160" cy="868680"/>
          </a:xfrm>
          <a:prstGeom prst="rect">
            <a:avLst/>
          </a:prstGeom>
          <a:noFill/>
          <a:ln/>
        </p:spPr>
        <p:txBody>
          <a:bodyPr wrap="square" lIns="0" tIns="0" rIns="0" bIns="0" rtlCol="0" anchor="ctr"/>
          <a:lstStyle/>
          <a:p>
            <a:pPr indent="0" marL="0">
              <a:buNone/>
            </a:pPr>
            <a:r>
              <a:rPr lang="en-US" sz="1500" dirty="0">
                <a:solidFill>
                  <a:srgbClr val="0E5A53"/>
                </a:solidFill>
              </a:rPr>
              <a:t>Lưu tập trung một nơi, tìm kiếm, lọc, sắp xếp</a:t>
            </a:r>
            <a:endParaRPr lang="en-US" sz="1500" dirty="0"/>
          </a:p>
        </p:txBody>
      </p:sp>
      <p:sp>
        <p:nvSpPr>
          <p:cNvPr id="32" name="Vấn đề 4"/>
          <p:cNvSpPr/>
          <p:nvPr/>
        </p:nvSpPr>
        <p:spPr>
          <a:xfrm>
            <a:off x="5212080" y="5029200"/>
            <a:ext cx="3017520" cy="868680"/>
          </a:xfrm>
          <a:prstGeom prst="roundRect">
            <a:avLst>
              <a:gd name="adj" fmla="val 12632"/>
            </a:avLst>
          </a:prstGeom>
          <a:solidFill>
            <a:srgbClr val="FFEDE7"/>
          </a:solidFill>
          <a:ln/>
          <a:effectLst>
            <a:outerShdw sx="100000" sy="100000" kx="0" ky="0" algn="bl" rotWithShape="0" blurRad="101600" dist="25400" dir="5400000">
              <a:srgbClr val="2B1B5A">
                <a:alpha val="12000"/>
              </a:srgbClr>
            </a:outerShdw>
          </a:effectLst>
        </p:spPr>
      </p:sp>
      <p:sp>
        <p:nvSpPr>
          <p:cNvPr id="33" name="Text 25"/>
          <p:cNvSpPr txBox="1"/>
          <p:nvPr/>
        </p:nvSpPr>
        <p:spPr>
          <a:xfrm>
            <a:off x="5394960" y="5029200"/>
            <a:ext cx="2651760" cy="868680"/>
          </a:xfrm>
          <a:prstGeom prst="rect">
            <a:avLst/>
          </a:prstGeom>
          <a:noFill/>
          <a:ln/>
        </p:spPr>
        <p:txBody>
          <a:bodyPr wrap="square" lIns="0" tIns="0" rIns="0" bIns="0" rtlCol="0" anchor="ctr"/>
          <a:lstStyle/>
          <a:p>
            <a:pPr indent="0" marL="0">
              <a:buNone/>
            </a:pPr>
            <a:r>
              <a:rPr lang="en-US" sz="1500" dirty="0">
                <a:solidFill>
                  <a:srgbClr val="7A2E1C"/>
                </a:solidFill>
              </a:rPr>
              <a:t>Trả tiền cho gói không còn dùng</a:t>
            </a:r>
            <a:endParaRPr lang="en-US" sz="1500" dirty="0"/>
          </a:p>
        </p:txBody>
      </p:sp>
      <p:pic>
        <p:nvPicPr>
          <p:cNvPr id="34" name="Mũi tên 4" descr="dẫn đến">    </p:cNvPr>
          <p:cNvPicPr>
            <a:picLocks noChangeAspect="1"/>
          </p:cNvPicPr>
          <p:nvPr/>
        </p:nvPicPr>
        <p:blipFill>
          <a:blip r:embed="rId7"/>
          <a:stretch>
            <a:fillRect/>
          </a:stretch>
        </p:blipFill>
        <p:spPr>
          <a:xfrm>
            <a:off x="8385048" y="5276088"/>
            <a:ext cx="365760" cy="365760"/>
          </a:xfrm>
          <a:prstGeom prst="rect">
            <a:avLst/>
          </a:prstGeom>
        </p:spPr>
      </p:pic>
      <p:sp>
        <p:nvSpPr>
          <p:cNvPr id="35" name="Giải pháp 4"/>
          <p:cNvSpPr/>
          <p:nvPr/>
        </p:nvSpPr>
        <p:spPr>
          <a:xfrm>
            <a:off x="8915400" y="5029200"/>
            <a:ext cx="2743200" cy="868680"/>
          </a:xfrm>
          <a:prstGeom prst="roundRect">
            <a:avLst>
              <a:gd name="adj" fmla="val 12632"/>
            </a:avLst>
          </a:prstGeom>
          <a:solidFill>
            <a:srgbClr val="E3F6F4"/>
          </a:solidFill>
          <a:ln/>
          <a:effectLst>
            <a:outerShdw sx="100000" sy="100000" kx="0" ky="0" algn="bl" rotWithShape="0" blurRad="101600" dist="25400" dir="5400000">
              <a:srgbClr val="2B1B5A">
                <a:alpha val="12000"/>
              </a:srgbClr>
            </a:outerShdw>
          </a:effectLst>
        </p:spPr>
      </p:sp>
      <p:sp>
        <p:nvSpPr>
          <p:cNvPr id="36" name="Text 27"/>
          <p:cNvSpPr txBox="1"/>
          <p:nvPr/>
        </p:nvSpPr>
        <p:spPr>
          <a:xfrm>
            <a:off x="9098280" y="5029200"/>
            <a:ext cx="2423160" cy="868680"/>
          </a:xfrm>
          <a:prstGeom prst="rect">
            <a:avLst/>
          </a:prstGeom>
          <a:noFill/>
          <a:ln/>
        </p:spPr>
        <p:txBody>
          <a:bodyPr wrap="square" lIns="0" tIns="0" rIns="0" bIns="0" rtlCol="0" anchor="ctr"/>
          <a:lstStyle/>
          <a:p>
            <a:pPr indent="0" marL="0">
              <a:buNone/>
            </a:pPr>
            <a:r>
              <a:rPr lang="en-US" sz="1500" dirty="0">
                <a:solidFill>
                  <a:srgbClr val="0E5A53"/>
                </a:solidFill>
              </a:rPr>
              <a:t>Trạng thái gói, danh sách gói tốn tiền nhất</a:t>
            </a:r>
            <a:endParaRPr lang="en-US" sz="1500" dirty="0"/>
          </a:p>
        </p:txBody>
      </p:sp>
      <p:sp>
        <p:nvSpPr>
          <p:cNvPr id="37" name="Text 28"/>
          <p:cNvSpPr txBox="1"/>
          <p:nvPr/>
        </p:nvSpPr>
        <p:spPr>
          <a:xfrm>
            <a:off x="548640" y="6172200"/>
            <a:ext cx="10515600" cy="320040"/>
          </a:xfrm>
          <a:prstGeom prst="rect">
            <a:avLst/>
          </a:prstGeom>
          <a:noFill/>
          <a:ln/>
        </p:spPr>
        <p:txBody>
          <a:bodyPr wrap="square" lIns="0" tIns="0" rIns="0" bIns="0" rtlCol="0" anchor="t"/>
          <a:lstStyle/>
          <a:p>
            <a:pPr indent="0" marL="0">
              <a:buNone/>
            </a:pPr>
            <a:r>
              <a:rPr lang="en-US" sz="1200" i="1" dirty="0">
                <a:solidFill>
                  <a:srgbClr val="6E6888"/>
                </a:solidFill>
              </a:rPr>
              <a:t>Phiên bản hiện tại quản lý dữ liệu trên từng thiết bị, chưa hỗ trợ thành viên, phân quyền hoặc chia tiền.</a:t>
            </a:r>
            <a:endParaRPr lang="en-US" sz="12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E8AA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indent="0" marL="0">
              <a:buNone/>
            </a:pPr>
            <a:r>
              <a:rPr lang="en-US" sz="3600" b="1" dirty="0">
                <a:solidFill>
                  <a:schemeClr val="tx2"/>
                </a:solidFill>
              </a:rPr>
              <a:t>Khảo sát ứng dụng tương tự</a:t>
            </a:r>
            <a:endParaRPr lang="en-US" sz="3600" dirty="0"/>
          </a:p>
        </p:txBody>
      </p:sp>
      <p:sp>
        <p:nvSpPr>
          <p:cNvPr id="3" name="Thẻ Sub Radar"/>
          <p:cNvSpPr/>
          <p:nvPr/>
        </p:nvSpPr>
        <p:spPr>
          <a:xfrm>
            <a:off x="548640" y="1325880"/>
            <a:ext cx="3520440" cy="3611880"/>
          </a:xfrm>
          <a:prstGeom prst="roundRect">
            <a:avLst>
              <a:gd name="adj" fmla="val 3117"/>
            </a:avLst>
          </a:prstGeom>
          <a:solidFill>
            <a:schemeClr val="bg2"/>
          </a:solidFill>
          <a:ln/>
          <a:effectLst>
            <a:outerShdw sx="100000" sy="100000" kx="0" ky="0" algn="bl" rotWithShape="0" blurRad="101600" dist="25400" dir="5400000">
              <a:srgbClr val="2B1B5A">
                <a:alpha val="12000"/>
              </a:srgbClr>
            </a:outerShdw>
          </a:effectLst>
        </p:spPr>
      </p:sp>
      <p:sp>
        <p:nvSpPr>
          <p:cNvPr id="4" name="Sub Radar logo"/>
          <p:cNvSpPr/>
          <p:nvPr/>
        </p:nvSpPr>
        <p:spPr>
          <a:xfrm>
            <a:off x="822960" y="1554480"/>
            <a:ext cx="548640" cy="548640"/>
          </a:xfrm>
          <a:prstGeom prst="ellipse">
            <a:avLst/>
          </a:prstGeom>
          <a:solidFill>
            <a:schemeClr val="accent1"/>
          </a:solidFill>
          <a:ln/>
        </p:spPr>
      </p:sp>
      <p:sp>
        <p:nvSpPr>
          <p:cNvPr id="5" name="Text 3"/>
          <p:cNvSpPr txBox="1"/>
          <p:nvPr/>
        </p:nvSpPr>
        <p:spPr>
          <a:xfrm>
            <a:off x="822960" y="15544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S</a:t>
            </a:r>
            <a:endParaRPr lang="en-US" sz="2000" dirty="0"/>
          </a:p>
        </p:txBody>
      </p:sp>
      <p:sp>
        <p:nvSpPr>
          <p:cNvPr id="6" name="Text 4"/>
          <p:cNvSpPr txBox="1"/>
          <p:nvPr/>
        </p:nvSpPr>
        <p:spPr>
          <a:xfrm>
            <a:off x="1508760" y="1536192"/>
            <a:ext cx="2377440" cy="347472"/>
          </a:xfrm>
          <a:prstGeom prst="rect">
            <a:avLst/>
          </a:prstGeom>
          <a:noFill/>
          <a:ln/>
        </p:spPr>
        <p:txBody>
          <a:bodyPr wrap="square" lIns="0" tIns="0" rIns="0" bIns="0" rtlCol="0" anchor="t"/>
          <a:lstStyle/>
          <a:p>
            <a:pPr indent="0" marL="0">
              <a:buNone/>
            </a:pPr>
            <a:r>
              <a:rPr lang="en-US" sz="2000" b="1" dirty="0">
                <a:solidFill>
                  <a:schemeClr val="tx2"/>
                </a:solidFill>
              </a:rPr>
              <a:t>Sub Radar</a:t>
            </a:r>
            <a:endParaRPr lang="en-US" sz="2000" dirty="0"/>
          </a:p>
        </p:txBody>
      </p:sp>
      <p:sp>
        <p:nvSpPr>
          <p:cNvPr id="7" name="Text 5"/>
          <p:cNvSpPr txBox="1"/>
          <p:nvPr/>
        </p:nvSpPr>
        <p:spPr>
          <a:xfrm>
            <a:off x="1508760" y="1883664"/>
            <a:ext cx="2468880" cy="274320"/>
          </a:xfrm>
          <a:prstGeom prst="rect">
            <a:avLst/>
          </a:prstGeom>
          <a:noFill/>
          <a:ln/>
        </p:spPr>
        <p:txBody>
          <a:bodyPr wrap="square" lIns="0" tIns="0" rIns="0" bIns="0" rtlCol="0" anchor="t"/>
          <a:lstStyle/>
          <a:p>
            <a:pPr indent="0" marL="0">
              <a:buNone/>
            </a:pPr>
            <a:r>
              <a:rPr lang="en-US" sz="1200" dirty="0">
                <a:solidFill>
                  <a:srgbClr val="6E6888"/>
                </a:solidFill>
              </a:rPr>
              <a:t>subradar.app · hệ sinh thái Apple</a:t>
            </a:r>
            <a:endParaRPr lang="en-US" sz="1200" dirty="0"/>
          </a:p>
        </p:txBody>
      </p:sp>
      <p:sp>
        <p:nvSpPr>
          <p:cNvPr id="8" name="Text 6"/>
          <p:cNvSpPr txBox="1"/>
          <p:nvPr/>
        </p:nvSpPr>
        <p:spPr>
          <a:xfrm>
            <a:off x="822960" y="2377440"/>
            <a:ext cx="3017520" cy="2468880"/>
          </a:xfrm>
          <a:prstGeom prst="rect">
            <a:avLst/>
          </a:prstGeom>
          <a:noFill/>
          <a:ln/>
        </p:spPr>
        <p:txBody>
          <a:bodyPr wrap="square" lIns="0" tIns="0" rIns="0" bIns="0" rtlCol="0" anchor="t"/>
          <a:lstStyle/>
          <a:p>
            <a:pPr indent="0" marL="0">
              <a:spcAft>
                <a:spcPts val="600"/>
              </a:spcAft>
              <a:buNone/>
            </a:pPr>
            <a:r>
              <a:rPr lang="en-US" sz="1500" dirty="0">
                <a:solidFill>
                  <a:srgbClr val="0E6E64"/>
                </a:solidFill>
              </a:rPr>
              <a:t>+  Quản lý gói, tag, nhắc hạn</a:t>
            </a:r>
            <a:endParaRPr lang="en-US" sz="1500" dirty="0"/>
          </a:p>
          <a:p>
            <a:pPr indent="0" marL="0">
              <a:spcAft>
                <a:spcPts val="600"/>
              </a:spcAft>
              <a:buNone/>
            </a:pPr>
            <a:r>
              <a:rPr lang="en-US" sz="1500" dirty="0">
                <a:solidFill>
                  <a:srgbClr val="0E6E64"/>
                </a:solidFill>
              </a:rPr>
              <a:t>+  Tích hợp lịch, đồng bộ iCloud</a:t>
            </a:r>
            <a:endParaRPr lang="en-US" sz="1500" dirty="0"/>
          </a:p>
          <a:p>
            <a:pPr indent="0" marL="0">
              <a:spcAft>
                <a:spcPts val="600"/>
              </a:spcAft>
              <a:buNone/>
            </a:pPr>
            <a:r>
              <a:rPr lang="en-US" sz="1500" dirty="0">
                <a:solidFill>
                  <a:srgbClr val="A23B22"/>
                </a:solidFill>
              </a:rPr>
              <a:t>−  Tài liệu chính thức mô tả hệ sinh thái Apple; chưa thấy bản Android</a:t>
            </a:r>
            <a:endParaRPr lang="en-US" sz="1500" dirty="0"/>
          </a:p>
        </p:txBody>
      </p:sp>
      <p:sp>
        <p:nvSpPr>
          <p:cNvPr id="9" name="Thẻ Bobby"/>
          <p:cNvSpPr/>
          <p:nvPr/>
        </p:nvSpPr>
        <p:spPr>
          <a:xfrm>
            <a:off x="4297680" y="1325880"/>
            <a:ext cx="3520440" cy="3611880"/>
          </a:xfrm>
          <a:prstGeom prst="roundRect">
            <a:avLst>
              <a:gd name="adj" fmla="val 3117"/>
            </a:avLst>
          </a:prstGeom>
          <a:solidFill>
            <a:schemeClr val="bg2"/>
          </a:solidFill>
          <a:ln/>
          <a:effectLst>
            <a:outerShdw sx="100000" sy="100000" kx="0" ky="0" algn="bl" rotWithShape="0" blurRad="101600" dist="25400" dir="5400000">
              <a:srgbClr val="2B1B5A">
                <a:alpha val="12000"/>
              </a:srgbClr>
            </a:outerShdw>
          </a:effectLst>
        </p:spPr>
      </p:sp>
      <p:sp>
        <p:nvSpPr>
          <p:cNvPr id="10" name="Bobby logo"/>
          <p:cNvSpPr/>
          <p:nvPr/>
        </p:nvSpPr>
        <p:spPr>
          <a:xfrm>
            <a:off x="4572000" y="1554480"/>
            <a:ext cx="548640" cy="548640"/>
          </a:xfrm>
          <a:prstGeom prst="ellipse">
            <a:avLst/>
          </a:prstGeom>
          <a:solidFill>
            <a:schemeClr val="accent2"/>
          </a:solidFill>
          <a:ln/>
        </p:spPr>
      </p:sp>
      <p:sp>
        <p:nvSpPr>
          <p:cNvPr id="11" name="Text 9"/>
          <p:cNvSpPr txBox="1"/>
          <p:nvPr/>
        </p:nvSpPr>
        <p:spPr>
          <a:xfrm>
            <a:off x="4572000" y="15544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12" name="Text 10"/>
          <p:cNvSpPr txBox="1"/>
          <p:nvPr/>
        </p:nvSpPr>
        <p:spPr>
          <a:xfrm>
            <a:off x="5257800" y="1536192"/>
            <a:ext cx="2377440" cy="347472"/>
          </a:xfrm>
          <a:prstGeom prst="rect">
            <a:avLst/>
          </a:prstGeom>
          <a:noFill/>
          <a:ln/>
        </p:spPr>
        <p:txBody>
          <a:bodyPr wrap="square" lIns="0" tIns="0" rIns="0" bIns="0" rtlCol="0" anchor="t"/>
          <a:lstStyle/>
          <a:p>
            <a:pPr indent="0" marL="0">
              <a:buNone/>
            </a:pPr>
            <a:r>
              <a:rPr lang="en-US" sz="2000" b="1" dirty="0">
                <a:solidFill>
                  <a:schemeClr val="tx2"/>
                </a:solidFill>
              </a:rPr>
              <a:t>Bobby</a:t>
            </a:r>
            <a:endParaRPr lang="en-US" sz="2000" dirty="0"/>
          </a:p>
        </p:txBody>
      </p:sp>
      <p:sp>
        <p:nvSpPr>
          <p:cNvPr id="13" name="Text 11"/>
          <p:cNvSpPr txBox="1"/>
          <p:nvPr/>
        </p:nvSpPr>
        <p:spPr>
          <a:xfrm>
            <a:off x="5257800" y="1883664"/>
            <a:ext cx="2468880" cy="274320"/>
          </a:xfrm>
          <a:prstGeom prst="rect">
            <a:avLst/>
          </a:prstGeom>
          <a:noFill/>
          <a:ln/>
        </p:spPr>
        <p:txBody>
          <a:bodyPr wrap="square" lIns="0" tIns="0" rIns="0" bIns="0" rtlCol="0" anchor="t"/>
          <a:lstStyle/>
          <a:p>
            <a:pPr indent="0" marL="0">
              <a:buNone/>
            </a:pPr>
            <a:r>
              <a:rPr lang="en-US" sz="1200" dirty="0">
                <a:solidFill>
                  <a:srgbClr val="6E6888"/>
                </a:solidFill>
              </a:rPr>
              <a:t>Yummygum · App Store</a:t>
            </a:r>
            <a:endParaRPr lang="en-US" sz="1200" dirty="0"/>
          </a:p>
        </p:txBody>
      </p:sp>
      <p:sp>
        <p:nvSpPr>
          <p:cNvPr id="14" name="Text 12"/>
          <p:cNvSpPr txBox="1"/>
          <p:nvPr/>
        </p:nvSpPr>
        <p:spPr>
          <a:xfrm>
            <a:off x="4572000" y="2377440"/>
            <a:ext cx="3017520" cy="2468880"/>
          </a:xfrm>
          <a:prstGeom prst="rect">
            <a:avLst/>
          </a:prstGeom>
          <a:noFill/>
          <a:ln/>
        </p:spPr>
        <p:txBody>
          <a:bodyPr wrap="square" lIns="0" tIns="0" rIns="0" bIns="0" rtlCol="0" anchor="t"/>
          <a:lstStyle/>
          <a:p>
            <a:pPr indent="0" marL="0">
              <a:spcAft>
                <a:spcPts val="600"/>
              </a:spcAft>
              <a:buNone/>
            </a:pPr>
            <a:r>
              <a:rPr lang="en-US" sz="1500" dirty="0">
                <a:solidFill>
                  <a:srgbClr val="0E6E64"/>
                </a:solidFill>
              </a:rPr>
              <a:t>+  Nhập gói từ danh sách có sẵn hoặc tự tạo</a:t>
            </a:r>
            <a:endParaRPr lang="en-US" sz="1500" dirty="0"/>
          </a:p>
          <a:p>
            <a:pPr indent="0" marL="0">
              <a:spcAft>
                <a:spcPts val="600"/>
              </a:spcAft>
              <a:buNone/>
            </a:pPr>
            <a:r>
              <a:rPr lang="en-US" sz="1500" dirty="0">
                <a:solidFill>
                  <a:srgbClr val="0E6E64"/>
                </a:solidFill>
              </a:rPr>
              <a:t>+  Xem chi phí, nhận nhắc hạn</a:t>
            </a:r>
            <a:endParaRPr lang="en-US" sz="1500" dirty="0"/>
          </a:p>
          <a:p>
            <a:pPr indent="0" marL="0">
              <a:spcAft>
                <a:spcPts val="600"/>
              </a:spcAft>
              <a:buNone/>
            </a:pPr>
            <a:r>
              <a:rPr lang="en-US" sz="1500" dirty="0">
                <a:solidFill>
                  <a:srgbClr val="A23B22"/>
                </a:solidFill>
              </a:rPr>
              <a:t>−  Thiết kế cho iPhone; mua thêm để mở giới hạn số gói</a:t>
            </a:r>
            <a:endParaRPr lang="en-US" sz="1500" dirty="0"/>
          </a:p>
          <a:p>
            <a:pPr indent="0" marL="0">
              <a:spcAft>
                <a:spcPts val="600"/>
              </a:spcAft>
              <a:buNone/>
            </a:pPr>
            <a:r>
              <a:rPr lang="en-US" sz="1500" dirty="0">
                <a:solidFill>
                  <a:srgbClr val="A23B22"/>
                </a:solidFill>
              </a:rPr>
              <a:t>−  Chưa thấy bản Android chính thức</a:t>
            </a:r>
            <a:endParaRPr lang="en-US" sz="1500" dirty="0"/>
          </a:p>
        </p:txBody>
      </p:sp>
      <p:sp>
        <p:nvSpPr>
          <p:cNvPr id="15" name="Thẻ Rocket Money"/>
          <p:cNvSpPr/>
          <p:nvPr/>
        </p:nvSpPr>
        <p:spPr>
          <a:xfrm>
            <a:off x="8046720" y="1325880"/>
            <a:ext cx="3520440" cy="3611880"/>
          </a:xfrm>
          <a:prstGeom prst="roundRect">
            <a:avLst>
              <a:gd name="adj" fmla="val 3117"/>
            </a:avLst>
          </a:prstGeom>
          <a:solidFill>
            <a:schemeClr val="bg2"/>
          </a:solidFill>
          <a:ln/>
          <a:effectLst>
            <a:outerShdw sx="100000" sy="100000" kx="0" ky="0" algn="bl" rotWithShape="0" blurRad="101600" dist="25400" dir="5400000">
              <a:srgbClr val="2B1B5A">
                <a:alpha val="12000"/>
              </a:srgbClr>
            </a:outerShdw>
          </a:effectLst>
        </p:spPr>
      </p:sp>
      <p:sp>
        <p:nvSpPr>
          <p:cNvPr id="16" name="Rocket Money logo"/>
          <p:cNvSpPr/>
          <p:nvPr/>
        </p:nvSpPr>
        <p:spPr>
          <a:xfrm>
            <a:off x="8321040" y="1554480"/>
            <a:ext cx="548640" cy="548640"/>
          </a:xfrm>
          <a:prstGeom prst="ellipse">
            <a:avLst/>
          </a:prstGeom>
          <a:solidFill>
            <a:schemeClr val="accent3"/>
          </a:solidFill>
          <a:ln/>
        </p:spPr>
      </p:sp>
      <p:sp>
        <p:nvSpPr>
          <p:cNvPr id="17" name="Text 15"/>
          <p:cNvSpPr txBox="1"/>
          <p:nvPr/>
        </p:nvSpPr>
        <p:spPr>
          <a:xfrm>
            <a:off x="8321040" y="15544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R</a:t>
            </a:r>
            <a:endParaRPr lang="en-US" sz="2000" dirty="0"/>
          </a:p>
        </p:txBody>
      </p:sp>
      <p:sp>
        <p:nvSpPr>
          <p:cNvPr id="18" name="Text 16"/>
          <p:cNvSpPr txBox="1"/>
          <p:nvPr/>
        </p:nvSpPr>
        <p:spPr>
          <a:xfrm>
            <a:off x="9006840" y="1536192"/>
            <a:ext cx="2377440" cy="347472"/>
          </a:xfrm>
          <a:prstGeom prst="rect">
            <a:avLst/>
          </a:prstGeom>
          <a:noFill/>
          <a:ln/>
        </p:spPr>
        <p:txBody>
          <a:bodyPr wrap="square" lIns="0" tIns="0" rIns="0" bIns="0" rtlCol="0" anchor="t"/>
          <a:lstStyle/>
          <a:p>
            <a:pPr indent="0" marL="0">
              <a:buNone/>
            </a:pPr>
            <a:r>
              <a:rPr lang="en-US" sz="2000" b="1" dirty="0">
                <a:solidFill>
                  <a:schemeClr val="tx2"/>
                </a:solidFill>
              </a:rPr>
              <a:t>Rocket Money</a:t>
            </a:r>
            <a:endParaRPr lang="en-US" sz="2000" dirty="0"/>
          </a:p>
        </p:txBody>
      </p:sp>
      <p:sp>
        <p:nvSpPr>
          <p:cNvPr id="19" name="Text 17"/>
          <p:cNvSpPr txBox="1"/>
          <p:nvPr/>
        </p:nvSpPr>
        <p:spPr>
          <a:xfrm>
            <a:off x="9006840" y="1883664"/>
            <a:ext cx="2468880" cy="274320"/>
          </a:xfrm>
          <a:prstGeom prst="rect">
            <a:avLst/>
          </a:prstGeom>
          <a:noFill/>
          <a:ln/>
        </p:spPr>
        <p:txBody>
          <a:bodyPr wrap="square" lIns="0" tIns="0" rIns="0" bIns="0" rtlCol="0" anchor="t"/>
          <a:lstStyle/>
          <a:p>
            <a:pPr indent="0" marL="0">
              <a:buNone/>
            </a:pPr>
            <a:r>
              <a:rPr lang="en-US" sz="1200" dirty="0">
                <a:solidFill>
                  <a:srgbClr val="6E6888"/>
                </a:solidFill>
              </a:rPr>
              <a:t>Ứng dụng tài chính cá nhân</a:t>
            </a:r>
            <a:endParaRPr lang="en-US" sz="1200" dirty="0"/>
          </a:p>
        </p:txBody>
      </p:sp>
      <p:sp>
        <p:nvSpPr>
          <p:cNvPr id="20" name="Text 18"/>
          <p:cNvSpPr txBox="1"/>
          <p:nvPr/>
        </p:nvSpPr>
        <p:spPr>
          <a:xfrm>
            <a:off x="8321040" y="2377440"/>
            <a:ext cx="3017520" cy="2468880"/>
          </a:xfrm>
          <a:prstGeom prst="rect">
            <a:avLst/>
          </a:prstGeom>
          <a:noFill/>
          <a:ln/>
        </p:spPr>
        <p:txBody>
          <a:bodyPr wrap="square" lIns="0" tIns="0" rIns="0" bIns="0" rtlCol="0" anchor="t"/>
          <a:lstStyle/>
          <a:p>
            <a:pPr indent="0" marL="0">
              <a:spcAft>
                <a:spcPts val="600"/>
              </a:spcAft>
              <a:buNone/>
            </a:pPr>
            <a:r>
              <a:rPr lang="en-US" sz="1500" dirty="0">
                <a:solidFill>
                  <a:srgbClr val="0E6E64"/>
                </a:solidFill>
              </a:rPr>
              <a:t>+  Tự phát hiện đăng ký khi liên kết tài khoản</a:t>
            </a:r>
            <a:endParaRPr lang="en-US" sz="1500" dirty="0"/>
          </a:p>
          <a:p>
            <a:pPr indent="0" marL="0">
              <a:spcAft>
                <a:spcPts val="600"/>
              </a:spcAft>
              <a:buNone/>
            </a:pPr>
            <a:r>
              <a:rPr lang="en-US" sz="1500" dirty="0">
                <a:solidFill>
                  <a:srgbClr val="0E6E64"/>
                </a:solidFill>
              </a:rPr>
              <a:t>+  Có dịch vụ hỗ trợ hủy gói</a:t>
            </a:r>
            <a:endParaRPr lang="en-US" sz="1500" dirty="0"/>
          </a:p>
          <a:p>
            <a:pPr indent="0" marL="0">
              <a:spcAft>
                <a:spcPts val="600"/>
              </a:spcAft>
              <a:buNone/>
            </a:pPr>
            <a:r>
              <a:rPr lang="en-US" sz="1500" dirty="0">
                <a:solidFill>
                  <a:srgbClr val="A23B22"/>
                </a:solidFill>
              </a:rPr>
              <a:t>−  Chỉ phục vụ người dùng và ngân hàng tại Mỹ</a:t>
            </a:r>
            <a:endParaRPr lang="en-US" sz="1500" dirty="0"/>
          </a:p>
          <a:p>
            <a:pPr indent="0" marL="0">
              <a:spcAft>
                <a:spcPts val="600"/>
              </a:spcAft>
              <a:buNone/>
            </a:pPr>
            <a:r>
              <a:rPr lang="en-US" sz="1500" dirty="0">
                <a:solidFill>
                  <a:srgbClr val="A23B22"/>
                </a:solidFill>
              </a:rPr>
              <a:t>−  Dịch vụ hủy hộ thuộc gói Premium</a:t>
            </a:r>
            <a:endParaRPr lang="en-US" sz="1500" dirty="0"/>
          </a:p>
        </p:txBody>
      </p:sp>
      <p:sp>
        <p:nvSpPr>
          <p:cNvPr id="21" name="Điểm khác biệt"/>
          <p:cNvSpPr/>
          <p:nvPr/>
        </p:nvSpPr>
        <p:spPr>
          <a:xfrm>
            <a:off x="548640" y="5212080"/>
            <a:ext cx="11018520" cy="914400"/>
          </a:xfrm>
          <a:prstGeom prst="roundRect">
            <a:avLst>
              <a:gd name="adj" fmla="val 12000"/>
            </a:avLst>
          </a:prstGeom>
          <a:solidFill>
            <a:schemeClr val="tx2"/>
          </a:solidFill>
          <a:ln/>
          <a:effectLst>
            <a:outerShdw sx="100000" sy="100000" kx="0" ky="0" algn="bl" rotWithShape="0" blurRad="101600" dist="25400" dir="5400000">
              <a:srgbClr val="2B1B5A">
                <a:alpha val="12000"/>
              </a:srgbClr>
            </a:outerShdw>
          </a:effectLst>
        </p:spPr>
      </p:sp>
      <p:sp>
        <p:nvSpPr>
          <p:cNvPr id="22" name="Điểm khác biệt circle"/>
          <p:cNvSpPr/>
          <p:nvPr/>
        </p:nvSpPr>
        <p:spPr>
          <a:xfrm>
            <a:off x="777240" y="5394960"/>
            <a:ext cx="548640" cy="548640"/>
          </a:xfrm>
          <a:prstGeom prst="ellipse">
            <a:avLst/>
          </a:prstGeom>
          <a:solidFill>
            <a:schemeClr val="accent4"/>
          </a:solidFill>
          <a:ln/>
        </p:spPr>
      </p:sp>
      <p:pic>
        <p:nvPicPr>
          <p:cNvPr id="23" name="Điểm khác biệt icon" descr="Điểm khác biệt">    </p:cNvPr>
          <p:cNvPicPr>
            <a:picLocks noChangeAspect="1"/>
          </p:cNvPicPr>
          <p:nvPr/>
        </p:nvPicPr>
        <p:blipFill>
          <a:blip r:embed="rId1"/>
          <a:stretch>
            <a:fillRect/>
          </a:stretch>
        </p:blipFill>
        <p:spPr>
          <a:xfrm>
            <a:off x="919886" y="5537606"/>
            <a:ext cx="263347" cy="263347"/>
          </a:xfrm>
          <a:prstGeom prst="rect">
            <a:avLst/>
          </a:prstGeom>
        </p:spPr>
      </p:pic>
      <p:sp>
        <p:nvSpPr>
          <p:cNvPr id="24" name="Text 21"/>
          <p:cNvSpPr txBox="1"/>
          <p:nvPr/>
        </p:nvSpPr>
        <p:spPr>
          <a:xfrm>
            <a:off x="1508760" y="5212080"/>
            <a:ext cx="9875520" cy="914400"/>
          </a:xfrm>
          <a:prstGeom prst="rect">
            <a:avLst/>
          </a:prstGeom>
          <a:noFill/>
          <a:ln/>
        </p:spPr>
        <p:txBody>
          <a:bodyPr wrap="square" lIns="0" tIns="0" rIns="0" bIns="0" rtlCol="0" anchor="ctr"/>
          <a:lstStyle/>
          <a:p>
            <a:pPr indent="0" marL="0">
              <a:buNone/>
            </a:pPr>
            <a:r>
              <a:rPr lang="en-US" sz="1600" b="1" dirty="0">
                <a:solidFill>
                  <a:srgbClr val="FFD166"/>
                </a:solidFill>
              </a:rPr>
              <a:t>SubTrack: </a:t>
            </a:r>
            <a:pPr indent="0" marL="0">
              <a:buNone/>
            </a:pPr>
            <a:r>
              <a:rPr lang="en-US" sz="1600" dirty="0">
                <a:solidFill>
                  <a:schemeClr val="bg1"/>
                </a:solidFill>
              </a:rPr>
              <a:t>tập trung vào Android, giao diện tiếng Việt, VND mặc định; nhập dữ liệu thủ công, dùng chức năng cốt lõi ngoại tuyến, không cần liên kết ngân hàng.</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E8AA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indent="0" marL="0">
              <a:buNone/>
            </a:pPr>
            <a:r>
              <a:rPr lang="en-US" sz="3600" b="1" dirty="0">
                <a:solidFill>
                  <a:schemeClr val="tx2"/>
                </a:solidFill>
              </a:rPr>
              <a:t>Chức năng chính (MVP)</a:t>
            </a:r>
            <a:endParaRPr lang="en-US" sz="3600" dirty="0"/>
          </a:p>
        </p:txBody>
      </p:sp>
      <p:sp>
        <p:nvSpPr>
          <p:cNvPr id="3" name="Thẻ Dashboard tổng quan"/>
          <p:cNvSpPr/>
          <p:nvPr/>
        </p:nvSpPr>
        <p:spPr>
          <a:xfrm>
            <a:off x="548640" y="1371600"/>
            <a:ext cx="3520440" cy="2240280"/>
          </a:xfrm>
          <a:prstGeom prst="roundRect">
            <a:avLst>
              <a:gd name="adj" fmla="val 4898"/>
            </a:avLst>
          </a:prstGeom>
          <a:solidFill>
            <a:schemeClr val="bg2"/>
          </a:solidFill>
          <a:ln/>
          <a:effectLst>
            <a:outerShdw sx="100000" sy="100000" kx="0" ky="0" algn="bl" rotWithShape="0" blurRad="101600" dist="25400" dir="5400000">
              <a:srgbClr val="2B1B5A">
                <a:alpha val="12000"/>
              </a:srgbClr>
            </a:outerShdw>
          </a:effectLst>
        </p:spPr>
      </p:sp>
      <p:sp>
        <p:nvSpPr>
          <p:cNvPr id="4" name="Dashboard tổng quan circle"/>
          <p:cNvSpPr/>
          <p:nvPr/>
        </p:nvSpPr>
        <p:spPr>
          <a:xfrm>
            <a:off x="822960" y="1645920"/>
            <a:ext cx="685800" cy="685800"/>
          </a:xfrm>
          <a:prstGeom prst="ellipse">
            <a:avLst/>
          </a:prstGeom>
          <a:solidFill>
            <a:schemeClr val="accent1"/>
          </a:solidFill>
          <a:ln/>
        </p:spPr>
      </p:sp>
      <p:pic>
        <p:nvPicPr>
          <p:cNvPr id="5" name="Dashboard tổng quan icon" descr="Dashboard tổng quan">    </p:cNvPr>
          <p:cNvPicPr>
            <a:picLocks noChangeAspect="1"/>
          </p:cNvPicPr>
          <p:nvPr/>
        </p:nvPicPr>
        <p:blipFill>
          <a:blip r:embed="rId1"/>
          <a:stretch>
            <a:fillRect/>
          </a:stretch>
        </p:blipFill>
        <p:spPr>
          <a:xfrm>
            <a:off x="1001268" y="1824228"/>
            <a:ext cx="329184" cy="329184"/>
          </a:xfrm>
          <a:prstGeom prst="rect">
            <a:avLst/>
          </a:prstGeom>
        </p:spPr>
      </p:pic>
      <p:sp>
        <p:nvSpPr>
          <p:cNvPr id="6" name="Text 3"/>
          <p:cNvSpPr txBox="1"/>
          <p:nvPr/>
        </p:nvSpPr>
        <p:spPr>
          <a:xfrm>
            <a:off x="1645920" y="1645920"/>
            <a:ext cx="2286000" cy="685800"/>
          </a:xfrm>
          <a:prstGeom prst="rect">
            <a:avLst/>
          </a:prstGeom>
          <a:noFill/>
          <a:ln/>
        </p:spPr>
        <p:txBody>
          <a:bodyPr wrap="square" lIns="0" tIns="0" rIns="0" bIns="0" rtlCol="0" anchor="ctr"/>
          <a:lstStyle/>
          <a:p>
            <a:pPr indent="0" marL="0">
              <a:buNone/>
            </a:pPr>
            <a:r>
              <a:rPr lang="en-US" sz="1900" b="1" dirty="0">
                <a:solidFill>
                  <a:schemeClr val="tx2"/>
                </a:solidFill>
              </a:rPr>
              <a:t>Dashboard tổng quan</a:t>
            </a:r>
            <a:endParaRPr lang="en-US" sz="1900" dirty="0"/>
          </a:p>
        </p:txBody>
      </p:sp>
      <p:sp>
        <p:nvSpPr>
          <p:cNvPr id="7" name="Text 4"/>
          <p:cNvSpPr txBox="1"/>
          <p:nvPr/>
        </p:nvSpPr>
        <p:spPr>
          <a:xfrm>
            <a:off x="822960" y="2514600"/>
            <a:ext cx="3017520" cy="1005840"/>
          </a:xfrm>
          <a:prstGeom prst="rect">
            <a:avLst/>
          </a:prstGeom>
          <a:noFill/>
          <a:ln/>
        </p:spPr>
        <p:txBody>
          <a:bodyPr wrap="square" lIns="0" tIns="0" rIns="0" bIns="0" rtlCol="0" anchor="t"/>
          <a:lstStyle/>
          <a:p>
            <a:pPr indent="0" marL="0">
              <a:buNone/>
            </a:pPr>
            <a:r>
              <a:rPr lang="en-US" sz="1500" dirty="0">
                <a:solidFill>
                  <a:srgbClr val="4A4560"/>
                </a:solidFill>
              </a:rPr>
              <a:t>Chi phí tháng ước tính, số gói đang hoạt động, số gói đến hạn ≤ 7 ngày.</a:t>
            </a:r>
            <a:endParaRPr lang="en-US" sz="1500" dirty="0"/>
          </a:p>
        </p:txBody>
      </p:sp>
      <p:sp>
        <p:nvSpPr>
          <p:cNvPr id="8" name="Thẻ Quản lý gói (CRUD)"/>
          <p:cNvSpPr/>
          <p:nvPr/>
        </p:nvSpPr>
        <p:spPr>
          <a:xfrm>
            <a:off x="4297680" y="1371600"/>
            <a:ext cx="3520440" cy="2240280"/>
          </a:xfrm>
          <a:prstGeom prst="roundRect">
            <a:avLst>
              <a:gd name="adj" fmla="val 4898"/>
            </a:avLst>
          </a:prstGeom>
          <a:solidFill>
            <a:schemeClr val="bg2"/>
          </a:solidFill>
          <a:ln/>
          <a:effectLst>
            <a:outerShdw sx="100000" sy="100000" kx="0" ky="0" algn="bl" rotWithShape="0" blurRad="101600" dist="25400" dir="5400000">
              <a:srgbClr val="2B1B5A">
                <a:alpha val="12000"/>
              </a:srgbClr>
            </a:outerShdw>
          </a:effectLst>
        </p:spPr>
      </p:sp>
      <p:sp>
        <p:nvSpPr>
          <p:cNvPr id="9" name="Quản lý gói (CRUD) circle"/>
          <p:cNvSpPr/>
          <p:nvPr/>
        </p:nvSpPr>
        <p:spPr>
          <a:xfrm>
            <a:off x="4572000" y="1645920"/>
            <a:ext cx="685800" cy="685800"/>
          </a:xfrm>
          <a:prstGeom prst="ellipse">
            <a:avLst/>
          </a:prstGeom>
          <a:solidFill>
            <a:schemeClr val="accent2"/>
          </a:solidFill>
          <a:ln/>
        </p:spPr>
      </p:sp>
      <p:pic>
        <p:nvPicPr>
          <p:cNvPr id="10" name="Quản lý gói (CRUD) icon" descr="Quản lý gói (CRUD)">    </p:cNvPr>
          <p:cNvPicPr>
            <a:picLocks noChangeAspect="1"/>
          </p:cNvPicPr>
          <p:nvPr/>
        </p:nvPicPr>
        <p:blipFill>
          <a:blip r:embed="rId2"/>
          <a:stretch>
            <a:fillRect/>
          </a:stretch>
        </p:blipFill>
        <p:spPr>
          <a:xfrm>
            <a:off x="4750308" y="1824228"/>
            <a:ext cx="329184" cy="329184"/>
          </a:xfrm>
          <a:prstGeom prst="rect">
            <a:avLst/>
          </a:prstGeom>
        </p:spPr>
      </p:pic>
      <p:sp>
        <p:nvSpPr>
          <p:cNvPr id="11" name="Text 7"/>
          <p:cNvSpPr txBox="1"/>
          <p:nvPr/>
        </p:nvSpPr>
        <p:spPr>
          <a:xfrm>
            <a:off x="5394960" y="1645920"/>
            <a:ext cx="2286000" cy="685800"/>
          </a:xfrm>
          <a:prstGeom prst="rect">
            <a:avLst/>
          </a:prstGeom>
          <a:noFill/>
          <a:ln/>
        </p:spPr>
        <p:txBody>
          <a:bodyPr wrap="square" lIns="0" tIns="0" rIns="0" bIns="0" rtlCol="0" anchor="ctr"/>
          <a:lstStyle/>
          <a:p>
            <a:pPr indent="0" marL="0">
              <a:buNone/>
            </a:pPr>
            <a:r>
              <a:rPr lang="en-US" sz="1900" b="1" dirty="0">
                <a:solidFill>
                  <a:schemeClr val="tx2"/>
                </a:solidFill>
              </a:rPr>
              <a:t>Quản lý gói (CRUD)</a:t>
            </a:r>
            <a:endParaRPr lang="en-US" sz="1900" dirty="0"/>
          </a:p>
        </p:txBody>
      </p:sp>
      <p:sp>
        <p:nvSpPr>
          <p:cNvPr id="12" name="Text 8"/>
          <p:cNvSpPr txBox="1"/>
          <p:nvPr/>
        </p:nvSpPr>
        <p:spPr>
          <a:xfrm>
            <a:off x="4572000" y="2514600"/>
            <a:ext cx="3017520" cy="1005840"/>
          </a:xfrm>
          <a:prstGeom prst="rect">
            <a:avLst/>
          </a:prstGeom>
          <a:noFill/>
          <a:ln/>
        </p:spPr>
        <p:txBody>
          <a:bodyPr wrap="square" lIns="0" tIns="0" rIns="0" bIns="0" rtlCol="0" anchor="t"/>
          <a:lstStyle/>
          <a:p>
            <a:pPr indent="0" marL="0">
              <a:buNone/>
            </a:pPr>
            <a:r>
              <a:rPr lang="en-US" sz="1500" dirty="0">
                <a:solidFill>
                  <a:srgbClr val="4A4560"/>
                </a:solidFill>
              </a:rPr>
              <a:t>Thêm, xem, sửa, xóa gói; kiểm tra dữ liệu hợp lệ.</a:t>
            </a:r>
            <a:endParaRPr lang="en-US" sz="1500" dirty="0"/>
          </a:p>
        </p:txBody>
      </p:sp>
      <p:sp>
        <p:nvSpPr>
          <p:cNvPr id="13" name="Thẻ Tìm kiếm, lọc, sắp xếp"/>
          <p:cNvSpPr/>
          <p:nvPr/>
        </p:nvSpPr>
        <p:spPr>
          <a:xfrm>
            <a:off x="8046720" y="1371600"/>
            <a:ext cx="3520440" cy="2240280"/>
          </a:xfrm>
          <a:prstGeom prst="roundRect">
            <a:avLst>
              <a:gd name="adj" fmla="val 4898"/>
            </a:avLst>
          </a:prstGeom>
          <a:solidFill>
            <a:schemeClr val="bg2"/>
          </a:solidFill>
          <a:ln/>
          <a:effectLst>
            <a:outerShdw sx="100000" sy="100000" kx="0" ky="0" algn="bl" rotWithShape="0" blurRad="101600" dist="25400" dir="5400000">
              <a:srgbClr val="2B1B5A">
                <a:alpha val="12000"/>
              </a:srgbClr>
            </a:outerShdw>
          </a:effectLst>
        </p:spPr>
      </p:sp>
      <p:sp>
        <p:nvSpPr>
          <p:cNvPr id="14" name="Tìm kiếm, lọc, sắp xếp circle"/>
          <p:cNvSpPr/>
          <p:nvPr/>
        </p:nvSpPr>
        <p:spPr>
          <a:xfrm>
            <a:off x="8321040" y="1645920"/>
            <a:ext cx="685800" cy="685800"/>
          </a:xfrm>
          <a:prstGeom prst="ellipse">
            <a:avLst/>
          </a:prstGeom>
          <a:solidFill>
            <a:schemeClr val="accent3"/>
          </a:solidFill>
          <a:ln/>
        </p:spPr>
      </p:sp>
      <p:pic>
        <p:nvPicPr>
          <p:cNvPr id="15" name="Tìm kiếm, lọc, sắp xếp icon" descr="Tìm kiếm, lọc, sắp xếp">    </p:cNvPr>
          <p:cNvPicPr>
            <a:picLocks noChangeAspect="1"/>
          </p:cNvPicPr>
          <p:nvPr/>
        </p:nvPicPr>
        <p:blipFill>
          <a:blip r:embed="rId3"/>
          <a:stretch>
            <a:fillRect/>
          </a:stretch>
        </p:blipFill>
        <p:spPr>
          <a:xfrm>
            <a:off x="8499348" y="1824228"/>
            <a:ext cx="329184" cy="329184"/>
          </a:xfrm>
          <a:prstGeom prst="rect">
            <a:avLst/>
          </a:prstGeom>
        </p:spPr>
      </p:pic>
      <p:sp>
        <p:nvSpPr>
          <p:cNvPr id="16" name="Text 11"/>
          <p:cNvSpPr txBox="1"/>
          <p:nvPr/>
        </p:nvSpPr>
        <p:spPr>
          <a:xfrm>
            <a:off x="9144000" y="1645920"/>
            <a:ext cx="2286000" cy="685800"/>
          </a:xfrm>
          <a:prstGeom prst="rect">
            <a:avLst/>
          </a:prstGeom>
          <a:noFill/>
          <a:ln/>
        </p:spPr>
        <p:txBody>
          <a:bodyPr wrap="square" lIns="0" tIns="0" rIns="0" bIns="0" rtlCol="0" anchor="ctr"/>
          <a:lstStyle/>
          <a:p>
            <a:pPr indent="0" marL="0">
              <a:buNone/>
            </a:pPr>
            <a:r>
              <a:rPr lang="en-US" sz="1900" b="1" dirty="0">
                <a:solidFill>
                  <a:schemeClr val="tx2"/>
                </a:solidFill>
              </a:rPr>
              <a:t>Tìm kiếm, lọc, sắp xếp</a:t>
            </a:r>
            <a:endParaRPr lang="en-US" sz="1900" dirty="0"/>
          </a:p>
        </p:txBody>
      </p:sp>
      <p:sp>
        <p:nvSpPr>
          <p:cNvPr id="17" name="Text 12"/>
          <p:cNvSpPr txBox="1"/>
          <p:nvPr/>
        </p:nvSpPr>
        <p:spPr>
          <a:xfrm>
            <a:off x="8321040" y="2514600"/>
            <a:ext cx="3017520" cy="1005840"/>
          </a:xfrm>
          <a:prstGeom prst="rect">
            <a:avLst/>
          </a:prstGeom>
          <a:noFill/>
          <a:ln/>
        </p:spPr>
        <p:txBody>
          <a:bodyPr wrap="square" lIns="0" tIns="0" rIns="0" bIns="0" rtlCol="0" anchor="t"/>
          <a:lstStyle/>
          <a:p>
            <a:pPr indent="0" marL="0">
              <a:buNone/>
            </a:pPr>
            <a:r>
              <a:rPr lang="en-US" sz="1500" dirty="0">
                <a:solidFill>
                  <a:srgbClr val="4A4560"/>
                </a:solidFill>
              </a:rPr>
              <a:t>Tìm theo tên, tag, nền tảng; lọc danh mục, trạng thái; sắp xếp 3 kiểu.</a:t>
            </a:r>
            <a:endParaRPr lang="en-US" sz="1500" dirty="0"/>
          </a:p>
        </p:txBody>
      </p:sp>
      <p:sp>
        <p:nvSpPr>
          <p:cNvPr id="18" name="Thẻ Nhắc hạn thanh toán"/>
          <p:cNvSpPr/>
          <p:nvPr/>
        </p:nvSpPr>
        <p:spPr>
          <a:xfrm>
            <a:off x="548640" y="3840480"/>
            <a:ext cx="3520440" cy="2240280"/>
          </a:xfrm>
          <a:prstGeom prst="roundRect">
            <a:avLst>
              <a:gd name="adj" fmla="val 4898"/>
            </a:avLst>
          </a:prstGeom>
          <a:solidFill>
            <a:schemeClr val="bg2"/>
          </a:solidFill>
          <a:ln/>
          <a:effectLst>
            <a:outerShdw sx="100000" sy="100000" kx="0" ky="0" algn="bl" rotWithShape="0" blurRad="101600" dist="25400" dir="5400000">
              <a:srgbClr val="2B1B5A">
                <a:alpha val="12000"/>
              </a:srgbClr>
            </a:outerShdw>
          </a:effectLst>
        </p:spPr>
      </p:sp>
      <p:sp>
        <p:nvSpPr>
          <p:cNvPr id="19" name="Nhắc hạn thanh toán circle"/>
          <p:cNvSpPr/>
          <p:nvPr/>
        </p:nvSpPr>
        <p:spPr>
          <a:xfrm>
            <a:off x="822960" y="4114800"/>
            <a:ext cx="685800" cy="685800"/>
          </a:xfrm>
          <a:prstGeom prst="ellipse">
            <a:avLst/>
          </a:prstGeom>
          <a:solidFill>
            <a:schemeClr val="accent4"/>
          </a:solidFill>
          <a:ln/>
        </p:spPr>
      </p:sp>
      <p:pic>
        <p:nvPicPr>
          <p:cNvPr id="20" name="Nhắc hạn thanh toán icon" descr="Nhắc hạn thanh toán">    </p:cNvPr>
          <p:cNvPicPr>
            <a:picLocks noChangeAspect="1"/>
          </p:cNvPicPr>
          <p:nvPr/>
        </p:nvPicPr>
        <p:blipFill>
          <a:blip r:embed="rId4"/>
          <a:stretch>
            <a:fillRect/>
          </a:stretch>
        </p:blipFill>
        <p:spPr>
          <a:xfrm>
            <a:off x="1001268" y="4293108"/>
            <a:ext cx="329184" cy="329184"/>
          </a:xfrm>
          <a:prstGeom prst="rect">
            <a:avLst/>
          </a:prstGeom>
        </p:spPr>
      </p:pic>
      <p:sp>
        <p:nvSpPr>
          <p:cNvPr id="21" name="Text 15"/>
          <p:cNvSpPr txBox="1"/>
          <p:nvPr/>
        </p:nvSpPr>
        <p:spPr>
          <a:xfrm>
            <a:off x="1645920" y="4114800"/>
            <a:ext cx="2286000" cy="685800"/>
          </a:xfrm>
          <a:prstGeom prst="rect">
            <a:avLst/>
          </a:prstGeom>
          <a:noFill/>
          <a:ln/>
        </p:spPr>
        <p:txBody>
          <a:bodyPr wrap="square" lIns="0" tIns="0" rIns="0" bIns="0" rtlCol="0" anchor="ctr"/>
          <a:lstStyle/>
          <a:p>
            <a:pPr indent="0" marL="0">
              <a:buNone/>
            </a:pPr>
            <a:r>
              <a:rPr lang="en-US" sz="1900" b="1" dirty="0">
                <a:solidFill>
                  <a:schemeClr val="tx2"/>
                </a:solidFill>
              </a:rPr>
              <a:t>Nhắc hạn thanh toán</a:t>
            </a:r>
            <a:endParaRPr lang="en-US" sz="1900" dirty="0"/>
          </a:p>
        </p:txBody>
      </p:sp>
      <p:sp>
        <p:nvSpPr>
          <p:cNvPr id="22" name="Text 16"/>
          <p:cNvSpPr txBox="1"/>
          <p:nvPr/>
        </p:nvSpPr>
        <p:spPr>
          <a:xfrm>
            <a:off x="822960" y="4983480"/>
            <a:ext cx="3017520" cy="1005840"/>
          </a:xfrm>
          <a:prstGeom prst="rect">
            <a:avLst/>
          </a:prstGeom>
          <a:noFill/>
          <a:ln/>
        </p:spPr>
        <p:txBody>
          <a:bodyPr wrap="square" lIns="0" tIns="0" rIns="0" bIns="0" rtlCol="0" anchor="t"/>
          <a:lstStyle/>
          <a:p>
            <a:pPr indent="0" marL="0">
              <a:buNone/>
            </a:pPr>
            <a:r>
              <a:rPr lang="en-US" sz="1500" dirty="0">
                <a:solidFill>
                  <a:srgbClr val="4A4560"/>
                </a:solidFill>
              </a:rPr>
              <a:t>Vạch màu báo sắp gia hạn; thông báo cục bộ trước hạn.</a:t>
            </a:r>
            <a:endParaRPr lang="en-US" sz="1500" dirty="0"/>
          </a:p>
        </p:txBody>
      </p:sp>
      <p:sp>
        <p:nvSpPr>
          <p:cNvPr id="23" name="Thẻ Ước tính chi phí theo chu kỳ"/>
          <p:cNvSpPr/>
          <p:nvPr/>
        </p:nvSpPr>
        <p:spPr>
          <a:xfrm>
            <a:off x="4297680" y="3840480"/>
            <a:ext cx="3520440" cy="2240280"/>
          </a:xfrm>
          <a:prstGeom prst="roundRect">
            <a:avLst>
              <a:gd name="adj" fmla="val 4898"/>
            </a:avLst>
          </a:prstGeom>
          <a:solidFill>
            <a:schemeClr val="bg2"/>
          </a:solidFill>
          <a:ln/>
          <a:effectLst>
            <a:outerShdw sx="100000" sy="100000" kx="0" ky="0" algn="bl" rotWithShape="0" blurRad="101600" dist="25400" dir="5400000">
              <a:srgbClr val="2B1B5A">
                <a:alpha val="12000"/>
              </a:srgbClr>
            </a:outerShdw>
          </a:effectLst>
        </p:spPr>
      </p:sp>
      <p:sp>
        <p:nvSpPr>
          <p:cNvPr id="24" name="Ước tính chi phí theo chu kỳ circle"/>
          <p:cNvSpPr/>
          <p:nvPr/>
        </p:nvSpPr>
        <p:spPr>
          <a:xfrm>
            <a:off x="4572000" y="4114800"/>
            <a:ext cx="685800" cy="685800"/>
          </a:xfrm>
          <a:prstGeom prst="ellipse">
            <a:avLst/>
          </a:prstGeom>
          <a:solidFill>
            <a:schemeClr val="accent5"/>
          </a:solidFill>
          <a:ln/>
        </p:spPr>
      </p:sp>
      <p:pic>
        <p:nvPicPr>
          <p:cNvPr id="25" name="Ước tính chi phí theo chu kỳ icon" descr="Ước tính chi phí theo chu kỳ">    </p:cNvPr>
          <p:cNvPicPr>
            <a:picLocks noChangeAspect="1"/>
          </p:cNvPicPr>
          <p:nvPr/>
        </p:nvPicPr>
        <p:blipFill>
          <a:blip r:embed="rId5"/>
          <a:stretch>
            <a:fillRect/>
          </a:stretch>
        </p:blipFill>
        <p:spPr>
          <a:xfrm>
            <a:off x="4750308" y="4293108"/>
            <a:ext cx="329184" cy="329184"/>
          </a:xfrm>
          <a:prstGeom prst="rect">
            <a:avLst/>
          </a:prstGeom>
        </p:spPr>
      </p:pic>
      <p:sp>
        <p:nvSpPr>
          <p:cNvPr id="26" name="Text 19"/>
          <p:cNvSpPr txBox="1"/>
          <p:nvPr/>
        </p:nvSpPr>
        <p:spPr>
          <a:xfrm>
            <a:off x="5394960" y="4114800"/>
            <a:ext cx="2286000" cy="685800"/>
          </a:xfrm>
          <a:prstGeom prst="rect">
            <a:avLst/>
          </a:prstGeom>
          <a:noFill/>
          <a:ln/>
        </p:spPr>
        <p:txBody>
          <a:bodyPr wrap="square" lIns="0" tIns="0" rIns="0" bIns="0" rtlCol="0" anchor="ctr"/>
          <a:lstStyle/>
          <a:p>
            <a:pPr indent="0" marL="0">
              <a:buNone/>
            </a:pPr>
            <a:r>
              <a:rPr lang="en-US" sz="1900" b="1" dirty="0">
                <a:solidFill>
                  <a:schemeClr val="tx2"/>
                </a:solidFill>
              </a:rPr>
              <a:t>Ước tính chi phí theo chu kỳ</a:t>
            </a:r>
            <a:endParaRPr lang="en-US" sz="1900" dirty="0"/>
          </a:p>
        </p:txBody>
      </p:sp>
      <p:sp>
        <p:nvSpPr>
          <p:cNvPr id="27" name="Text 20"/>
          <p:cNvSpPr txBox="1"/>
          <p:nvPr/>
        </p:nvSpPr>
        <p:spPr>
          <a:xfrm>
            <a:off x="4572000" y="4983480"/>
            <a:ext cx="3017520" cy="1005840"/>
          </a:xfrm>
          <a:prstGeom prst="rect">
            <a:avLst/>
          </a:prstGeom>
          <a:noFill/>
          <a:ln/>
        </p:spPr>
        <p:txBody>
          <a:bodyPr wrap="square" lIns="0" tIns="0" rIns="0" bIns="0" rtlCol="0" anchor="t"/>
          <a:lstStyle/>
          <a:p>
            <a:pPr indent="0" marL="0">
              <a:buNone/>
            </a:pPr>
            <a:r>
              <a:rPr lang="en-US" sz="1500" dirty="0">
                <a:solidFill>
                  <a:srgbClr val="4A4560"/>
                </a:solidFill>
              </a:rPr>
              <a:t>Quy đổi về tuần/tháng/quý/năm, theo gói, danh mục; tách VND, USD, EUR.</a:t>
            </a:r>
            <a:endParaRPr lang="en-US" sz="1500" dirty="0"/>
          </a:p>
        </p:txBody>
      </p:sp>
      <p:sp>
        <p:nvSpPr>
          <p:cNvPr id="28" name="Thẻ Lưu trữ bền vững"/>
          <p:cNvSpPr/>
          <p:nvPr/>
        </p:nvSpPr>
        <p:spPr>
          <a:xfrm>
            <a:off x="8046720" y="3840480"/>
            <a:ext cx="3520440" cy="2240280"/>
          </a:xfrm>
          <a:prstGeom prst="roundRect">
            <a:avLst>
              <a:gd name="adj" fmla="val 4898"/>
            </a:avLst>
          </a:prstGeom>
          <a:solidFill>
            <a:schemeClr val="bg2"/>
          </a:solidFill>
          <a:ln/>
          <a:effectLst>
            <a:outerShdw sx="100000" sy="100000" kx="0" ky="0" algn="bl" rotWithShape="0" blurRad="101600" dist="25400" dir="5400000">
              <a:srgbClr val="2B1B5A">
                <a:alpha val="12000"/>
              </a:srgbClr>
            </a:outerShdw>
          </a:effectLst>
        </p:spPr>
      </p:sp>
      <p:sp>
        <p:nvSpPr>
          <p:cNvPr id="29" name="Lưu trữ bền vững circle"/>
          <p:cNvSpPr/>
          <p:nvPr/>
        </p:nvSpPr>
        <p:spPr>
          <a:xfrm>
            <a:off x="8321040" y="4114800"/>
            <a:ext cx="685800" cy="685800"/>
          </a:xfrm>
          <a:prstGeom prst="ellipse">
            <a:avLst/>
          </a:prstGeom>
          <a:solidFill>
            <a:schemeClr val="accent6"/>
          </a:solidFill>
          <a:ln/>
        </p:spPr>
      </p:sp>
      <p:pic>
        <p:nvPicPr>
          <p:cNvPr id="30" name="Lưu trữ bền vững icon" descr="Lưu trữ bền vững">    </p:cNvPr>
          <p:cNvPicPr>
            <a:picLocks noChangeAspect="1"/>
          </p:cNvPicPr>
          <p:nvPr/>
        </p:nvPicPr>
        <p:blipFill>
          <a:blip r:embed="rId6"/>
          <a:stretch>
            <a:fillRect/>
          </a:stretch>
        </p:blipFill>
        <p:spPr>
          <a:xfrm>
            <a:off x="8499348" y="4293108"/>
            <a:ext cx="329184" cy="329184"/>
          </a:xfrm>
          <a:prstGeom prst="rect">
            <a:avLst/>
          </a:prstGeom>
        </p:spPr>
      </p:pic>
      <p:sp>
        <p:nvSpPr>
          <p:cNvPr id="31" name="Text 23"/>
          <p:cNvSpPr txBox="1"/>
          <p:nvPr/>
        </p:nvSpPr>
        <p:spPr>
          <a:xfrm>
            <a:off x="9144000" y="4114800"/>
            <a:ext cx="2286000" cy="685800"/>
          </a:xfrm>
          <a:prstGeom prst="rect">
            <a:avLst/>
          </a:prstGeom>
          <a:noFill/>
          <a:ln/>
        </p:spPr>
        <p:txBody>
          <a:bodyPr wrap="square" lIns="0" tIns="0" rIns="0" bIns="0" rtlCol="0" anchor="ctr"/>
          <a:lstStyle/>
          <a:p>
            <a:pPr indent="0" marL="0">
              <a:buNone/>
            </a:pPr>
            <a:r>
              <a:rPr lang="en-US" sz="1900" b="1" dirty="0">
                <a:solidFill>
                  <a:schemeClr val="tx2"/>
                </a:solidFill>
              </a:rPr>
              <a:t>Lưu trữ bền vững</a:t>
            </a:r>
            <a:endParaRPr lang="en-US" sz="1900" dirty="0"/>
          </a:p>
        </p:txBody>
      </p:sp>
      <p:sp>
        <p:nvSpPr>
          <p:cNvPr id="32" name="Text 24"/>
          <p:cNvSpPr txBox="1"/>
          <p:nvPr/>
        </p:nvSpPr>
        <p:spPr>
          <a:xfrm>
            <a:off x="8321040" y="4983480"/>
            <a:ext cx="3017520" cy="1005840"/>
          </a:xfrm>
          <a:prstGeom prst="rect">
            <a:avLst/>
          </a:prstGeom>
          <a:noFill/>
          <a:ln/>
        </p:spPr>
        <p:txBody>
          <a:bodyPr wrap="square" lIns="0" tIns="0" rIns="0" bIns="0" rtlCol="0" anchor="t"/>
          <a:lstStyle/>
          <a:p>
            <a:pPr indent="0" marL="0">
              <a:buNone/>
            </a:pPr>
            <a:r>
              <a:rPr lang="en-US" sz="1500" dirty="0">
                <a:solidFill>
                  <a:srgbClr val="4A4560"/>
                </a:solidFill>
              </a:rPr>
              <a:t>Dữ liệu lưu bằng SQLite trên máy, mở lại app vẫn còn.</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E8AA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indent="0" marL="0">
              <a:buNone/>
            </a:pPr>
            <a:r>
              <a:rPr lang="en-US" sz="3600" b="1" dirty="0">
                <a:solidFill>
                  <a:schemeClr val="tx2"/>
                </a:solidFill>
              </a:rPr>
              <a:t>Chức năng mở rộng và phạm vi</a:t>
            </a:r>
            <a:endParaRPr lang="en-US" sz="3600" dirty="0"/>
          </a:p>
        </p:txBody>
      </p:sp>
      <p:sp>
        <p:nvSpPr>
          <p:cNvPr id="3" name="Text 1"/>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400" b="1" spc="200" kern="0" dirty="0">
                <a:solidFill>
                  <a:schemeClr val="accent1"/>
                </a:solidFill>
              </a:rPr>
              <a:t>ĐÃ CÓ MÃ TRIỂN KHAI</a:t>
            </a:r>
            <a:endParaRPr lang="en-US" sz="1400" dirty="0"/>
          </a:p>
        </p:txBody>
      </p:sp>
      <p:sp>
        <p:nvSpPr>
          <p:cNvPr id="4" name="Trạng thái gói circle"/>
          <p:cNvSpPr/>
          <p:nvPr/>
        </p:nvSpPr>
        <p:spPr>
          <a:xfrm>
            <a:off x="548640" y="1828800"/>
            <a:ext cx="640080" cy="640080"/>
          </a:xfrm>
          <a:prstGeom prst="ellipse">
            <a:avLst/>
          </a:prstGeom>
          <a:solidFill>
            <a:schemeClr val="accent2"/>
          </a:solidFill>
          <a:ln/>
        </p:spPr>
      </p:sp>
      <p:pic>
        <p:nvPicPr>
          <p:cNvPr id="5" name="Trạng thái gói icon" descr="Trạng thái gói">    </p:cNvPr>
          <p:cNvPicPr>
            <a:picLocks noChangeAspect="1"/>
          </p:cNvPicPr>
          <p:nvPr/>
        </p:nvPicPr>
        <p:blipFill>
          <a:blip r:embed="rId1"/>
          <a:stretch>
            <a:fillRect/>
          </a:stretch>
        </p:blipFill>
        <p:spPr>
          <a:xfrm>
            <a:off x="715061" y="1995221"/>
            <a:ext cx="307238" cy="307238"/>
          </a:xfrm>
          <a:prstGeom prst="rect">
            <a:avLst/>
          </a:prstGeom>
        </p:spPr>
      </p:pic>
      <p:sp>
        <p:nvSpPr>
          <p:cNvPr id="6" name="Text 3"/>
          <p:cNvSpPr txBox="1"/>
          <p:nvPr/>
        </p:nvSpPr>
        <p:spPr>
          <a:xfrm>
            <a:off x="1371600" y="1792224"/>
            <a:ext cx="4846320" cy="365760"/>
          </a:xfrm>
          <a:prstGeom prst="rect">
            <a:avLst/>
          </a:prstGeom>
          <a:noFill/>
          <a:ln/>
        </p:spPr>
        <p:txBody>
          <a:bodyPr wrap="square" lIns="0" tIns="0" rIns="0" bIns="0" rtlCol="0" anchor="t"/>
          <a:lstStyle/>
          <a:p>
            <a:pPr indent="0" marL="0">
              <a:buNone/>
            </a:pPr>
            <a:r>
              <a:rPr lang="en-US" sz="1800" b="1" dirty="0">
                <a:solidFill>
                  <a:schemeClr val="tx2"/>
                </a:solidFill>
              </a:rPr>
              <a:t>Trạng thái gói</a:t>
            </a:r>
            <a:endParaRPr lang="en-US" sz="1800" dirty="0"/>
          </a:p>
        </p:txBody>
      </p:sp>
      <p:sp>
        <p:nvSpPr>
          <p:cNvPr id="7" name="Text 4"/>
          <p:cNvSpPr txBox="1"/>
          <p:nvPr/>
        </p:nvSpPr>
        <p:spPr>
          <a:xfrm>
            <a:off x="1371600" y="2157984"/>
            <a:ext cx="4846320" cy="365760"/>
          </a:xfrm>
          <a:prstGeom prst="rect">
            <a:avLst/>
          </a:prstGeom>
          <a:noFill/>
          <a:ln/>
        </p:spPr>
        <p:txBody>
          <a:bodyPr wrap="square" lIns="0" tIns="0" rIns="0" bIns="0" rtlCol="0" anchor="t"/>
          <a:lstStyle/>
          <a:p>
            <a:pPr indent="0" marL="0">
              <a:buNone/>
            </a:pPr>
            <a:r>
              <a:rPr lang="en-US" sz="1500" dirty="0">
                <a:solidFill>
                  <a:srgbClr val="4A4560"/>
                </a:solidFill>
              </a:rPr>
              <a:t>Đang hoạt động, tạm dừng, đã hủy</a:t>
            </a:r>
            <a:endParaRPr lang="en-US" sz="1500" dirty="0"/>
          </a:p>
        </p:txBody>
      </p:sp>
      <p:sp>
        <p:nvSpPr>
          <p:cNvPr id="8" name="Biểu đồ chi phí circle"/>
          <p:cNvSpPr/>
          <p:nvPr/>
        </p:nvSpPr>
        <p:spPr>
          <a:xfrm>
            <a:off x="548640" y="2880360"/>
            <a:ext cx="640080" cy="640080"/>
          </a:xfrm>
          <a:prstGeom prst="ellipse">
            <a:avLst/>
          </a:prstGeom>
          <a:solidFill>
            <a:schemeClr val="accent3"/>
          </a:solidFill>
          <a:ln/>
        </p:spPr>
      </p:sp>
      <p:pic>
        <p:nvPicPr>
          <p:cNvPr id="9" name="Biểu đồ chi phí icon" descr="Biểu đồ chi phí">    </p:cNvPr>
          <p:cNvPicPr>
            <a:picLocks noChangeAspect="1"/>
          </p:cNvPicPr>
          <p:nvPr/>
        </p:nvPicPr>
        <p:blipFill>
          <a:blip r:embed="rId2"/>
          <a:stretch>
            <a:fillRect/>
          </a:stretch>
        </p:blipFill>
        <p:spPr>
          <a:xfrm>
            <a:off x="715061" y="3046781"/>
            <a:ext cx="307238" cy="307238"/>
          </a:xfrm>
          <a:prstGeom prst="rect">
            <a:avLst/>
          </a:prstGeom>
        </p:spPr>
      </p:pic>
      <p:sp>
        <p:nvSpPr>
          <p:cNvPr id="10" name="Text 6"/>
          <p:cNvSpPr txBox="1"/>
          <p:nvPr/>
        </p:nvSpPr>
        <p:spPr>
          <a:xfrm>
            <a:off x="1371600" y="2843784"/>
            <a:ext cx="4846320" cy="365760"/>
          </a:xfrm>
          <a:prstGeom prst="rect">
            <a:avLst/>
          </a:prstGeom>
          <a:noFill/>
          <a:ln/>
        </p:spPr>
        <p:txBody>
          <a:bodyPr wrap="square" lIns="0" tIns="0" rIns="0" bIns="0" rtlCol="0" anchor="t"/>
          <a:lstStyle/>
          <a:p>
            <a:pPr indent="0" marL="0">
              <a:buNone/>
            </a:pPr>
            <a:r>
              <a:rPr lang="en-US" sz="1800" b="1" dirty="0">
                <a:solidFill>
                  <a:schemeClr val="tx2"/>
                </a:solidFill>
              </a:rPr>
              <a:t>Biểu đồ chi phí</a:t>
            </a:r>
            <a:endParaRPr lang="en-US" sz="1800" dirty="0"/>
          </a:p>
        </p:txBody>
      </p:sp>
      <p:sp>
        <p:nvSpPr>
          <p:cNvPr id="11" name="Text 7"/>
          <p:cNvSpPr txBox="1"/>
          <p:nvPr/>
        </p:nvSpPr>
        <p:spPr>
          <a:xfrm>
            <a:off x="1371600" y="3209544"/>
            <a:ext cx="4846320" cy="365760"/>
          </a:xfrm>
          <a:prstGeom prst="rect">
            <a:avLst/>
          </a:prstGeom>
          <a:noFill/>
          <a:ln/>
        </p:spPr>
        <p:txBody>
          <a:bodyPr wrap="square" lIns="0" tIns="0" rIns="0" bIns="0" rtlCol="0" anchor="t"/>
          <a:lstStyle/>
          <a:p>
            <a:pPr indent="0" marL="0">
              <a:buNone/>
            </a:pPr>
            <a:r>
              <a:rPr lang="en-US" sz="1500" dirty="0">
                <a:solidFill>
                  <a:srgbClr val="4A4560"/>
                </a:solidFill>
              </a:rPr>
              <a:t>Biểu đồ tròn theo gói, thanh tỷ trọng theo danh mục</a:t>
            </a:r>
            <a:endParaRPr lang="en-US" sz="1500" dirty="0"/>
          </a:p>
        </p:txBody>
      </p:sp>
      <p:sp>
        <p:nvSpPr>
          <p:cNvPr id="12" name="Tùy chọn thời gian nhắc circle"/>
          <p:cNvSpPr/>
          <p:nvPr/>
        </p:nvSpPr>
        <p:spPr>
          <a:xfrm>
            <a:off x="548640" y="3931920"/>
            <a:ext cx="640080" cy="640080"/>
          </a:xfrm>
          <a:prstGeom prst="ellipse">
            <a:avLst/>
          </a:prstGeom>
          <a:solidFill>
            <a:schemeClr val="accent4"/>
          </a:solidFill>
          <a:ln/>
        </p:spPr>
      </p:sp>
      <p:pic>
        <p:nvPicPr>
          <p:cNvPr id="13" name="Tùy chọn thời gian nhắc icon" descr="Tùy chọn thời gian nhắc">    </p:cNvPr>
          <p:cNvPicPr>
            <a:picLocks noChangeAspect="1"/>
          </p:cNvPicPr>
          <p:nvPr/>
        </p:nvPicPr>
        <p:blipFill>
          <a:blip r:embed="rId3"/>
          <a:stretch>
            <a:fillRect/>
          </a:stretch>
        </p:blipFill>
        <p:spPr>
          <a:xfrm>
            <a:off x="715061" y="4098341"/>
            <a:ext cx="307238" cy="307238"/>
          </a:xfrm>
          <a:prstGeom prst="rect">
            <a:avLst/>
          </a:prstGeom>
        </p:spPr>
      </p:pic>
      <p:sp>
        <p:nvSpPr>
          <p:cNvPr id="14" name="Text 9"/>
          <p:cNvSpPr txBox="1"/>
          <p:nvPr/>
        </p:nvSpPr>
        <p:spPr>
          <a:xfrm>
            <a:off x="1371600" y="3895344"/>
            <a:ext cx="4846320" cy="365760"/>
          </a:xfrm>
          <a:prstGeom prst="rect">
            <a:avLst/>
          </a:prstGeom>
          <a:noFill/>
          <a:ln/>
        </p:spPr>
        <p:txBody>
          <a:bodyPr wrap="square" lIns="0" tIns="0" rIns="0" bIns="0" rtlCol="0" anchor="t"/>
          <a:lstStyle/>
          <a:p>
            <a:pPr indent="0" marL="0">
              <a:buNone/>
            </a:pPr>
            <a:r>
              <a:rPr lang="en-US" sz="1800" b="1" dirty="0">
                <a:solidFill>
                  <a:schemeClr val="tx2"/>
                </a:solidFill>
              </a:rPr>
              <a:t>Tùy chọn thời gian nhắc</a:t>
            </a:r>
            <a:endParaRPr lang="en-US" sz="1800" dirty="0"/>
          </a:p>
        </p:txBody>
      </p:sp>
      <p:sp>
        <p:nvSpPr>
          <p:cNvPr id="15" name="Text 10"/>
          <p:cNvSpPr txBox="1"/>
          <p:nvPr/>
        </p:nvSpPr>
        <p:spPr>
          <a:xfrm>
            <a:off x="1371600" y="4261104"/>
            <a:ext cx="4846320" cy="365760"/>
          </a:xfrm>
          <a:prstGeom prst="rect">
            <a:avLst/>
          </a:prstGeom>
          <a:noFill/>
          <a:ln/>
        </p:spPr>
        <p:txBody>
          <a:bodyPr wrap="square" lIns="0" tIns="0" rIns="0" bIns="0" rtlCol="0" anchor="t"/>
          <a:lstStyle/>
          <a:p>
            <a:pPr indent="0" marL="0">
              <a:buNone/>
            </a:pPr>
            <a:r>
              <a:rPr lang="en-US" sz="1500" dirty="0">
                <a:solidFill>
                  <a:srgbClr val="4A4560"/>
                </a:solidFill>
              </a:rPr>
              <a:t>Không nhắc, đúng ngày, trước 1/3/7/30 ngày</a:t>
            </a:r>
            <a:endParaRPr lang="en-US" sz="1500" dirty="0"/>
          </a:p>
        </p:txBody>
      </p:sp>
      <p:sp>
        <p:nvSpPr>
          <p:cNvPr id="16" name="Xuất CSV, chia sẻ báo cáo circle"/>
          <p:cNvSpPr/>
          <p:nvPr/>
        </p:nvSpPr>
        <p:spPr>
          <a:xfrm>
            <a:off x="548640" y="4983480"/>
            <a:ext cx="640080" cy="640080"/>
          </a:xfrm>
          <a:prstGeom prst="ellipse">
            <a:avLst/>
          </a:prstGeom>
          <a:solidFill>
            <a:schemeClr val="accent5"/>
          </a:solidFill>
          <a:ln/>
        </p:spPr>
      </p:sp>
      <p:pic>
        <p:nvPicPr>
          <p:cNvPr id="17" name="Xuất CSV, chia sẻ báo cáo icon" descr="Xuất CSV, chia sẻ báo cáo">    </p:cNvPr>
          <p:cNvPicPr>
            <a:picLocks noChangeAspect="1"/>
          </p:cNvPicPr>
          <p:nvPr/>
        </p:nvPicPr>
        <p:blipFill>
          <a:blip r:embed="rId4"/>
          <a:stretch>
            <a:fillRect/>
          </a:stretch>
        </p:blipFill>
        <p:spPr>
          <a:xfrm>
            <a:off x="715061" y="5149901"/>
            <a:ext cx="307238" cy="307238"/>
          </a:xfrm>
          <a:prstGeom prst="rect">
            <a:avLst/>
          </a:prstGeom>
        </p:spPr>
      </p:pic>
      <p:sp>
        <p:nvSpPr>
          <p:cNvPr id="18" name="Text 12"/>
          <p:cNvSpPr txBox="1"/>
          <p:nvPr/>
        </p:nvSpPr>
        <p:spPr>
          <a:xfrm>
            <a:off x="1371600" y="4946904"/>
            <a:ext cx="4846320" cy="365760"/>
          </a:xfrm>
          <a:prstGeom prst="rect">
            <a:avLst/>
          </a:prstGeom>
          <a:noFill/>
          <a:ln/>
        </p:spPr>
        <p:txBody>
          <a:bodyPr wrap="square" lIns="0" tIns="0" rIns="0" bIns="0" rtlCol="0" anchor="t"/>
          <a:lstStyle/>
          <a:p>
            <a:pPr indent="0" marL="0">
              <a:buNone/>
            </a:pPr>
            <a:r>
              <a:rPr lang="en-US" sz="1800" b="1" dirty="0">
                <a:solidFill>
                  <a:schemeClr val="tx2"/>
                </a:solidFill>
              </a:rPr>
              <a:t>Xuất CSV, chia sẻ báo cáo</a:t>
            </a:r>
            <a:endParaRPr lang="en-US" sz="1800" dirty="0"/>
          </a:p>
        </p:txBody>
      </p:sp>
      <p:sp>
        <p:nvSpPr>
          <p:cNvPr id="19" name="Text 13"/>
          <p:cNvSpPr txBox="1"/>
          <p:nvPr/>
        </p:nvSpPr>
        <p:spPr>
          <a:xfrm>
            <a:off x="1371600" y="5312664"/>
            <a:ext cx="4846320" cy="365760"/>
          </a:xfrm>
          <a:prstGeom prst="rect">
            <a:avLst/>
          </a:prstGeom>
          <a:noFill/>
          <a:ln/>
        </p:spPr>
        <p:txBody>
          <a:bodyPr wrap="square" lIns="0" tIns="0" rIns="0" bIns="0" rtlCol="0" anchor="t"/>
          <a:lstStyle/>
          <a:p>
            <a:pPr indent="0" marL="0">
              <a:buNone/>
            </a:pPr>
            <a:r>
              <a:rPr lang="en-US" sz="1500" dirty="0">
                <a:solidFill>
                  <a:srgbClr val="4A4560"/>
                </a:solidFill>
              </a:rPr>
              <a:t>Lưu bản danh sách bên ngoài; chưa nhập lại CSV</a:t>
            </a:r>
            <a:endParaRPr lang="en-US" sz="1500" dirty="0"/>
          </a:p>
        </p:txBody>
      </p:sp>
      <p:sp>
        <p:nvSpPr>
          <p:cNvPr id="20" name="Phạm vi Hướng phát triển"/>
          <p:cNvSpPr/>
          <p:nvPr/>
        </p:nvSpPr>
        <p:spPr>
          <a:xfrm>
            <a:off x="6583680" y="1325880"/>
            <a:ext cx="4983480" cy="1417320"/>
          </a:xfrm>
          <a:prstGeom prst="roundRect">
            <a:avLst>
              <a:gd name="adj" fmla="val 7742"/>
            </a:avLst>
          </a:prstGeom>
          <a:solidFill>
            <a:srgbClr val="EDE9FB"/>
          </a:solidFill>
          <a:ln/>
          <a:effectLst>
            <a:outerShdw sx="100000" sy="100000" kx="0" ky="0" algn="bl" rotWithShape="0" blurRad="101600" dist="25400" dir="5400000">
              <a:srgbClr val="2B1B5A">
                <a:alpha val="12000"/>
              </a:srgbClr>
            </a:outerShdw>
          </a:effectLst>
        </p:spPr>
      </p:sp>
      <p:sp>
        <p:nvSpPr>
          <p:cNvPr id="21" name="Text 15"/>
          <p:cNvSpPr txBox="1"/>
          <p:nvPr/>
        </p:nvSpPr>
        <p:spPr>
          <a:xfrm>
            <a:off x="6812280" y="1490472"/>
            <a:ext cx="4572000" cy="365760"/>
          </a:xfrm>
          <a:prstGeom prst="rect">
            <a:avLst/>
          </a:prstGeom>
          <a:noFill/>
          <a:ln/>
        </p:spPr>
        <p:txBody>
          <a:bodyPr wrap="square" lIns="0" tIns="0" rIns="0" bIns="0" rtlCol="0" anchor="t"/>
          <a:lstStyle/>
          <a:p>
            <a:pPr indent="0" marL="0">
              <a:buNone/>
            </a:pPr>
            <a:r>
              <a:rPr lang="en-US" sz="1700" b="1" dirty="0">
                <a:solidFill>
                  <a:srgbClr val="3D2C78"/>
                </a:solidFill>
              </a:rPr>
              <a:t>Hướng phát triển</a:t>
            </a:r>
            <a:endParaRPr lang="en-US" sz="1700" dirty="0"/>
          </a:p>
        </p:txBody>
      </p:sp>
      <p:sp>
        <p:nvSpPr>
          <p:cNvPr id="22" name="Text 16"/>
          <p:cNvSpPr txBox="1"/>
          <p:nvPr/>
        </p:nvSpPr>
        <p:spPr>
          <a:xfrm>
            <a:off x="6812280" y="1892808"/>
            <a:ext cx="4572000" cy="731520"/>
          </a:xfrm>
          <a:prstGeom prst="rect">
            <a:avLst/>
          </a:prstGeom>
          <a:noFill/>
          <a:ln/>
        </p:spPr>
        <p:txBody>
          <a:bodyPr wrap="square" lIns="0" tIns="0" rIns="0" bIns="0" rtlCol="0" anchor="t"/>
          <a:lstStyle/>
          <a:p>
            <a:pPr indent="0" marL="0">
              <a:buNone/>
            </a:pPr>
            <a:r>
              <a:rPr lang="en-US" sz="1500" dirty="0">
                <a:solidFill>
                  <a:srgbClr val="3D2C78"/>
                </a:solidFill>
              </a:rPr>
              <a:t>Tài khoản và đồng bộ đa thiết bị (có thể xem xét Firebase)</a:t>
            </a:r>
            <a:endParaRPr lang="en-US" sz="1500" dirty="0"/>
          </a:p>
        </p:txBody>
      </p:sp>
      <p:sp>
        <p:nvSpPr>
          <p:cNvPr id="23" name="Phạm vi Chưa có ở phiên bản hiện tại"/>
          <p:cNvSpPr/>
          <p:nvPr/>
        </p:nvSpPr>
        <p:spPr>
          <a:xfrm>
            <a:off x="6583680" y="2926080"/>
            <a:ext cx="4983480" cy="1417320"/>
          </a:xfrm>
          <a:prstGeom prst="roundRect">
            <a:avLst>
              <a:gd name="adj" fmla="val 7742"/>
            </a:avLst>
          </a:prstGeom>
          <a:solidFill>
            <a:srgbClr val="FFF6D6"/>
          </a:solidFill>
          <a:ln/>
          <a:effectLst>
            <a:outerShdw sx="100000" sy="100000" kx="0" ky="0" algn="bl" rotWithShape="0" blurRad="101600" dist="25400" dir="5400000">
              <a:srgbClr val="2B1B5A">
                <a:alpha val="12000"/>
              </a:srgbClr>
            </a:outerShdw>
          </a:effectLst>
        </p:spPr>
      </p:sp>
      <p:sp>
        <p:nvSpPr>
          <p:cNvPr id="24" name="Text 18"/>
          <p:cNvSpPr txBox="1"/>
          <p:nvPr/>
        </p:nvSpPr>
        <p:spPr>
          <a:xfrm>
            <a:off x="6812280" y="3090672"/>
            <a:ext cx="4572000" cy="365760"/>
          </a:xfrm>
          <a:prstGeom prst="rect">
            <a:avLst/>
          </a:prstGeom>
          <a:noFill/>
          <a:ln/>
        </p:spPr>
        <p:txBody>
          <a:bodyPr wrap="square" lIns="0" tIns="0" rIns="0" bIns="0" rtlCol="0" anchor="t"/>
          <a:lstStyle/>
          <a:p>
            <a:pPr indent="0" marL="0">
              <a:buNone/>
            </a:pPr>
            <a:r>
              <a:rPr lang="en-US" sz="1700" b="1" dirty="0">
                <a:solidFill>
                  <a:srgbClr val="6B4E00"/>
                </a:solidFill>
              </a:rPr>
              <a:t>Chưa có ở phiên bản hiện tại</a:t>
            </a:r>
            <a:endParaRPr lang="en-US" sz="1700" dirty="0"/>
          </a:p>
        </p:txBody>
      </p:sp>
      <p:sp>
        <p:nvSpPr>
          <p:cNvPr id="25" name="Text 19"/>
          <p:cNvSpPr txBox="1"/>
          <p:nvPr/>
        </p:nvSpPr>
        <p:spPr>
          <a:xfrm>
            <a:off x="6812280" y="3493008"/>
            <a:ext cx="4572000" cy="731520"/>
          </a:xfrm>
          <a:prstGeom prst="rect">
            <a:avLst/>
          </a:prstGeom>
          <a:noFill/>
          <a:ln/>
        </p:spPr>
        <p:txBody>
          <a:bodyPr wrap="square" lIns="0" tIns="0" rIns="0" bIns="0" rtlCol="0" anchor="t"/>
          <a:lstStyle/>
          <a:p>
            <a:pPr indent="0" marL="0">
              <a:buNone/>
            </a:pPr>
            <a:r>
              <a:rPr lang="en-US" sz="1500" dirty="0">
                <a:solidFill>
                  <a:srgbClr val="6B4E00"/>
                </a:solidFill>
              </a:rPr>
              <a:t>Nhập lại dữ liệu, quy đổi tỷ giá, tự tạo nền tảng, quản lý thành viên và chia tiền</a:t>
            </a:r>
            <a:endParaRPr lang="en-US" sz="1500" dirty="0"/>
          </a:p>
        </p:txBody>
      </p:sp>
      <p:sp>
        <p:nvSpPr>
          <p:cNvPr id="26" name="Phạm vi Ngoài phạm vi môn học"/>
          <p:cNvSpPr/>
          <p:nvPr/>
        </p:nvSpPr>
        <p:spPr>
          <a:xfrm>
            <a:off x="6583680" y="4526280"/>
            <a:ext cx="4983480" cy="1417320"/>
          </a:xfrm>
          <a:prstGeom prst="roundRect">
            <a:avLst>
              <a:gd name="adj" fmla="val 7742"/>
            </a:avLst>
          </a:prstGeom>
          <a:solidFill>
            <a:srgbClr val="FFEDE7"/>
          </a:solidFill>
          <a:ln/>
          <a:effectLst>
            <a:outerShdw sx="100000" sy="100000" kx="0" ky="0" algn="bl" rotWithShape="0" blurRad="101600" dist="25400" dir="5400000">
              <a:srgbClr val="2B1B5A">
                <a:alpha val="12000"/>
              </a:srgbClr>
            </a:outerShdw>
          </a:effectLst>
        </p:spPr>
      </p:sp>
      <p:sp>
        <p:nvSpPr>
          <p:cNvPr id="27" name="Text 21"/>
          <p:cNvSpPr txBox="1"/>
          <p:nvPr/>
        </p:nvSpPr>
        <p:spPr>
          <a:xfrm>
            <a:off x="6812280" y="4690872"/>
            <a:ext cx="4572000" cy="365760"/>
          </a:xfrm>
          <a:prstGeom prst="rect">
            <a:avLst/>
          </a:prstGeom>
          <a:noFill/>
          <a:ln/>
        </p:spPr>
        <p:txBody>
          <a:bodyPr wrap="square" lIns="0" tIns="0" rIns="0" bIns="0" rtlCol="0" anchor="t"/>
          <a:lstStyle/>
          <a:p>
            <a:pPr indent="0" marL="0">
              <a:buNone/>
            </a:pPr>
            <a:r>
              <a:rPr lang="en-US" sz="1700" b="1" dirty="0">
                <a:solidFill>
                  <a:srgbClr val="7A2E1C"/>
                </a:solidFill>
              </a:rPr>
              <a:t>Ngoài phạm vi môn học</a:t>
            </a:r>
            <a:endParaRPr lang="en-US" sz="1700" dirty="0"/>
          </a:p>
        </p:txBody>
      </p:sp>
      <p:sp>
        <p:nvSpPr>
          <p:cNvPr id="28" name="Text 22"/>
          <p:cNvSpPr txBox="1"/>
          <p:nvPr/>
        </p:nvSpPr>
        <p:spPr>
          <a:xfrm>
            <a:off x="6812280" y="5093208"/>
            <a:ext cx="4572000" cy="731520"/>
          </a:xfrm>
          <a:prstGeom prst="rect">
            <a:avLst/>
          </a:prstGeom>
          <a:noFill/>
          <a:ln/>
        </p:spPr>
        <p:txBody>
          <a:bodyPr wrap="square" lIns="0" tIns="0" rIns="0" bIns="0" rtlCol="0" anchor="t"/>
          <a:lstStyle/>
          <a:p>
            <a:pPr indent="0" marL="0">
              <a:buNone/>
            </a:pPr>
            <a:r>
              <a:rPr lang="en-US" sz="1500" dirty="0">
                <a:solidFill>
                  <a:srgbClr val="7A2E1C"/>
                </a:solidFill>
              </a:rPr>
              <a:t>Thanh toán thật, lưu thẻ, tự đọc ngân hàng/email, tự hủy gói tại nhà cung cấp</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E8AA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indent="0" marL="0">
              <a:buNone/>
            </a:pPr>
            <a:r>
              <a:rPr lang="en-US" sz="3600" b="1" dirty="0">
                <a:solidFill>
                  <a:schemeClr val="tx2"/>
                </a:solidFill>
              </a:rPr>
              <a:t>Use Case – Quản lý gói và báo cáo</a:t>
            </a:r>
            <a:endParaRPr lang="en-US" sz="3600" dirty="0"/>
          </a:p>
        </p:txBody>
      </p:sp>
      <p:pic>
        <p:nvPicPr>
          <p:cNvPr id="3" name="Sơ đồ Use Case phần quản lý gói và báo cáo" descr="Sơ đồ Use Case phần quản lý gói và báo cáo">    </p:cNvPr>
          <p:cNvPicPr>
            <a:picLocks noChangeAspect="1"/>
          </p:cNvPicPr>
          <p:nvPr/>
        </p:nvPicPr>
        <p:blipFill>
          <a:blip r:embed="rId1"/>
          <a:stretch>
            <a:fillRect/>
          </a:stretch>
        </p:blipFill>
        <p:spPr>
          <a:xfrm>
            <a:off x="1463040" y="1188720"/>
            <a:ext cx="9262872" cy="4937760"/>
          </a:xfrm>
          <a:prstGeom prst="rect">
            <a:avLst/>
          </a:prstGeom>
        </p:spPr>
      </p:pic>
      <p:sp>
        <p:nvSpPr>
          <p:cNvPr id="4" name="Text 1"/>
          <p:cNvSpPr txBox="1"/>
          <p:nvPr/>
        </p:nvSpPr>
        <p:spPr>
          <a:xfrm>
            <a:off x="548640" y="6217920"/>
            <a:ext cx="10424160" cy="365760"/>
          </a:xfrm>
          <a:prstGeom prst="rect">
            <a:avLst/>
          </a:prstGeom>
          <a:noFill/>
          <a:ln/>
        </p:spPr>
        <p:txBody>
          <a:bodyPr wrap="square" lIns="0" tIns="0" rIns="0" bIns="0" rtlCol="0" anchor="t"/>
          <a:lstStyle/>
          <a:p>
            <a:pPr indent="0" marL="0">
              <a:buNone/>
            </a:pPr>
            <a:r>
              <a:rPr lang="en-US" sz="1200" i="1" dirty="0">
                <a:solidFill>
                  <a:srgbClr val="6E6888"/>
                </a:solidFill>
              </a:rPr>
              <a:t>UC01–UC07 cùng UC12 (kiểm tra dữ liệu, include khi thêm và khi lưu chỉnh sửa) và UC13 (đổi trạng thái, extend UC03). Đặc tả chi tiết: UseCase_SubTrack.docx.</a:t>
            </a:r>
            <a:endParaRPr lang="en-US" sz="12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E8AA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indent="0" marL="0">
              <a:buNone/>
            </a:pPr>
            <a:r>
              <a:rPr lang="en-US" sz="3600" b="1" dirty="0">
                <a:solidFill>
                  <a:schemeClr val="tx2"/>
                </a:solidFill>
              </a:rPr>
              <a:t>Use Case – Nhắc hạn và tích hợp</a:t>
            </a:r>
            <a:endParaRPr lang="en-US" sz="3600" dirty="0"/>
          </a:p>
        </p:txBody>
      </p:sp>
      <p:pic>
        <p:nvPicPr>
          <p:cNvPr id="3" name="Sơ đồ Use Case phần nhắc hạn và tích hợp" descr="Sơ đồ Use Case phần nhắc hạn và tích hợp">    </p:cNvPr>
          <p:cNvPicPr>
            <a:picLocks noChangeAspect="1"/>
          </p:cNvPicPr>
          <p:nvPr/>
        </p:nvPicPr>
        <p:blipFill>
          <a:blip r:embed="rId1"/>
          <a:stretch>
            <a:fillRect/>
          </a:stretch>
        </p:blipFill>
        <p:spPr>
          <a:xfrm>
            <a:off x="1463040" y="1188720"/>
            <a:ext cx="9262872" cy="4937760"/>
          </a:xfrm>
          <a:prstGeom prst="rect">
            <a:avLst/>
          </a:prstGeom>
        </p:spPr>
      </p:pic>
      <p:sp>
        <p:nvSpPr>
          <p:cNvPr id="4" name="Text 1"/>
          <p:cNvSpPr txBox="1"/>
          <p:nvPr/>
        </p:nvSpPr>
        <p:spPr>
          <a:xfrm>
            <a:off x="548640" y="6217920"/>
            <a:ext cx="10424160" cy="365760"/>
          </a:xfrm>
          <a:prstGeom prst="rect">
            <a:avLst/>
          </a:prstGeom>
          <a:noFill/>
          <a:ln/>
        </p:spPr>
        <p:txBody>
          <a:bodyPr wrap="square" lIns="0" tIns="0" rIns="0" bIns="0" rtlCol="0" anchor="t"/>
          <a:lstStyle/>
          <a:p>
            <a:pPr indent="0" marL="0">
              <a:buNone/>
            </a:pPr>
            <a:r>
              <a:rPr lang="en-US" sz="1200" i="1" dirty="0">
                <a:solidFill>
                  <a:srgbClr val="6E6888"/>
                </a:solidFill>
              </a:rPr>
              <a:t>UC08 chỉ lưu cấu hình nhắc; UC14 do tác vụ kiểm tra của SubTrack kích hoạt. UC15 (đăng nhập, đồng bộ) là hướng phát triển. Đặc tả chi tiết: UseCase_SubTrack.docx.</a:t>
            </a:r>
            <a:endParaRPr lang="en-US" sz="12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E8AA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indent="0" marL="0">
              <a:buNone/>
            </a:pPr>
            <a:r>
              <a:rPr lang="en-US" sz="3600" b="1" dirty="0">
                <a:solidFill>
                  <a:schemeClr val="tx2"/>
                </a:solidFill>
              </a:rPr>
              <a:t>Công nghệ và lý do lựa chọn</a:t>
            </a:r>
            <a:endParaRPr lang="en-US" sz="3600" dirty="0"/>
          </a:p>
        </p:txBody>
      </p:sp>
      <p:sp>
        <p:nvSpPr>
          <p:cNvPr id="3" name="Text 1"/>
          <p:cNvSpPr txBox="1"/>
          <p:nvPr/>
        </p:nvSpPr>
        <p:spPr>
          <a:xfrm>
            <a:off x="548640" y="1371600"/>
            <a:ext cx="3291840" cy="365760"/>
          </a:xfrm>
          <a:prstGeom prst="rect">
            <a:avLst/>
          </a:prstGeom>
          <a:noFill/>
          <a:ln/>
        </p:spPr>
        <p:txBody>
          <a:bodyPr wrap="square" lIns="0" tIns="0" rIns="0" bIns="0" rtlCol="0" anchor="t"/>
          <a:lstStyle/>
          <a:p>
            <a:pPr indent="0" marL="0">
              <a:buNone/>
            </a:pPr>
            <a:r>
              <a:rPr lang="en-US" sz="1400" b="1" spc="200" kern="0" dirty="0">
                <a:solidFill>
                  <a:schemeClr val="accent1"/>
                </a:solidFill>
              </a:rPr>
              <a:t>KIẾN TRÚC</a:t>
            </a:r>
            <a:endParaRPr lang="en-US" sz="1400" dirty="0"/>
          </a:p>
        </p:txBody>
      </p:sp>
      <p:sp>
        <p:nvSpPr>
          <p:cNvPr id="4" name="Tầng Giao diện (Compose)"/>
          <p:cNvSpPr/>
          <p:nvPr/>
        </p:nvSpPr>
        <p:spPr>
          <a:xfrm>
            <a:off x="548640" y="1828800"/>
            <a:ext cx="3383280" cy="1005840"/>
          </a:xfrm>
          <a:prstGeom prst="roundRect">
            <a:avLst>
              <a:gd name="adj" fmla="val 10909"/>
            </a:avLst>
          </a:prstGeom>
          <a:solidFill>
            <a:schemeClr val="accent1"/>
          </a:solidFill>
          <a:ln/>
        </p:spPr>
      </p:sp>
      <p:sp>
        <p:nvSpPr>
          <p:cNvPr id="5" name="Text 3"/>
          <p:cNvSpPr txBox="1"/>
          <p:nvPr/>
        </p:nvSpPr>
        <p:spPr>
          <a:xfrm>
            <a:off x="731520" y="1828800"/>
            <a:ext cx="3017520" cy="1005840"/>
          </a:xfrm>
          <a:prstGeom prst="rect">
            <a:avLst/>
          </a:prstGeom>
          <a:noFill/>
          <a:ln/>
        </p:spPr>
        <p:txBody>
          <a:bodyPr wrap="square" lIns="0" tIns="0" rIns="0" bIns="0" rtlCol="0" anchor="ctr"/>
          <a:lstStyle/>
          <a:p>
            <a:pPr indent="0" marL="0">
              <a:buNone/>
            </a:pPr>
            <a:r>
              <a:rPr lang="en-US" sz="1700" b="1" dirty="0">
                <a:solidFill>
                  <a:schemeClr val="bg1"/>
                </a:solidFill>
              </a:rPr>
              <a:t>Giao diện (Compose)</a:t>
            </a:r>
            <a:endParaRPr lang="en-US" sz="1500" dirty="0"/>
          </a:p>
          <a:p>
            <a:pPr indent="0" marL="0">
              <a:buNone/>
            </a:pPr>
            <a:r>
              <a:rPr lang="en-US" sz="1300" dirty="0">
                <a:solidFill>
                  <a:schemeClr val="bg1"/>
                </a:solidFill>
              </a:rPr>
              <a:t>Màn hình, Navigation Compose</a:t>
            </a:r>
            <a:endParaRPr lang="en-US" sz="1500" dirty="0"/>
          </a:p>
        </p:txBody>
      </p:sp>
      <p:pic>
        <p:nvPicPr>
          <p:cNvPr id="6" name="Mũi tên tầng 0" descr="gọi xuống">    </p:cNvPr>
          <p:cNvPicPr>
            <a:picLocks noChangeAspect="1"/>
          </p:cNvPicPr>
          <p:nvPr/>
        </p:nvPicPr>
        <p:blipFill>
          <a:blip r:embed="rId1"/>
          <a:stretch>
            <a:fillRect/>
          </a:stretch>
        </p:blipFill>
        <p:spPr>
          <a:xfrm>
            <a:off x="2057400" y="2880360"/>
            <a:ext cx="365760" cy="365760"/>
          </a:xfrm>
          <a:prstGeom prst="rect">
            <a:avLst/>
          </a:prstGeom>
        </p:spPr>
      </p:pic>
      <p:sp>
        <p:nvSpPr>
          <p:cNvPr id="7" name="Tầng ViewModel · Repository"/>
          <p:cNvSpPr/>
          <p:nvPr/>
        </p:nvSpPr>
        <p:spPr>
          <a:xfrm>
            <a:off x="548640" y="3291840"/>
            <a:ext cx="3383280" cy="1005840"/>
          </a:xfrm>
          <a:prstGeom prst="roundRect">
            <a:avLst>
              <a:gd name="adj" fmla="val 10909"/>
            </a:avLst>
          </a:prstGeom>
          <a:solidFill>
            <a:schemeClr val="accent6"/>
          </a:solidFill>
          <a:ln/>
        </p:spPr>
      </p:sp>
      <p:sp>
        <p:nvSpPr>
          <p:cNvPr id="8" name="Text 5"/>
          <p:cNvSpPr txBox="1"/>
          <p:nvPr/>
        </p:nvSpPr>
        <p:spPr>
          <a:xfrm>
            <a:off x="731520" y="3291840"/>
            <a:ext cx="3017520" cy="1005840"/>
          </a:xfrm>
          <a:prstGeom prst="rect">
            <a:avLst/>
          </a:prstGeom>
          <a:noFill/>
          <a:ln/>
        </p:spPr>
        <p:txBody>
          <a:bodyPr wrap="square" lIns="0" tIns="0" rIns="0" bIns="0" rtlCol="0" anchor="ctr"/>
          <a:lstStyle/>
          <a:p>
            <a:pPr indent="0" marL="0">
              <a:buNone/>
            </a:pPr>
            <a:r>
              <a:rPr lang="en-US" sz="1700" b="1" dirty="0">
                <a:solidFill>
                  <a:schemeClr val="bg1"/>
                </a:solidFill>
              </a:rPr>
              <a:t>ViewModel · Repository</a:t>
            </a:r>
            <a:endParaRPr lang="en-US" sz="1500" dirty="0"/>
          </a:p>
          <a:p>
            <a:pPr indent="0" marL="0">
              <a:buNone/>
            </a:pPr>
            <a:r>
              <a:rPr lang="en-US" sz="1300" dirty="0">
                <a:solidFill>
                  <a:schemeClr val="bg1"/>
                </a:solidFill>
              </a:rPr>
              <a:t>StateFlow, tách UI khỏi dữ liệu</a:t>
            </a:r>
            <a:endParaRPr lang="en-US" sz="1500" dirty="0"/>
          </a:p>
        </p:txBody>
      </p:sp>
      <p:pic>
        <p:nvPicPr>
          <p:cNvPr id="9" name="Mũi tên tầng 1" descr="gọi xuống">    </p:cNvPr>
          <p:cNvPicPr>
            <a:picLocks noChangeAspect="1"/>
          </p:cNvPicPr>
          <p:nvPr/>
        </p:nvPicPr>
        <p:blipFill>
          <a:blip r:embed="rId2"/>
          <a:stretch>
            <a:fillRect/>
          </a:stretch>
        </p:blipFill>
        <p:spPr>
          <a:xfrm>
            <a:off x="2057400" y="4343400"/>
            <a:ext cx="365760" cy="365760"/>
          </a:xfrm>
          <a:prstGeom prst="rect">
            <a:avLst/>
          </a:prstGeom>
        </p:spPr>
      </p:pic>
      <p:sp>
        <p:nvSpPr>
          <p:cNvPr id="10" name="Tầng SQLite trên máy"/>
          <p:cNvSpPr/>
          <p:nvPr/>
        </p:nvSpPr>
        <p:spPr>
          <a:xfrm>
            <a:off x="548640" y="4754880"/>
            <a:ext cx="3383280" cy="1005840"/>
          </a:xfrm>
          <a:prstGeom prst="roundRect">
            <a:avLst>
              <a:gd name="adj" fmla="val 10909"/>
            </a:avLst>
          </a:prstGeom>
          <a:solidFill>
            <a:schemeClr val="accent2"/>
          </a:solidFill>
          <a:ln/>
        </p:spPr>
      </p:sp>
      <p:sp>
        <p:nvSpPr>
          <p:cNvPr id="11" name="Text 7"/>
          <p:cNvSpPr txBox="1"/>
          <p:nvPr/>
        </p:nvSpPr>
        <p:spPr>
          <a:xfrm>
            <a:off x="731520" y="4754880"/>
            <a:ext cx="3017520" cy="1005840"/>
          </a:xfrm>
          <a:prstGeom prst="rect">
            <a:avLst/>
          </a:prstGeom>
          <a:noFill/>
          <a:ln/>
        </p:spPr>
        <p:txBody>
          <a:bodyPr wrap="square" lIns="0" tIns="0" rIns="0" bIns="0" rtlCol="0" anchor="ctr"/>
          <a:lstStyle/>
          <a:p>
            <a:pPr indent="0" marL="0">
              <a:buNone/>
            </a:pPr>
            <a:r>
              <a:rPr lang="en-US" sz="1700" b="1" dirty="0">
                <a:solidFill>
                  <a:schemeClr val="bg1"/>
                </a:solidFill>
              </a:rPr>
              <a:t>SQLite trên máy</a:t>
            </a:r>
            <a:endParaRPr lang="en-US" sz="1500" dirty="0"/>
          </a:p>
          <a:p>
            <a:pPr indent="0" marL="0">
              <a:buNone/>
            </a:pPr>
            <a:r>
              <a:rPr lang="en-US" sz="1300" dirty="0">
                <a:solidFill>
                  <a:schemeClr val="bg1"/>
                </a:solidFill>
              </a:rPr>
              <a:t>SQLiteOpenHelper · SharedPreferences</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343400" y="1371600"/>
          <a:ext cx="7269480" cy="914400"/>
        </p:xfrm>
        <a:graphic>
          <a:graphicData uri="http://schemas.openxmlformats.org/drawingml/2006/table">
            <a:tbl>
              <a:tblPr/>
              <a:tblGrid>
                <a:gridCol w="2697480"/>
                <a:gridCol w="457200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Công nghệ</a:t>
                      </a:r>
                      <a:endParaRPr lang="en-US" sz="1300" dirty="0">
                        <a:latin typeface="Calibri" charset="0"/>
                        <a:ea typeface="Calibri" charset="0"/>
                        <a:cs typeface="Calibri" charset="0"/>
                      </a:endParaRPr>
                    </a:p>
                  </a:txBody>
                  <a:tcPr marL="54864" marR="54864" marT="54864" marB="54864"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2B1B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Lý do lựa chọn</a:t>
                      </a:r>
                      <a:endParaRPr lang="en-US" sz="1300" dirty="0">
                        <a:latin typeface="Calibri" charset="0"/>
                        <a:ea typeface="Calibri" charset="0"/>
                        <a:cs typeface="Calibri" charset="0"/>
                      </a:endParaRPr>
                    </a:p>
                  </a:txBody>
                  <a:tcPr marL="54864" marR="54864" marT="54864" marB="54864"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2B1B5A"/>
                    </a:solidFill>
                  </a:tcPr>
                </a:tc>
              </a:tr>
              <a:tr h="475488">
                <a:tc>
                  <a:txBody>
                    <a:bodyPr/>
                    <a:lstStyle/>
                    <a:p>
                      <a:pPr indent="0" marL="0">
                        <a:buNone/>
                      </a:pPr>
                      <a:r>
                        <a:rPr lang="en-US" sz="1300" b="1" dirty="0">
                          <a:solidFill>
                            <a:srgbClr val="2B1B5A"/>
                          </a:solidFill>
                          <a:latin typeface="Calibri" pitchFamily="34" charset="0"/>
                          <a:ea typeface="Calibri" pitchFamily="34" charset="-122"/>
                          <a:cs typeface="Calibri" pitchFamily="34" charset="-120"/>
                        </a:rPr>
                        <a:t>Kotlin, Jetpack Compose, Material 3</a:t>
                      </a:r>
                      <a:endParaRPr lang="en-US" sz="1300" dirty="0">
                        <a:latin typeface="Calibri" charset="0"/>
                        <a:ea typeface="Calibri" charset="0"/>
                        <a:cs typeface="Calibri" charset="0"/>
                      </a:endParaRPr>
                    </a:p>
                  </a:txBody>
                  <a:tcPr marL="54864" marR="54864" marT="54864" marB="54864"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3F0FB"/>
                    </a:solidFill>
                  </a:tcPr>
                </a:tc>
                <a:tc>
                  <a:txBody>
                    <a:bodyPr/>
                    <a:lstStyle/>
                    <a:p>
                      <a:pPr indent="0" marL="0">
                        <a:buNone/>
                      </a:pPr>
                      <a:r>
                        <a:rPr lang="en-US" sz="1300" dirty="0">
                          <a:solidFill>
                            <a:srgbClr val="3A3550"/>
                          </a:solidFill>
                          <a:latin typeface="Calibri" pitchFamily="34" charset="0"/>
                          <a:ea typeface="Calibri" pitchFamily="34" charset="-122"/>
                          <a:cs typeface="Calibri" pitchFamily="34" charset="-120"/>
                        </a:rPr>
                        <a:t>Giao diện Android bằng Kotlin, hiển thị theo trạng thái, hỗ trợ sáng/tối</a:t>
                      </a:r>
                      <a:endParaRPr lang="en-US" sz="1300" dirty="0">
                        <a:latin typeface="Calibri" charset="0"/>
                        <a:ea typeface="Calibri" charset="0"/>
                        <a:cs typeface="Calibri" charset="0"/>
                      </a:endParaRPr>
                    </a:p>
                  </a:txBody>
                  <a:tcPr marL="54864" marR="54864" marT="54864" marB="54864"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3F0FB"/>
                    </a:solidFill>
                  </a:tcPr>
                </a:tc>
              </a:tr>
              <a:tr h="475488">
                <a:tc>
                  <a:txBody>
                    <a:bodyPr/>
                    <a:lstStyle/>
                    <a:p>
                      <a:pPr indent="0" marL="0">
                        <a:buNone/>
                      </a:pPr>
                      <a:r>
                        <a:rPr lang="en-US" sz="1300" b="1" dirty="0">
                          <a:solidFill>
                            <a:srgbClr val="2B1B5A"/>
                          </a:solidFill>
                          <a:latin typeface="Calibri" pitchFamily="34" charset="0"/>
                          <a:ea typeface="Calibri" pitchFamily="34" charset="-122"/>
                          <a:cs typeface="Calibri" pitchFamily="34" charset="-120"/>
                        </a:rPr>
                        <a:t>ViewModel, StateFlow, Repository</a:t>
                      </a:r>
                      <a:endParaRPr lang="en-US" sz="1300" dirty="0">
                        <a:latin typeface="Calibri" charset="0"/>
                        <a:ea typeface="Calibri" charset="0"/>
                        <a:cs typeface="Calibri" charset="0"/>
                      </a:endParaRPr>
                    </a:p>
                  </a:txBody>
                  <a:tcPr marL="54864" marR="54864" marT="54864" marB="54864"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FFFFF"/>
                    </a:solidFill>
                  </a:tcPr>
                </a:tc>
                <a:tc>
                  <a:txBody>
                    <a:bodyPr/>
                    <a:lstStyle/>
                    <a:p>
                      <a:pPr indent="0" marL="0">
                        <a:buNone/>
                      </a:pPr>
                      <a:r>
                        <a:rPr lang="en-US" sz="1300" dirty="0">
                          <a:solidFill>
                            <a:srgbClr val="3A3550"/>
                          </a:solidFill>
                          <a:latin typeface="Calibri" pitchFamily="34" charset="0"/>
                          <a:ea typeface="Calibri" pitchFamily="34" charset="-122"/>
                          <a:cs typeface="Calibri" pitchFamily="34" charset="-120"/>
                        </a:rPr>
                        <a:t>Tách xử lý màn hình khỏi đọc/ghi dữ liệu; UI theo dõi trạng thái</a:t>
                      </a:r>
                      <a:endParaRPr lang="en-US" sz="1300" dirty="0">
                        <a:latin typeface="Calibri" charset="0"/>
                        <a:ea typeface="Calibri" charset="0"/>
                        <a:cs typeface="Calibri" charset="0"/>
                      </a:endParaRPr>
                    </a:p>
                  </a:txBody>
                  <a:tcPr marL="54864" marR="54864" marT="54864" marB="54864"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2B1B5A"/>
                          </a:solidFill>
                          <a:latin typeface="Calibri" pitchFamily="34" charset="0"/>
                          <a:ea typeface="Calibri" pitchFamily="34" charset="-122"/>
                          <a:cs typeface="Calibri" pitchFamily="34" charset="-120"/>
                        </a:rPr>
                        <a:t>SQLiteOpenHelper</a:t>
                      </a:r>
                      <a:endParaRPr lang="en-US" sz="1300" dirty="0">
                        <a:latin typeface="Calibri" charset="0"/>
                        <a:ea typeface="Calibri" charset="0"/>
                        <a:cs typeface="Calibri" charset="0"/>
                      </a:endParaRPr>
                    </a:p>
                  </a:txBody>
                  <a:tcPr marL="54864" marR="54864" marT="54864" marB="54864"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3F0FB"/>
                    </a:solidFill>
                  </a:tcPr>
                </a:tc>
                <a:tc>
                  <a:txBody>
                    <a:bodyPr/>
                    <a:lstStyle/>
                    <a:p>
                      <a:pPr indent="0" marL="0">
                        <a:buNone/>
                      </a:pPr>
                      <a:r>
                        <a:rPr lang="en-US" sz="1300" dirty="0">
                          <a:solidFill>
                            <a:srgbClr val="3A3550"/>
                          </a:solidFill>
                          <a:latin typeface="Calibri" pitchFamily="34" charset="0"/>
                          <a:ea typeface="Calibri" pitchFamily="34" charset="-122"/>
                          <a:cs typeface="Calibri" pitchFamily="34" charset="-120"/>
                        </a:rPr>
                        <a:t>Lưu dữ liệu quan hệ trên máy, ngoại tuyến, không cần máy chủ</a:t>
                      </a:r>
                      <a:endParaRPr lang="en-US" sz="1300" dirty="0">
                        <a:latin typeface="Calibri" charset="0"/>
                        <a:ea typeface="Calibri" charset="0"/>
                        <a:cs typeface="Calibri" charset="0"/>
                      </a:endParaRPr>
                    </a:p>
                  </a:txBody>
                  <a:tcPr marL="54864" marR="54864" marT="54864" marB="54864"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3F0FB"/>
                    </a:solidFill>
                  </a:tcPr>
                </a:tc>
              </a:tr>
              <a:tr h="475488">
                <a:tc>
                  <a:txBody>
                    <a:bodyPr/>
                    <a:lstStyle/>
                    <a:p>
                      <a:pPr indent="0" marL="0">
                        <a:buNone/>
                      </a:pPr>
                      <a:r>
                        <a:rPr lang="en-US" sz="1300" b="1" dirty="0">
                          <a:solidFill>
                            <a:srgbClr val="2B1B5A"/>
                          </a:solidFill>
                          <a:latin typeface="Calibri" pitchFamily="34" charset="0"/>
                          <a:ea typeface="Calibri" pitchFamily="34" charset="-122"/>
                          <a:cs typeface="Calibri" pitchFamily="34" charset="-120"/>
                        </a:rPr>
                        <a:t>SharedPreferences</a:t>
                      </a:r>
                      <a:endParaRPr lang="en-US" sz="1300" dirty="0">
                        <a:latin typeface="Calibri" charset="0"/>
                        <a:ea typeface="Calibri" charset="0"/>
                        <a:cs typeface="Calibri" charset="0"/>
                      </a:endParaRPr>
                    </a:p>
                  </a:txBody>
                  <a:tcPr marL="54864" marR="54864" marT="54864" marB="54864"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FFFFF"/>
                    </a:solidFill>
                  </a:tcPr>
                </a:tc>
                <a:tc>
                  <a:txBody>
                    <a:bodyPr/>
                    <a:lstStyle/>
                    <a:p>
                      <a:pPr indent="0" marL="0">
                        <a:buNone/>
                      </a:pPr>
                      <a:r>
                        <a:rPr lang="en-US" sz="1300" dirty="0">
                          <a:solidFill>
                            <a:srgbClr val="3A3550"/>
                          </a:solidFill>
                          <a:latin typeface="Calibri" pitchFamily="34" charset="0"/>
                          <a:ea typeface="Calibri" pitchFamily="34" charset="-122"/>
                          <a:cs typeface="Calibri" pitchFamily="34" charset="-120"/>
                        </a:rPr>
                        <a:t>Tùy chọn nhỏ: tiền tệ mặc định, bật/tắt nhắc, dấu đã nhắc</a:t>
                      </a:r>
                      <a:endParaRPr lang="en-US" sz="1300" dirty="0">
                        <a:latin typeface="Calibri" charset="0"/>
                        <a:ea typeface="Calibri" charset="0"/>
                        <a:cs typeface="Calibri" charset="0"/>
                      </a:endParaRPr>
                    </a:p>
                  </a:txBody>
                  <a:tcPr marL="54864" marR="54864" marT="54864" marB="54864"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2B1B5A"/>
                          </a:solidFill>
                          <a:latin typeface="Calibri" pitchFamily="34" charset="0"/>
                          <a:ea typeface="Calibri" pitchFamily="34" charset="-122"/>
                          <a:cs typeface="Calibri" pitchFamily="34" charset="-120"/>
                        </a:rPr>
                        <a:t>WorkManager</a:t>
                      </a:r>
                      <a:endParaRPr lang="en-US" sz="1300" dirty="0">
                        <a:latin typeface="Calibri" charset="0"/>
                        <a:ea typeface="Calibri" charset="0"/>
                        <a:cs typeface="Calibri" charset="0"/>
                      </a:endParaRPr>
                    </a:p>
                  </a:txBody>
                  <a:tcPr marL="54864" marR="54864" marT="54864" marB="54864"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3F0FB"/>
                    </a:solidFill>
                  </a:tcPr>
                </a:tc>
                <a:tc>
                  <a:txBody>
                    <a:bodyPr/>
                    <a:lstStyle/>
                    <a:p>
                      <a:pPr indent="0" marL="0">
                        <a:buNone/>
                      </a:pPr>
                      <a:r>
                        <a:rPr lang="en-US" sz="1300" dirty="0">
                          <a:solidFill>
                            <a:srgbClr val="3A3550"/>
                          </a:solidFill>
                          <a:latin typeface="Calibri" pitchFamily="34" charset="0"/>
                          <a:ea typeface="Calibri" pitchFamily="34" charset="-122"/>
                          <a:cs typeface="Calibri" pitchFamily="34" charset="-120"/>
                        </a:rPr>
                        <a:t>Kiểm tra nhắc hạn định kỳ và sau khi lưu gói</a:t>
                      </a:r>
                      <a:endParaRPr lang="en-US" sz="1300" dirty="0">
                        <a:latin typeface="Calibri" charset="0"/>
                        <a:ea typeface="Calibri" charset="0"/>
                        <a:cs typeface="Calibri" charset="0"/>
                      </a:endParaRPr>
                    </a:p>
                  </a:txBody>
                  <a:tcPr marL="54864" marR="54864" marT="54864" marB="54864"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3F0FB"/>
                    </a:solidFill>
                  </a:tcPr>
                </a:tc>
              </a:tr>
              <a:tr h="475488">
                <a:tc>
                  <a:txBody>
                    <a:bodyPr/>
                    <a:lstStyle/>
                    <a:p>
                      <a:pPr indent="0" marL="0">
                        <a:buNone/>
                      </a:pPr>
                      <a:r>
                        <a:rPr lang="en-US" sz="1300" b="1" dirty="0">
                          <a:solidFill>
                            <a:srgbClr val="2B1B5A"/>
                          </a:solidFill>
                          <a:latin typeface="Calibri" pitchFamily="34" charset="0"/>
                          <a:ea typeface="Calibri" pitchFamily="34" charset="-122"/>
                          <a:cs typeface="Calibri" pitchFamily="34" charset="-120"/>
                        </a:rPr>
                        <a:t>Compose Canvas</a:t>
                      </a:r>
                      <a:endParaRPr lang="en-US" sz="1300" dirty="0">
                        <a:latin typeface="Calibri" charset="0"/>
                        <a:ea typeface="Calibri" charset="0"/>
                        <a:cs typeface="Calibri" charset="0"/>
                      </a:endParaRPr>
                    </a:p>
                  </a:txBody>
                  <a:tcPr marL="54864" marR="54864" marT="54864" marB="54864"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FFFFF"/>
                    </a:solidFill>
                  </a:tcPr>
                </a:tc>
                <a:tc>
                  <a:txBody>
                    <a:bodyPr/>
                    <a:lstStyle/>
                    <a:p>
                      <a:pPr indent="0" marL="0">
                        <a:buNone/>
                      </a:pPr>
                      <a:r>
                        <a:rPr lang="en-US" sz="1300" dirty="0">
                          <a:solidFill>
                            <a:srgbClr val="3A3550"/>
                          </a:solidFill>
                          <a:latin typeface="Calibri" pitchFamily="34" charset="0"/>
                          <a:ea typeface="Calibri" pitchFamily="34" charset="-122"/>
                          <a:cs typeface="Calibri" pitchFamily="34" charset="-120"/>
                        </a:rPr>
                        <a:t>Vẽ biểu đồ tròn, thanh tỷ trọng, không cần thư viện riêng</a:t>
                      </a:r>
                      <a:endParaRPr lang="en-US" sz="1300" dirty="0">
                        <a:latin typeface="Calibri" charset="0"/>
                        <a:ea typeface="Calibri" charset="0"/>
                        <a:cs typeface="Calibri" charset="0"/>
                      </a:endParaRPr>
                    </a:p>
                  </a:txBody>
                  <a:tcPr marL="54864" marR="54864" marT="54864" marB="54864"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2B1B5A"/>
                          </a:solidFill>
                          <a:latin typeface="Calibri" pitchFamily="34" charset="0"/>
                          <a:ea typeface="Calibri" pitchFamily="34" charset="-122"/>
                          <a:cs typeface="Calibri" pitchFamily="34" charset="-120"/>
                        </a:rPr>
                        <a:t>Android Intent</a:t>
                      </a:r>
                      <a:endParaRPr lang="en-US" sz="1300" dirty="0">
                        <a:latin typeface="Calibri" charset="0"/>
                        <a:ea typeface="Calibri" charset="0"/>
                        <a:cs typeface="Calibri" charset="0"/>
                      </a:endParaRPr>
                    </a:p>
                  </a:txBody>
                  <a:tcPr marL="54864" marR="54864" marT="54864" marB="54864"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3F0FB"/>
                    </a:solidFill>
                  </a:tcPr>
                </a:tc>
                <a:tc>
                  <a:txBody>
                    <a:bodyPr/>
                    <a:lstStyle/>
                    <a:p>
                      <a:pPr indent="0" marL="0">
                        <a:buNone/>
                      </a:pPr>
                      <a:r>
                        <a:rPr lang="en-US" sz="1300" dirty="0">
                          <a:solidFill>
                            <a:srgbClr val="3A3550"/>
                          </a:solidFill>
                          <a:latin typeface="Calibri" pitchFamily="34" charset="0"/>
                          <a:ea typeface="Calibri" pitchFamily="34" charset="-122"/>
                          <a:cs typeface="Calibri" pitchFamily="34" charset="-120"/>
                        </a:rPr>
                        <a:t>Chuyển sang Lịch, mở liên kết, chia sẻ báo cáo</a:t>
                      </a:r>
                      <a:endParaRPr lang="en-US" sz="1300" dirty="0">
                        <a:latin typeface="Calibri" charset="0"/>
                        <a:ea typeface="Calibri" charset="0"/>
                        <a:cs typeface="Calibri" charset="0"/>
                      </a:endParaRPr>
                    </a:p>
                  </a:txBody>
                  <a:tcPr marL="54864" marR="54864" marT="54864" marB="54864"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3F0FB"/>
                    </a:solidFill>
                  </a:tcPr>
                </a:tc>
              </a:tr>
              <a:tr h="475488">
                <a:tc>
                  <a:txBody>
                    <a:bodyPr/>
                    <a:lstStyle/>
                    <a:p>
                      <a:pPr indent="0" marL="0">
                        <a:buNone/>
                      </a:pPr>
                      <a:r>
                        <a:rPr lang="en-US" sz="1300" b="1" dirty="0">
                          <a:solidFill>
                            <a:srgbClr val="2B1B5A"/>
                          </a:solidFill>
                          <a:latin typeface="Calibri" pitchFamily="34" charset="0"/>
                          <a:ea typeface="Calibri" pitchFamily="34" charset="-122"/>
                          <a:cs typeface="Calibri" pitchFamily="34" charset="-120"/>
                        </a:rPr>
                        <a:t>JUnit, GitHub</a:t>
                      </a:r>
                      <a:endParaRPr lang="en-US" sz="1300" dirty="0">
                        <a:latin typeface="Calibri" charset="0"/>
                        <a:ea typeface="Calibri" charset="0"/>
                        <a:cs typeface="Calibri" charset="0"/>
                      </a:endParaRPr>
                    </a:p>
                  </a:txBody>
                  <a:tcPr marL="54864" marR="54864" marT="54864" marB="54864"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FFFFF"/>
                    </a:solidFill>
                  </a:tcPr>
                </a:tc>
                <a:tc>
                  <a:txBody>
                    <a:bodyPr/>
                    <a:lstStyle/>
                    <a:p>
                      <a:pPr indent="0" marL="0">
                        <a:buNone/>
                      </a:pPr>
                      <a:r>
                        <a:rPr lang="en-US" sz="1300" dirty="0">
                          <a:solidFill>
                            <a:srgbClr val="3A3550"/>
                          </a:solidFill>
                          <a:latin typeface="Calibri" pitchFamily="34" charset="0"/>
                          <a:ea typeface="Calibri" pitchFamily="34" charset="-122"/>
                          <a:cs typeface="Calibri" pitchFamily="34" charset="-120"/>
                        </a:rPr>
                        <a:t>Kiểm tra logic, quản lý phiên bản mã nguồn</a:t>
                      </a:r>
                      <a:endParaRPr lang="en-US" sz="1300" dirty="0">
                        <a:latin typeface="Calibri" charset="0"/>
                        <a:ea typeface="Calibri" charset="0"/>
                        <a:cs typeface="Calibri" charset="0"/>
                      </a:endParaRPr>
                    </a:p>
                  </a:txBody>
                  <a:tcPr marL="54864" marR="54864" marT="54864" marB="54864"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E8AA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indent="0" marL="0">
              <a:buNone/>
            </a:pPr>
            <a:r>
              <a:rPr lang="en-US" sz="3600" b="1" dirty="0">
                <a:solidFill>
                  <a:schemeClr val="tx2"/>
                </a:solidFill>
              </a:rPr>
              <a:t>Phân công và tiêu chí nghiệm thu</a:t>
            </a:r>
            <a:endParaRPr lang="en-US" sz="3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291840"/>
                <a:gridCol w="3566160"/>
                <a:gridCol w="18288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Vai trò</a:t>
                      </a:r>
                      <a:endParaRPr lang="en-US" sz="1400" dirty="0">
                        <a:latin typeface="Calibri" charset="0"/>
                        <a:ea typeface="Calibri" charset="0"/>
                        <a:cs typeface="Calibri" charset="0"/>
                      </a:endParaRPr>
                    </a:p>
                  </a:txBody>
                  <a:tcPr marL="73152" marR="73152" marT="73152" marB="73152"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2B1B5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Đầu ra cần bàn giao</a:t>
                      </a:r>
                      <a:endParaRPr lang="en-US" sz="1400" dirty="0">
                        <a:latin typeface="Calibri" charset="0"/>
                        <a:ea typeface="Calibri" charset="0"/>
                        <a:cs typeface="Calibri" charset="0"/>
                      </a:endParaRPr>
                    </a:p>
                  </a:txBody>
                  <a:tcPr marL="73152" marR="73152" marT="73152" marB="73152"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2B1B5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Tiêu chí nghiệm thu</a:t>
                      </a:r>
                      <a:endParaRPr lang="en-US" sz="1400" dirty="0">
                        <a:latin typeface="Calibri" charset="0"/>
                        <a:ea typeface="Calibri" charset="0"/>
                        <a:cs typeface="Calibri" charset="0"/>
                      </a:endParaRPr>
                    </a:p>
                  </a:txBody>
                  <a:tcPr marL="73152" marR="73152" marT="73152" marB="73152"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2B1B5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Người phụ trách</a:t>
                      </a:r>
                      <a:endParaRPr lang="en-US" sz="1400" dirty="0">
                        <a:latin typeface="Calibri" charset="0"/>
                        <a:ea typeface="Calibri" charset="0"/>
                        <a:cs typeface="Calibri" charset="0"/>
                      </a:endParaRPr>
                    </a:p>
                  </a:txBody>
                  <a:tcPr marL="73152" marR="73152" marT="73152" marB="73152"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2B1B5A"/>
                    </a:solidFill>
                  </a:tcPr>
                </a:tc>
              </a:tr>
              <a:tr h="960120">
                <a:tc>
                  <a:txBody>
                    <a:bodyPr/>
                    <a:lstStyle/>
                    <a:p>
                      <a:pPr indent="0" marL="0">
                        <a:buNone/>
                      </a:pPr>
                      <a:r>
                        <a:rPr lang="en-US" sz="1400" b="1" dirty="0">
                          <a:solidFill>
                            <a:srgbClr val="2B1B5A"/>
                          </a:solidFill>
                          <a:latin typeface="Calibri" pitchFamily="34" charset="0"/>
                          <a:ea typeface="Calibri" pitchFamily="34" charset="-122"/>
                          <a:cs typeface="Calibri" pitchFamily="34" charset="-120"/>
                        </a:rPr>
                        <a:t>Thành viên 1</a:t>
                      </a:r>
                      <a:endParaRPr lang="en-US" sz="1400" dirty="0">
                        <a:latin typeface="Calibri" charset="0"/>
                        <a:ea typeface="Calibri" charset="0"/>
                        <a:cs typeface="Calibri" charset="0"/>
                      </a:endParaRPr>
                    </a:p>
                    <a:p>
                      <a:pPr indent="0" marL="0">
                        <a:buNone/>
                      </a:pPr>
                      <a:r>
                        <a:rPr lang="en-US" sz="1400" b="1" dirty="0">
                          <a:solidFill>
                            <a:srgbClr val="2B1B5A"/>
                          </a:solidFill>
                          <a:latin typeface="Calibri" pitchFamily="34" charset="0"/>
                          <a:ea typeface="Calibri" pitchFamily="34" charset="-122"/>
                          <a:cs typeface="Calibri" pitchFamily="34" charset="-120"/>
                        </a:rPr>
                        <a:t>Giao diện, tổng quan</a:t>
                      </a:r>
                      <a:endParaRPr lang="en-US" sz="1400" dirty="0">
                        <a:latin typeface="Calibri" charset="0"/>
                        <a:ea typeface="Calibri" charset="0"/>
                        <a:cs typeface="Calibri" charset="0"/>
                      </a:endParaRPr>
                    </a:p>
                  </a:txBody>
                  <a:tcPr marL="73152" marR="73152" marT="73152" marB="73152"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3F0FB"/>
                    </a:solidFill>
                  </a:tcPr>
                </a:tc>
                <a:tc>
                  <a:txBody>
                    <a:bodyPr/>
                    <a:lstStyle/>
                    <a:p>
                      <a:pPr indent="0" marL="0">
                        <a:buNone/>
                      </a:pPr>
                      <a:r>
                        <a:rPr lang="en-US" sz="1400" dirty="0">
                          <a:solidFill>
                            <a:srgbClr val="3A3550"/>
                          </a:solidFill>
                          <a:latin typeface="Calibri" pitchFamily="34" charset="0"/>
                          <a:ea typeface="Calibri" pitchFamily="34" charset="-122"/>
                          <a:cs typeface="Calibri" pitchFamily="34" charset="-120"/>
                        </a:rPr>
                        <a:t>Điều hướng, danh sách, trạng thái tải/trống/lỗi, thẻ tổng quan</a:t>
                      </a:r>
                      <a:endParaRPr lang="en-US" sz="1400" dirty="0">
                        <a:latin typeface="Calibri" charset="0"/>
                        <a:ea typeface="Calibri" charset="0"/>
                        <a:cs typeface="Calibri" charset="0"/>
                      </a:endParaRPr>
                    </a:p>
                  </a:txBody>
                  <a:tcPr marL="73152" marR="73152" marT="73152" marB="73152"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3F0FB"/>
                    </a:solidFill>
                  </a:tcPr>
                </a:tc>
                <a:tc>
                  <a:txBody>
                    <a:bodyPr/>
                    <a:lstStyle/>
                    <a:p>
                      <a:pPr indent="0" marL="0">
                        <a:buNone/>
                      </a:pPr>
                      <a:r>
                        <a:rPr lang="en-US" sz="1400" dirty="0">
                          <a:solidFill>
                            <a:srgbClr val="3A3550"/>
                          </a:solidFill>
                          <a:latin typeface="Calibri" pitchFamily="34" charset="0"/>
                          <a:ea typeface="Calibri" pitchFamily="34" charset="-122"/>
                          <a:cs typeface="Calibri" pitchFamily="34" charset="-120"/>
                        </a:rPr>
                        <a:t>Đi hết luồng chính trên thiết bị; đọc được trên màn hình nhỏ</a:t>
                      </a:r>
                      <a:endParaRPr lang="en-US" sz="1400" dirty="0">
                        <a:latin typeface="Calibri" charset="0"/>
                        <a:ea typeface="Calibri" charset="0"/>
                        <a:cs typeface="Calibri" charset="0"/>
                      </a:endParaRPr>
                    </a:p>
                  </a:txBody>
                  <a:tcPr marL="73152" marR="73152" marT="73152" marB="73152"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3F0FB"/>
                    </a:solidFill>
                  </a:tcPr>
                </a:tc>
                <a:tc>
                  <a:txBody>
                    <a:bodyPr/>
                    <a:lstStyle/>
                    <a:p>
                      <a:pPr indent="0" marL="0">
                        <a:buNone/>
                      </a:pPr>
                      <a:r>
                        <a:rPr lang="en-US" sz="1400" i="1" dirty="0">
                          <a:solidFill>
                            <a:srgbClr val="6E6888"/>
                          </a:solidFill>
                          <a:latin typeface="Calibri" pitchFamily="34" charset="0"/>
                          <a:ea typeface="Calibri" pitchFamily="34" charset="-122"/>
                          <a:cs typeface="Calibri" pitchFamily="34" charset="-120"/>
                        </a:rPr>
                        <a:t>Họ tên: …………</a:t>
                      </a:r>
                      <a:endParaRPr lang="en-US" sz="1400" dirty="0">
                        <a:latin typeface="Calibri" charset="0"/>
                        <a:ea typeface="Calibri" charset="0"/>
                        <a:cs typeface="Calibri" charset="0"/>
                      </a:endParaRPr>
                    </a:p>
                    <a:p>
                      <a:pPr indent="0" marL="0">
                        <a:buNone/>
                      </a:pPr>
                      <a:r>
                        <a:rPr lang="en-US" sz="1400" i="1" dirty="0">
                          <a:solidFill>
                            <a:srgbClr val="6E6888"/>
                          </a:solidFill>
                          <a:latin typeface="Calibri" pitchFamily="34" charset="0"/>
                          <a:ea typeface="Calibri" pitchFamily="34" charset="-122"/>
                          <a:cs typeface="Calibri" pitchFamily="34" charset="-120"/>
                        </a:rPr>
                        <a:t>MSSV: …………</a:t>
                      </a:r>
                      <a:endParaRPr lang="en-US" sz="1400" dirty="0">
                        <a:latin typeface="Calibri" charset="0"/>
                        <a:ea typeface="Calibri" charset="0"/>
                        <a:cs typeface="Calibri" charset="0"/>
                      </a:endParaRPr>
                    </a:p>
                  </a:txBody>
                  <a:tcPr marL="73152" marR="73152" marT="73152" marB="73152"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3F0FB"/>
                    </a:solidFill>
                  </a:tcPr>
                </a:tc>
              </a:tr>
              <a:tr h="960120">
                <a:tc>
                  <a:txBody>
                    <a:bodyPr/>
                    <a:lstStyle/>
                    <a:p>
                      <a:pPr indent="0" marL="0">
                        <a:buNone/>
                      </a:pPr>
                      <a:r>
                        <a:rPr lang="en-US" sz="1400" b="1" dirty="0">
                          <a:solidFill>
                            <a:srgbClr val="2B1B5A"/>
                          </a:solidFill>
                          <a:latin typeface="Calibri" pitchFamily="34" charset="0"/>
                          <a:ea typeface="Calibri" pitchFamily="34" charset="-122"/>
                          <a:cs typeface="Calibri" pitchFamily="34" charset="-120"/>
                        </a:rPr>
                        <a:t>Thành viên 2</a:t>
                      </a:r>
                      <a:endParaRPr lang="en-US" sz="1400" dirty="0">
                        <a:latin typeface="Calibri" charset="0"/>
                        <a:ea typeface="Calibri" charset="0"/>
                        <a:cs typeface="Calibri" charset="0"/>
                      </a:endParaRPr>
                    </a:p>
                    <a:p>
                      <a:pPr indent="0" marL="0">
                        <a:buNone/>
                      </a:pPr>
                      <a:r>
                        <a:rPr lang="en-US" sz="1400" b="1" dirty="0">
                          <a:solidFill>
                            <a:srgbClr val="2B1B5A"/>
                          </a:solidFill>
                          <a:latin typeface="Calibri" pitchFamily="34" charset="0"/>
                          <a:ea typeface="Calibri" pitchFamily="34" charset="-122"/>
                          <a:cs typeface="Calibri" pitchFamily="34" charset="-120"/>
                        </a:rPr>
                        <a:t>Quản lý gói</a:t>
                      </a:r>
                      <a:endParaRPr lang="en-US" sz="1400" dirty="0">
                        <a:latin typeface="Calibri" charset="0"/>
                        <a:ea typeface="Calibri" charset="0"/>
                        <a:cs typeface="Calibri" charset="0"/>
                      </a:endParaRPr>
                    </a:p>
                  </a:txBody>
                  <a:tcPr marL="73152" marR="73152" marT="73152" marB="73152"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FFFFF"/>
                    </a:solidFill>
                  </a:tcPr>
                </a:tc>
                <a:tc>
                  <a:txBody>
                    <a:bodyPr/>
                    <a:lstStyle/>
                    <a:p>
                      <a:pPr indent="0" marL="0">
                        <a:buNone/>
                      </a:pPr>
                      <a:r>
                        <a:rPr lang="en-US" sz="1400" dirty="0">
                          <a:solidFill>
                            <a:srgbClr val="3A3550"/>
                          </a:solidFill>
                          <a:latin typeface="Calibri" pitchFamily="34" charset="0"/>
                          <a:ea typeface="Calibri" pitchFamily="34" charset="-122"/>
                          <a:cs typeface="Calibri" pitchFamily="34" charset="-120"/>
                        </a:rPr>
                        <a:t>Form, CRUD, kiểm tra nhập, tìm kiếm/lọc/sắp xếp</a:t>
                      </a:r>
                      <a:endParaRPr lang="en-US" sz="1400" dirty="0">
                        <a:latin typeface="Calibri" charset="0"/>
                        <a:ea typeface="Calibri" charset="0"/>
                        <a:cs typeface="Calibri" charset="0"/>
                      </a:endParaRPr>
                    </a:p>
                  </a:txBody>
                  <a:tcPr marL="73152" marR="73152" marT="73152" marB="73152"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FFFFF"/>
                    </a:solidFill>
                  </a:tcPr>
                </a:tc>
                <a:tc>
                  <a:txBody>
                    <a:bodyPr/>
                    <a:lstStyle/>
                    <a:p>
                      <a:pPr indent="0" marL="0">
                        <a:buNone/>
                      </a:pPr>
                      <a:r>
                        <a:rPr lang="en-US" sz="1400" dirty="0">
                          <a:solidFill>
                            <a:srgbClr val="3A3550"/>
                          </a:solidFill>
                          <a:latin typeface="Calibri" pitchFamily="34" charset="0"/>
                          <a:ea typeface="Calibri" pitchFamily="34" charset="-122"/>
                          <a:cs typeface="Calibri" pitchFamily="34" charset="-120"/>
                        </a:rPr>
                        <a:t>Thêm/sửa/xóa và xử lý dữ liệu sai đúng kỳ vọng</a:t>
                      </a:r>
                      <a:endParaRPr lang="en-US" sz="1400" dirty="0">
                        <a:latin typeface="Calibri" charset="0"/>
                        <a:ea typeface="Calibri" charset="0"/>
                        <a:cs typeface="Calibri" charset="0"/>
                      </a:endParaRPr>
                    </a:p>
                  </a:txBody>
                  <a:tcPr marL="73152" marR="73152" marT="73152" marB="73152"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FFFFF"/>
                    </a:solidFill>
                  </a:tcPr>
                </a:tc>
                <a:tc>
                  <a:txBody>
                    <a:bodyPr/>
                    <a:lstStyle/>
                    <a:p>
                      <a:pPr indent="0" marL="0">
                        <a:buNone/>
                      </a:pPr>
                      <a:r>
                        <a:rPr lang="en-US" sz="1400" i="1" dirty="0">
                          <a:solidFill>
                            <a:srgbClr val="6E6888"/>
                          </a:solidFill>
                          <a:latin typeface="Calibri" pitchFamily="34" charset="0"/>
                          <a:ea typeface="Calibri" pitchFamily="34" charset="-122"/>
                          <a:cs typeface="Calibri" pitchFamily="34" charset="-120"/>
                        </a:rPr>
                        <a:t>Họ tên: …………</a:t>
                      </a:r>
                      <a:endParaRPr lang="en-US" sz="1400" dirty="0">
                        <a:latin typeface="Calibri" charset="0"/>
                        <a:ea typeface="Calibri" charset="0"/>
                        <a:cs typeface="Calibri" charset="0"/>
                      </a:endParaRPr>
                    </a:p>
                    <a:p>
                      <a:pPr indent="0" marL="0">
                        <a:buNone/>
                      </a:pPr>
                      <a:r>
                        <a:rPr lang="en-US" sz="1400" i="1" dirty="0">
                          <a:solidFill>
                            <a:srgbClr val="6E6888"/>
                          </a:solidFill>
                          <a:latin typeface="Calibri" pitchFamily="34" charset="0"/>
                          <a:ea typeface="Calibri" pitchFamily="34" charset="-122"/>
                          <a:cs typeface="Calibri" pitchFamily="34" charset="-120"/>
                        </a:rPr>
                        <a:t>MSSV: …………</a:t>
                      </a:r>
                      <a:endParaRPr lang="en-US" sz="1400" dirty="0">
                        <a:latin typeface="Calibri" charset="0"/>
                        <a:ea typeface="Calibri" charset="0"/>
                        <a:cs typeface="Calibri" charset="0"/>
                      </a:endParaRPr>
                    </a:p>
                  </a:txBody>
                  <a:tcPr marL="73152" marR="73152" marT="73152" marB="73152"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FFFFF"/>
                    </a:solidFill>
                  </a:tcPr>
                </a:tc>
              </a:tr>
              <a:tr h="960120">
                <a:tc>
                  <a:txBody>
                    <a:bodyPr/>
                    <a:lstStyle/>
                    <a:p>
                      <a:pPr indent="0" marL="0">
                        <a:buNone/>
                      </a:pPr>
                      <a:r>
                        <a:rPr lang="en-US" sz="1400" b="1" dirty="0">
                          <a:solidFill>
                            <a:srgbClr val="2B1B5A"/>
                          </a:solidFill>
                          <a:latin typeface="Calibri" pitchFamily="34" charset="0"/>
                          <a:ea typeface="Calibri" pitchFamily="34" charset="-122"/>
                          <a:cs typeface="Calibri" pitchFamily="34" charset="-120"/>
                        </a:rPr>
                        <a:t>Thành viên 3</a:t>
                      </a:r>
                      <a:endParaRPr lang="en-US" sz="1400" dirty="0">
                        <a:latin typeface="Calibri" charset="0"/>
                        <a:ea typeface="Calibri" charset="0"/>
                        <a:cs typeface="Calibri" charset="0"/>
                      </a:endParaRPr>
                    </a:p>
                    <a:p>
                      <a:pPr indent="0" marL="0">
                        <a:buNone/>
                      </a:pPr>
                      <a:r>
                        <a:rPr lang="en-US" sz="1400" b="1" dirty="0">
                          <a:solidFill>
                            <a:srgbClr val="2B1B5A"/>
                          </a:solidFill>
                          <a:latin typeface="Calibri" pitchFamily="34" charset="0"/>
                          <a:ea typeface="Calibri" pitchFamily="34" charset="-122"/>
                          <a:cs typeface="Calibri" pitchFamily="34" charset="-120"/>
                        </a:rPr>
                        <a:t>Dữ liệu</a:t>
                      </a:r>
                      <a:endParaRPr lang="en-US" sz="1400" dirty="0">
                        <a:latin typeface="Calibri" charset="0"/>
                        <a:ea typeface="Calibri" charset="0"/>
                        <a:cs typeface="Calibri" charset="0"/>
                      </a:endParaRPr>
                    </a:p>
                  </a:txBody>
                  <a:tcPr marL="73152" marR="73152" marT="73152" marB="73152"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3F0FB"/>
                    </a:solidFill>
                  </a:tcPr>
                </a:tc>
                <a:tc>
                  <a:txBody>
                    <a:bodyPr/>
                    <a:lstStyle/>
                    <a:p>
                      <a:pPr indent="0" marL="0">
                        <a:buNone/>
                      </a:pPr>
                      <a:r>
                        <a:rPr lang="en-US" sz="1400" dirty="0">
                          <a:solidFill>
                            <a:srgbClr val="3A3550"/>
                          </a:solidFill>
                          <a:latin typeface="Calibri" pitchFamily="34" charset="0"/>
                          <a:ea typeface="Calibri" pitchFamily="34" charset="-122"/>
                          <a:cs typeface="Calibri" pitchFamily="34" charset="-120"/>
                        </a:rPr>
                        <a:t>Schema, Repository, tag, cài đặt, xuất CSV</a:t>
                      </a:r>
                      <a:endParaRPr lang="en-US" sz="1400" dirty="0">
                        <a:latin typeface="Calibri" charset="0"/>
                        <a:ea typeface="Calibri" charset="0"/>
                        <a:cs typeface="Calibri" charset="0"/>
                      </a:endParaRPr>
                    </a:p>
                  </a:txBody>
                  <a:tcPr marL="73152" marR="73152" marT="73152" marB="73152"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3F0FB"/>
                    </a:solidFill>
                  </a:tcPr>
                </a:tc>
                <a:tc>
                  <a:txBody>
                    <a:bodyPr/>
                    <a:lstStyle/>
                    <a:p>
                      <a:pPr indent="0" marL="0">
                        <a:buNone/>
                      </a:pPr>
                      <a:r>
                        <a:rPr lang="en-US" sz="1400" dirty="0">
                          <a:solidFill>
                            <a:srgbClr val="3A3550"/>
                          </a:solidFill>
                          <a:latin typeface="Calibri" pitchFamily="34" charset="0"/>
                          <a:ea typeface="Calibri" pitchFamily="34" charset="-122"/>
                          <a:cs typeface="Calibri" pitchFamily="34" charset="-120"/>
                        </a:rPr>
                        <a:t>Dữ liệu còn sau khi mở lại; xóa liên kết tag đúng; CSV đọc được tiếng Việt</a:t>
                      </a:r>
                      <a:endParaRPr lang="en-US" sz="1400" dirty="0">
                        <a:latin typeface="Calibri" charset="0"/>
                        <a:ea typeface="Calibri" charset="0"/>
                        <a:cs typeface="Calibri" charset="0"/>
                      </a:endParaRPr>
                    </a:p>
                  </a:txBody>
                  <a:tcPr marL="73152" marR="73152" marT="73152" marB="73152"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3F0FB"/>
                    </a:solidFill>
                  </a:tcPr>
                </a:tc>
                <a:tc>
                  <a:txBody>
                    <a:bodyPr/>
                    <a:lstStyle/>
                    <a:p>
                      <a:pPr indent="0" marL="0">
                        <a:buNone/>
                      </a:pPr>
                      <a:r>
                        <a:rPr lang="en-US" sz="1400" i="1" dirty="0">
                          <a:solidFill>
                            <a:srgbClr val="6E6888"/>
                          </a:solidFill>
                          <a:latin typeface="Calibri" pitchFamily="34" charset="0"/>
                          <a:ea typeface="Calibri" pitchFamily="34" charset="-122"/>
                          <a:cs typeface="Calibri" pitchFamily="34" charset="-120"/>
                        </a:rPr>
                        <a:t>Họ tên: …………</a:t>
                      </a:r>
                      <a:endParaRPr lang="en-US" sz="1400" dirty="0">
                        <a:latin typeface="Calibri" charset="0"/>
                        <a:ea typeface="Calibri" charset="0"/>
                        <a:cs typeface="Calibri" charset="0"/>
                      </a:endParaRPr>
                    </a:p>
                    <a:p>
                      <a:pPr indent="0" marL="0">
                        <a:buNone/>
                      </a:pPr>
                      <a:r>
                        <a:rPr lang="en-US" sz="1400" i="1" dirty="0">
                          <a:solidFill>
                            <a:srgbClr val="6E6888"/>
                          </a:solidFill>
                          <a:latin typeface="Calibri" pitchFamily="34" charset="0"/>
                          <a:ea typeface="Calibri" pitchFamily="34" charset="-122"/>
                          <a:cs typeface="Calibri" pitchFamily="34" charset="-120"/>
                        </a:rPr>
                        <a:t>MSSV: …………</a:t>
                      </a:r>
                      <a:endParaRPr lang="en-US" sz="1400" dirty="0">
                        <a:latin typeface="Calibri" charset="0"/>
                        <a:ea typeface="Calibri" charset="0"/>
                        <a:cs typeface="Calibri" charset="0"/>
                      </a:endParaRPr>
                    </a:p>
                  </a:txBody>
                  <a:tcPr marL="73152" marR="73152" marT="73152" marB="73152"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3F0FB"/>
                    </a:solidFill>
                  </a:tcPr>
                </a:tc>
              </a:tr>
              <a:tr h="960120">
                <a:tc>
                  <a:txBody>
                    <a:bodyPr/>
                    <a:lstStyle/>
                    <a:p>
                      <a:pPr indent="0" marL="0">
                        <a:buNone/>
                      </a:pPr>
                      <a:r>
                        <a:rPr lang="en-US" sz="1400" b="1" dirty="0">
                          <a:solidFill>
                            <a:srgbClr val="2B1B5A"/>
                          </a:solidFill>
                          <a:latin typeface="Calibri" pitchFamily="34" charset="0"/>
                          <a:ea typeface="Calibri" pitchFamily="34" charset="-122"/>
                          <a:cs typeface="Calibri" pitchFamily="34" charset="-120"/>
                        </a:rPr>
                        <a:t>Thành viên 4</a:t>
                      </a:r>
                      <a:endParaRPr lang="en-US" sz="1400" dirty="0">
                        <a:latin typeface="Calibri" charset="0"/>
                        <a:ea typeface="Calibri" charset="0"/>
                        <a:cs typeface="Calibri" charset="0"/>
                      </a:endParaRPr>
                    </a:p>
                    <a:p>
                      <a:pPr indent="0" marL="0">
                        <a:buNone/>
                      </a:pPr>
                      <a:r>
                        <a:rPr lang="en-US" sz="1400" b="1" dirty="0">
                          <a:solidFill>
                            <a:srgbClr val="2B1B5A"/>
                          </a:solidFill>
                          <a:latin typeface="Calibri" pitchFamily="34" charset="0"/>
                          <a:ea typeface="Calibri" pitchFamily="34" charset="-122"/>
                          <a:cs typeface="Calibri" pitchFamily="34" charset="-120"/>
                        </a:rPr>
                        <a:t>Báo cáo, nhắc hạn</a:t>
                      </a:r>
                      <a:endParaRPr lang="en-US" sz="1400" dirty="0">
                        <a:latin typeface="Calibri" charset="0"/>
                        <a:ea typeface="Calibri" charset="0"/>
                        <a:cs typeface="Calibri" charset="0"/>
                      </a:endParaRPr>
                    </a:p>
                  </a:txBody>
                  <a:tcPr marL="73152" marR="73152" marT="73152" marB="73152"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FFFFF"/>
                    </a:solidFill>
                  </a:tcPr>
                </a:tc>
                <a:tc>
                  <a:txBody>
                    <a:bodyPr/>
                    <a:lstStyle/>
                    <a:p>
                      <a:pPr indent="0" marL="0">
                        <a:buNone/>
                      </a:pPr>
                      <a:r>
                        <a:rPr lang="en-US" sz="1400" dirty="0">
                          <a:solidFill>
                            <a:srgbClr val="3A3550"/>
                          </a:solidFill>
                          <a:latin typeface="Calibri" pitchFamily="34" charset="0"/>
                          <a:ea typeface="Calibri" pitchFamily="34" charset="-122"/>
                          <a:cs typeface="Calibri" pitchFamily="34" charset="-120"/>
                        </a:rPr>
                        <a:t>Công thức, biểu đồ, Worker, ca kiểm thử, kịch bản demo</a:t>
                      </a:r>
                      <a:endParaRPr lang="en-US" sz="1400" dirty="0">
                        <a:latin typeface="Calibri" charset="0"/>
                        <a:ea typeface="Calibri" charset="0"/>
                        <a:cs typeface="Calibri" charset="0"/>
                      </a:endParaRPr>
                    </a:p>
                  </a:txBody>
                  <a:tcPr marL="73152" marR="73152" marT="73152" marB="73152"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FFFFF"/>
                    </a:solidFill>
                  </a:tcPr>
                </a:tc>
                <a:tc>
                  <a:txBody>
                    <a:bodyPr/>
                    <a:lstStyle/>
                    <a:p>
                      <a:pPr indent="0" marL="0">
                        <a:buNone/>
                      </a:pPr>
                      <a:r>
                        <a:rPr lang="en-US" sz="1400" dirty="0">
                          <a:solidFill>
                            <a:srgbClr val="3A3550"/>
                          </a:solidFill>
                          <a:latin typeface="Calibri" pitchFamily="34" charset="0"/>
                          <a:ea typeface="Calibri" pitchFamily="34" charset="-122"/>
                          <a:cs typeface="Calibri" pitchFamily="34" charset="-120"/>
                        </a:rPr>
                        <a:t>Tổng tiền đúng theo chu kỳ/tiền tệ; kiểm tra quyền và tình huống nhắc hạn</a:t>
                      </a:r>
                      <a:endParaRPr lang="en-US" sz="1400" dirty="0">
                        <a:latin typeface="Calibri" charset="0"/>
                        <a:ea typeface="Calibri" charset="0"/>
                        <a:cs typeface="Calibri" charset="0"/>
                      </a:endParaRPr>
                    </a:p>
                  </a:txBody>
                  <a:tcPr marL="73152" marR="73152" marT="73152" marB="73152"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FFFFF"/>
                    </a:solidFill>
                  </a:tcPr>
                </a:tc>
                <a:tc>
                  <a:txBody>
                    <a:bodyPr/>
                    <a:lstStyle/>
                    <a:p>
                      <a:pPr indent="0" marL="0">
                        <a:buNone/>
                      </a:pPr>
                      <a:r>
                        <a:rPr lang="en-US" sz="1400" i="1" dirty="0">
                          <a:solidFill>
                            <a:srgbClr val="6E6888"/>
                          </a:solidFill>
                          <a:latin typeface="Calibri" pitchFamily="34" charset="0"/>
                          <a:ea typeface="Calibri" pitchFamily="34" charset="-122"/>
                          <a:cs typeface="Calibri" pitchFamily="34" charset="-120"/>
                        </a:rPr>
                        <a:t>Họ tên: …………</a:t>
                      </a:r>
                      <a:endParaRPr lang="en-US" sz="1400" dirty="0">
                        <a:latin typeface="Calibri" charset="0"/>
                        <a:ea typeface="Calibri" charset="0"/>
                        <a:cs typeface="Calibri" charset="0"/>
                      </a:endParaRPr>
                    </a:p>
                    <a:p>
                      <a:pPr indent="0" marL="0">
                        <a:buNone/>
                      </a:pPr>
                      <a:r>
                        <a:rPr lang="en-US" sz="1400" i="1" dirty="0">
                          <a:solidFill>
                            <a:srgbClr val="6E6888"/>
                          </a:solidFill>
                          <a:latin typeface="Calibri" pitchFamily="34" charset="0"/>
                          <a:ea typeface="Calibri" pitchFamily="34" charset="-122"/>
                          <a:cs typeface="Calibri" pitchFamily="34" charset="-120"/>
                        </a:rPr>
                        <a:t>MSSV: …………</a:t>
                      </a:r>
                      <a:endParaRPr lang="en-US" sz="1400" dirty="0">
                        <a:latin typeface="Calibri" charset="0"/>
                        <a:ea typeface="Calibri" charset="0"/>
                        <a:cs typeface="Calibri" charset="0"/>
                      </a:endParaRPr>
                    </a:p>
                  </a:txBody>
                  <a:tcPr marL="73152" marR="73152" marT="73152" marB="73152" anchor="ctr">
                    <a:lnL w="9525" cap="flat" cmpd="sng" algn="ctr">
                      <a:solidFill>
                        <a:srgbClr val="D9D4EC"/>
                      </a:solidFill>
                      <a:prstDash val="solid"/>
                      <a:round/>
                      <a:headEnd type="none" w="med" len="med"/>
                      <a:tailEnd type="none" w="med" len="med"/>
                    </a:lnL>
                    <a:lnR w="9525" cap="flat" cmpd="sng" algn="ctr">
                      <a:solidFill>
                        <a:srgbClr val="D9D4EC"/>
                      </a:solidFill>
                      <a:prstDash val="solid"/>
                      <a:round/>
                      <a:headEnd type="none" w="med" len="med"/>
                      <a:tailEnd type="none" w="med" len="med"/>
                    </a:lnR>
                    <a:lnT w="9525" cap="flat" cmpd="sng" algn="ctr">
                      <a:solidFill>
                        <a:srgbClr val="D9D4EC"/>
                      </a:solidFill>
                      <a:prstDash val="solid"/>
                      <a:round/>
                      <a:headEnd type="none" w="med" len="med"/>
                      <a:tailEnd type="none" w="med" len="med"/>
                    </a:lnT>
                    <a:lnB w="9525" cap="flat" cmpd="sng" algn="ctr">
                      <a:solidFill>
                        <a:srgbClr val="D9D4EC"/>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989320"/>
            <a:ext cx="10515600" cy="457200"/>
          </a:xfrm>
          <a:prstGeom prst="rect">
            <a:avLst/>
          </a:prstGeom>
          <a:noFill/>
          <a:ln/>
        </p:spPr>
        <p:txBody>
          <a:bodyPr wrap="square" lIns="0" tIns="0" rIns="0" bIns="0" rtlCol="0" anchor="t"/>
          <a:lstStyle/>
          <a:p>
            <a:pPr indent="0" marL="0">
              <a:buNone/>
            </a:pPr>
            <a:r>
              <a:rPr lang="en-US" sz="1200" i="1" dirty="0">
                <a:solidFill>
                  <a:srgbClr val="6E6888"/>
                </a:solidFill>
              </a:rPr>
              <a:t>Mã nguồn đã tồn tại; bảng này là trách nhiệm kiểm tra và hoàn thiện hiện tại, chưa gán tác giả cho từng module. Tên/MSSV do nhóm xác nhận.</a:t>
            </a:r>
            <a:endParaRPr lang="en-US" sz="12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E8AA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indent="0" marL="0">
              <a:buNone/>
            </a:pPr>
            <a:r>
              <a:rPr lang="en-US" sz="3600" b="1" dirty="0">
                <a:solidFill>
                  <a:schemeClr val="tx2"/>
                </a:solidFill>
              </a:rPr>
              <a:t>Kế hoạch thực hiện 4 tuần</a:t>
            </a:r>
            <a:endParaRPr lang="en-US" sz="3600" dirty="0"/>
          </a:p>
        </p:txBody>
      </p:sp>
      <p:sp>
        <p:nvSpPr>
          <p:cNvPr id="3" name="Text 1"/>
          <p:cNvSpPr txBox="1"/>
          <p:nvPr/>
        </p:nvSpPr>
        <p:spPr>
          <a:xfrm>
            <a:off x="548640" y="1188720"/>
            <a:ext cx="5486400" cy="365760"/>
          </a:xfrm>
          <a:prstGeom prst="rect">
            <a:avLst/>
          </a:prstGeom>
          <a:noFill/>
          <a:ln/>
        </p:spPr>
        <p:txBody>
          <a:bodyPr wrap="square" lIns="0" tIns="0" rIns="0" bIns="0" rtlCol="0" anchor="t"/>
          <a:lstStyle/>
          <a:p>
            <a:pPr indent="0" marL="0">
              <a:buNone/>
            </a:pPr>
            <a:r>
              <a:rPr lang="en-US" sz="1600" i="1" dirty="0">
                <a:solidFill>
                  <a:schemeClr val="accent6"/>
                </a:solidFill>
              </a:rPr>
              <a:t>Kế hoạch ban đầu</a:t>
            </a:r>
            <a:endParaRPr lang="en-US" sz="1600" dirty="0"/>
          </a:p>
        </p:txBody>
      </p:sp>
      <p:sp>
        <p:nvSpPr>
          <p:cNvPr id="4" name="Trục thời gian"/>
          <p:cNvSpPr/>
          <p:nvPr/>
        </p:nvSpPr>
        <p:spPr>
          <a:xfrm>
            <a:off x="1097280" y="2057400"/>
            <a:ext cx="9966960" cy="0"/>
          </a:xfrm>
          <a:prstGeom prst="line">
            <a:avLst/>
          </a:prstGeom>
          <a:noFill/>
          <a:ln w="38100">
            <a:solidFill>
              <a:srgbClr val="CFC8EC"/>
            </a:solidFill>
            <a:prstDash val="solid"/>
          </a:ln>
        </p:spPr>
      </p:sp>
      <p:sp>
        <p:nvSpPr>
          <p:cNvPr id="5" name="Tuần 1 mốc"/>
          <p:cNvSpPr/>
          <p:nvPr/>
        </p:nvSpPr>
        <p:spPr>
          <a:xfrm>
            <a:off x="1417320" y="1737360"/>
            <a:ext cx="640080" cy="640080"/>
          </a:xfrm>
          <a:prstGeom prst="ellipse">
            <a:avLst/>
          </a:prstGeom>
          <a:solidFill>
            <a:schemeClr val="accent1"/>
          </a:solidFill>
          <a:ln w="38100">
            <a:solidFill>
              <a:srgbClr val="FFFFFF"/>
            </a:solidFill>
            <a:prstDash val="solid"/>
          </a:ln>
        </p:spPr>
      </p:sp>
      <p:sp>
        <p:nvSpPr>
          <p:cNvPr id="6" name="Text 4"/>
          <p:cNvSpPr txBox="1"/>
          <p:nvPr/>
        </p:nvSpPr>
        <p:spPr>
          <a:xfrm>
            <a:off x="1417320" y="17373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hẻ Tuần 1"/>
          <p:cNvSpPr/>
          <p:nvPr/>
        </p:nvSpPr>
        <p:spPr>
          <a:xfrm>
            <a:off x="548640" y="2651760"/>
            <a:ext cx="2606040" cy="2514600"/>
          </a:xfrm>
          <a:prstGeom prst="roundRect">
            <a:avLst>
              <a:gd name="adj" fmla="val 4364"/>
            </a:avLst>
          </a:prstGeom>
          <a:solidFill>
            <a:schemeClr val="bg2"/>
          </a:solidFill>
          <a:ln/>
          <a:effectLst>
            <a:outerShdw sx="100000" sy="100000" kx="0" ky="0" algn="bl" rotWithShape="0" blurRad="101600" dist="25400" dir="5400000">
              <a:srgbClr val="2B1B5A">
                <a:alpha val="12000"/>
              </a:srgbClr>
            </a:outerShdw>
          </a:effectLst>
        </p:spPr>
      </p:sp>
      <p:sp>
        <p:nvSpPr>
          <p:cNvPr id="8" name="Text 6"/>
          <p:cNvSpPr txBox="1"/>
          <p:nvPr/>
        </p:nvSpPr>
        <p:spPr>
          <a:xfrm>
            <a:off x="822960" y="2834640"/>
            <a:ext cx="2103120" cy="320040"/>
          </a:xfrm>
          <a:prstGeom prst="rect">
            <a:avLst/>
          </a:prstGeom>
          <a:noFill/>
          <a:ln/>
        </p:spPr>
        <p:txBody>
          <a:bodyPr wrap="square" lIns="0" tIns="0" rIns="0" bIns="0" rtlCol="0" anchor="t"/>
          <a:lstStyle/>
          <a:p>
            <a:pPr indent="0" marL="0">
              <a:buNone/>
            </a:pPr>
            <a:r>
              <a:rPr lang="en-US" sz="1400" b="1" dirty="0">
                <a:solidFill>
                  <a:srgbClr val="6E6888"/>
                </a:solidFill>
              </a:rPr>
              <a:t>Tuần 1</a:t>
            </a:r>
            <a:endParaRPr lang="en-US" sz="1400" dirty="0"/>
          </a:p>
        </p:txBody>
      </p:sp>
      <p:sp>
        <p:nvSpPr>
          <p:cNvPr id="9" name="Text 7"/>
          <p:cNvSpPr txBox="1"/>
          <p:nvPr/>
        </p:nvSpPr>
        <p:spPr>
          <a:xfrm>
            <a:off x="822960" y="3154680"/>
            <a:ext cx="2103120" cy="731520"/>
          </a:xfrm>
          <a:prstGeom prst="rect">
            <a:avLst/>
          </a:prstGeom>
          <a:noFill/>
          <a:ln/>
        </p:spPr>
        <p:txBody>
          <a:bodyPr wrap="square" lIns="0" tIns="0" rIns="0" bIns="0" rtlCol="0" anchor="t"/>
          <a:lstStyle/>
          <a:p>
            <a:pPr indent="0" marL="0">
              <a:buNone/>
            </a:pPr>
            <a:r>
              <a:rPr lang="en-US" sz="1900" b="1" dirty="0">
                <a:solidFill>
                  <a:schemeClr val="tx2"/>
                </a:solidFill>
              </a:rPr>
              <a:t>Phân tích &amp; thiết kế</a:t>
            </a:r>
            <a:endParaRPr lang="en-US" sz="1900" dirty="0"/>
          </a:p>
        </p:txBody>
      </p:sp>
      <p:sp>
        <p:nvSpPr>
          <p:cNvPr id="10" name="Text 8"/>
          <p:cNvSpPr txBox="1"/>
          <p:nvPr/>
        </p:nvSpPr>
        <p:spPr>
          <a:xfrm>
            <a:off x="822960" y="3931920"/>
            <a:ext cx="2103120" cy="1143000"/>
          </a:xfrm>
          <a:prstGeom prst="rect">
            <a:avLst/>
          </a:prstGeom>
          <a:noFill/>
          <a:ln/>
        </p:spPr>
        <p:txBody>
          <a:bodyPr wrap="square" lIns="0" tIns="0" rIns="0" bIns="0" rtlCol="0" anchor="t"/>
          <a:lstStyle/>
          <a:p>
            <a:pPr indent="0" marL="0">
              <a:buNone/>
            </a:pPr>
            <a:r>
              <a:rPr lang="en-US" sz="1500" dirty="0">
                <a:solidFill>
                  <a:srgbClr val="4A4560"/>
                </a:solidFill>
              </a:rPr>
              <a:t>Chốt yêu cầu, Use Case, wireframe, ERD, tạo repo Git</a:t>
            </a:r>
            <a:endParaRPr lang="en-US" sz="1500" dirty="0"/>
          </a:p>
        </p:txBody>
      </p:sp>
      <p:sp>
        <p:nvSpPr>
          <p:cNvPr id="11" name="Tuần 2 mốc"/>
          <p:cNvSpPr/>
          <p:nvPr/>
        </p:nvSpPr>
        <p:spPr>
          <a:xfrm>
            <a:off x="4251960" y="1737360"/>
            <a:ext cx="640080" cy="640080"/>
          </a:xfrm>
          <a:prstGeom prst="ellipse">
            <a:avLst/>
          </a:prstGeom>
          <a:solidFill>
            <a:schemeClr val="accent2"/>
          </a:solidFill>
          <a:ln w="38100">
            <a:solidFill>
              <a:srgbClr val="FFFFFF"/>
            </a:solidFill>
            <a:prstDash val="solid"/>
          </a:ln>
        </p:spPr>
      </p:sp>
      <p:sp>
        <p:nvSpPr>
          <p:cNvPr id="12" name="Text 10"/>
          <p:cNvSpPr txBox="1"/>
          <p:nvPr/>
        </p:nvSpPr>
        <p:spPr>
          <a:xfrm>
            <a:off x="4251960" y="17373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3" name="Thẻ Tuần 2"/>
          <p:cNvSpPr/>
          <p:nvPr/>
        </p:nvSpPr>
        <p:spPr>
          <a:xfrm>
            <a:off x="3383280" y="2651760"/>
            <a:ext cx="2606040" cy="2514600"/>
          </a:xfrm>
          <a:prstGeom prst="roundRect">
            <a:avLst>
              <a:gd name="adj" fmla="val 4364"/>
            </a:avLst>
          </a:prstGeom>
          <a:solidFill>
            <a:schemeClr val="bg2"/>
          </a:solidFill>
          <a:ln/>
          <a:effectLst>
            <a:outerShdw sx="100000" sy="100000" kx="0" ky="0" algn="bl" rotWithShape="0" blurRad="101600" dist="25400" dir="5400000">
              <a:srgbClr val="2B1B5A">
                <a:alpha val="12000"/>
              </a:srgbClr>
            </a:outerShdw>
          </a:effectLst>
        </p:spPr>
      </p:sp>
      <p:sp>
        <p:nvSpPr>
          <p:cNvPr id="14" name="Text 12"/>
          <p:cNvSpPr txBox="1"/>
          <p:nvPr/>
        </p:nvSpPr>
        <p:spPr>
          <a:xfrm>
            <a:off x="3657600" y="2834640"/>
            <a:ext cx="2103120" cy="320040"/>
          </a:xfrm>
          <a:prstGeom prst="rect">
            <a:avLst/>
          </a:prstGeom>
          <a:noFill/>
          <a:ln/>
        </p:spPr>
        <p:txBody>
          <a:bodyPr wrap="square" lIns="0" tIns="0" rIns="0" bIns="0" rtlCol="0" anchor="t"/>
          <a:lstStyle/>
          <a:p>
            <a:pPr indent="0" marL="0">
              <a:buNone/>
            </a:pPr>
            <a:r>
              <a:rPr lang="en-US" sz="1400" b="1" dirty="0">
                <a:solidFill>
                  <a:srgbClr val="6E6888"/>
                </a:solidFill>
              </a:rPr>
              <a:t>Tuần 2</a:t>
            </a:r>
            <a:endParaRPr lang="en-US" sz="1400" dirty="0"/>
          </a:p>
        </p:txBody>
      </p:sp>
      <p:sp>
        <p:nvSpPr>
          <p:cNvPr id="15" name="Text 13"/>
          <p:cNvSpPr txBox="1"/>
          <p:nvPr/>
        </p:nvSpPr>
        <p:spPr>
          <a:xfrm>
            <a:off x="3657600" y="3154680"/>
            <a:ext cx="2103120" cy="731520"/>
          </a:xfrm>
          <a:prstGeom prst="rect">
            <a:avLst/>
          </a:prstGeom>
          <a:noFill/>
          <a:ln/>
        </p:spPr>
        <p:txBody>
          <a:bodyPr wrap="square" lIns="0" tIns="0" rIns="0" bIns="0" rtlCol="0" anchor="t"/>
          <a:lstStyle/>
          <a:p>
            <a:pPr indent="0" marL="0">
              <a:buNone/>
            </a:pPr>
            <a:r>
              <a:rPr lang="en-US" sz="1900" b="1" dirty="0">
                <a:solidFill>
                  <a:schemeClr val="tx2"/>
                </a:solidFill>
              </a:rPr>
              <a:t>Nền tảng &amp; CRUD</a:t>
            </a:r>
            <a:endParaRPr lang="en-US" sz="1900" dirty="0"/>
          </a:p>
        </p:txBody>
      </p:sp>
      <p:sp>
        <p:nvSpPr>
          <p:cNvPr id="16" name="Text 14"/>
          <p:cNvSpPr txBox="1"/>
          <p:nvPr/>
        </p:nvSpPr>
        <p:spPr>
          <a:xfrm>
            <a:off x="3657600" y="3931920"/>
            <a:ext cx="2103120" cy="1143000"/>
          </a:xfrm>
          <a:prstGeom prst="rect">
            <a:avLst/>
          </a:prstGeom>
          <a:noFill/>
          <a:ln/>
        </p:spPr>
        <p:txBody>
          <a:bodyPr wrap="square" lIns="0" tIns="0" rIns="0" bIns="0" rtlCol="0" anchor="t"/>
          <a:lstStyle/>
          <a:p>
            <a:pPr indent="0" marL="0">
              <a:buNone/>
            </a:pPr>
            <a:r>
              <a:rPr lang="en-US" sz="1500" dirty="0">
                <a:solidFill>
                  <a:srgbClr val="4A4560"/>
                </a:solidFill>
              </a:rPr>
              <a:t>Dựng giao diện Compose, database SQLite, CRUD, dữ liệu mẫu</a:t>
            </a:r>
            <a:endParaRPr lang="en-US" sz="1500" dirty="0"/>
          </a:p>
        </p:txBody>
      </p:sp>
      <p:sp>
        <p:nvSpPr>
          <p:cNvPr id="17" name="Tuần 3 mốc"/>
          <p:cNvSpPr/>
          <p:nvPr/>
        </p:nvSpPr>
        <p:spPr>
          <a:xfrm>
            <a:off x="7086600" y="1737360"/>
            <a:ext cx="640080" cy="640080"/>
          </a:xfrm>
          <a:prstGeom prst="ellipse">
            <a:avLst/>
          </a:prstGeom>
          <a:solidFill>
            <a:schemeClr val="accent3"/>
          </a:solidFill>
          <a:ln w="38100">
            <a:solidFill>
              <a:srgbClr val="FFFFFF"/>
            </a:solidFill>
            <a:prstDash val="solid"/>
          </a:ln>
        </p:spPr>
      </p:sp>
      <p:sp>
        <p:nvSpPr>
          <p:cNvPr id="18" name="Text 16"/>
          <p:cNvSpPr txBox="1"/>
          <p:nvPr/>
        </p:nvSpPr>
        <p:spPr>
          <a:xfrm>
            <a:off x="7086600" y="17373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9" name="Thẻ Tuần 3"/>
          <p:cNvSpPr/>
          <p:nvPr/>
        </p:nvSpPr>
        <p:spPr>
          <a:xfrm>
            <a:off x="6217920" y="2651760"/>
            <a:ext cx="2606040" cy="2514600"/>
          </a:xfrm>
          <a:prstGeom prst="roundRect">
            <a:avLst>
              <a:gd name="adj" fmla="val 4364"/>
            </a:avLst>
          </a:prstGeom>
          <a:solidFill>
            <a:schemeClr val="bg2"/>
          </a:solidFill>
          <a:ln/>
          <a:effectLst>
            <a:outerShdw sx="100000" sy="100000" kx="0" ky="0" algn="bl" rotWithShape="0" blurRad="101600" dist="25400" dir="5400000">
              <a:srgbClr val="2B1B5A">
                <a:alpha val="12000"/>
              </a:srgbClr>
            </a:outerShdw>
          </a:effectLst>
        </p:spPr>
      </p:sp>
      <p:sp>
        <p:nvSpPr>
          <p:cNvPr id="20" name="Text 18"/>
          <p:cNvSpPr txBox="1"/>
          <p:nvPr/>
        </p:nvSpPr>
        <p:spPr>
          <a:xfrm>
            <a:off x="6492240" y="2834640"/>
            <a:ext cx="2103120" cy="320040"/>
          </a:xfrm>
          <a:prstGeom prst="rect">
            <a:avLst/>
          </a:prstGeom>
          <a:noFill/>
          <a:ln/>
        </p:spPr>
        <p:txBody>
          <a:bodyPr wrap="square" lIns="0" tIns="0" rIns="0" bIns="0" rtlCol="0" anchor="t"/>
          <a:lstStyle/>
          <a:p>
            <a:pPr indent="0" marL="0">
              <a:buNone/>
            </a:pPr>
            <a:r>
              <a:rPr lang="en-US" sz="1400" b="1" dirty="0">
                <a:solidFill>
                  <a:srgbClr val="6E6888"/>
                </a:solidFill>
              </a:rPr>
              <a:t>Tuần 3</a:t>
            </a:r>
            <a:endParaRPr lang="en-US" sz="1400" dirty="0"/>
          </a:p>
        </p:txBody>
      </p:sp>
      <p:sp>
        <p:nvSpPr>
          <p:cNvPr id="21" name="Text 19"/>
          <p:cNvSpPr txBox="1"/>
          <p:nvPr/>
        </p:nvSpPr>
        <p:spPr>
          <a:xfrm>
            <a:off x="6492240" y="3154680"/>
            <a:ext cx="2103120" cy="731520"/>
          </a:xfrm>
          <a:prstGeom prst="rect">
            <a:avLst/>
          </a:prstGeom>
          <a:noFill/>
          <a:ln/>
        </p:spPr>
        <p:txBody>
          <a:bodyPr wrap="square" lIns="0" tIns="0" rIns="0" bIns="0" rtlCol="0" anchor="t"/>
          <a:lstStyle/>
          <a:p>
            <a:pPr indent="0" marL="0">
              <a:buNone/>
            </a:pPr>
            <a:r>
              <a:rPr lang="en-US" sz="1900" b="1" dirty="0">
                <a:solidFill>
                  <a:schemeClr val="tx2"/>
                </a:solidFill>
              </a:rPr>
              <a:t>Hoàn thiện tính năng</a:t>
            </a:r>
            <a:endParaRPr lang="en-US" sz="1900" dirty="0"/>
          </a:p>
        </p:txBody>
      </p:sp>
      <p:sp>
        <p:nvSpPr>
          <p:cNvPr id="22" name="Text 20"/>
          <p:cNvSpPr txBox="1"/>
          <p:nvPr/>
        </p:nvSpPr>
        <p:spPr>
          <a:xfrm>
            <a:off x="6492240" y="3931920"/>
            <a:ext cx="2103120" cy="1143000"/>
          </a:xfrm>
          <a:prstGeom prst="rect">
            <a:avLst/>
          </a:prstGeom>
          <a:noFill/>
          <a:ln/>
        </p:spPr>
        <p:txBody>
          <a:bodyPr wrap="square" lIns="0" tIns="0" rIns="0" bIns="0" rtlCol="0" anchor="t"/>
          <a:lstStyle/>
          <a:p>
            <a:pPr indent="0" marL="0">
              <a:buNone/>
            </a:pPr>
            <a:r>
              <a:rPr lang="en-US" sz="1500" dirty="0">
                <a:solidFill>
                  <a:srgbClr val="4A4560"/>
                </a:solidFill>
              </a:rPr>
              <a:t>Tổng quan, tìm kiếm/lọc, báo cáo, nhắc hạn; tích hợp</a:t>
            </a:r>
            <a:endParaRPr lang="en-US" sz="1500" dirty="0"/>
          </a:p>
        </p:txBody>
      </p:sp>
      <p:sp>
        <p:nvSpPr>
          <p:cNvPr id="23" name="Tuần 4 mốc"/>
          <p:cNvSpPr/>
          <p:nvPr/>
        </p:nvSpPr>
        <p:spPr>
          <a:xfrm>
            <a:off x="9921240" y="1737360"/>
            <a:ext cx="640080" cy="640080"/>
          </a:xfrm>
          <a:prstGeom prst="ellipse">
            <a:avLst/>
          </a:prstGeom>
          <a:solidFill>
            <a:schemeClr val="accent4"/>
          </a:solidFill>
          <a:ln w="38100">
            <a:solidFill>
              <a:srgbClr val="FFFFFF"/>
            </a:solidFill>
            <a:prstDash val="solid"/>
          </a:ln>
        </p:spPr>
      </p:sp>
      <p:sp>
        <p:nvSpPr>
          <p:cNvPr id="24" name="Text 22"/>
          <p:cNvSpPr txBox="1"/>
          <p:nvPr/>
        </p:nvSpPr>
        <p:spPr>
          <a:xfrm>
            <a:off x="9921240" y="17373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5" name="Thẻ Tuần 4"/>
          <p:cNvSpPr/>
          <p:nvPr/>
        </p:nvSpPr>
        <p:spPr>
          <a:xfrm>
            <a:off x="9052560" y="2651760"/>
            <a:ext cx="2606040" cy="2514600"/>
          </a:xfrm>
          <a:prstGeom prst="roundRect">
            <a:avLst>
              <a:gd name="adj" fmla="val 4364"/>
            </a:avLst>
          </a:prstGeom>
          <a:solidFill>
            <a:schemeClr val="bg2"/>
          </a:solidFill>
          <a:ln/>
          <a:effectLst>
            <a:outerShdw sx="100000" sy="100000" kx="0" ky="0" algn="bl" rotWithShape="0" blurRad="101600" dist="25400" dir="5400000">
              <a:srgbClr val="2B1B5A">
                <a:alpha val="12000"/>
              </a:srgbClr>
            </a:outerShdw>
          </a:effectLst>
        </p:spPr>
      </p:sp>
      <p:sp>
        <p:nvSpPr>
          <p:cNvPr id="26" name="Text 24"/>
          <p:cNvSpPr txBox="1"/>
          <p:nvPr/>
        </p:nvSpPr>
        <p:spPr>
          <a:xfrm>
            <a:off x="9326880" y="2834640"/>
            <a:ext cx="2103120" cy="320040"/>
          </a:xfrm>
          <a:prstGeom prst="rect">
            <a:avLst/>
          </a:prstGeom>
          <a:noFill/>
          <a:ln/>
        </p:spPr>
        <p:txBody>
          <a:bodyPr wrap="square" lIns="0" tIns="0" rIns="0" bIns="0" rtlCol="0" anchor="t"/>
          <a:lstStyle/>
          <a:p>
            <a:pPr indent="0" marL="0">
              <a:buNone/>
            </a:pPr>
            <a:r>
              <a:rPr lang="en-US" sz="1400" b="1" dirty="0">
                <a:solidFill>
                  <a:srgbClr val="6E6888"/>
                </a:solidFill>
              </a:rPr>
              <a:t>Tuần 4</a:t>
            </a:r>
            <a:endParaRPr lang="en-US" sz="1400" dirty="0"/>
          </a:p>
        </p:txBody>
      </p:sp>
      <p:sp>
        <p:nvSpPr>
          <p:cNvPr id="27" name="Text 25"/>
          <p:cNvSpPr txBox="1"/>
          <p:nvPr/>
        </p:nvSpPr>
        <p:spPr>
          <a:xfrm>
            <a:off x="9326880" y="3154680"/>
            <a:ext cx="2103120" cy="731520"/>
          </a:xfrm>
          <a:prstGeom prst="rect">
            <a:avLst/>
          </a:prstGeom>
          <a:noFill/>
          <a:ln/>
        </p:spPr>
        <p:txBody>
          <a:bodyPr wrap="square" lIns="0" tIns="0" rIns="0" bIns="0" rtlCol="0" anchor="t"/>
          <a:lstStyle/>
          <a:p>
            <a:pPr indent="0" marL="0">
              <a:buNone/>
            </a:pPr>
            <a:r>
              <a:rPr lang="en-US" sz="1900" b="1" dirty="0">
                <a:solidFill>
                  <a:schemeClr val="tx2"/>
                </a:solidFill>
              </a:rPr>
              <a:t>Kiểm thử &amp; báo cáo</a:t>
            </a:r>
            <a:endParaRPr lang="en-US" sz="1900" dirty="0"/>
          </a:p>
        </p:txBody>
      </p:sp>
      <p:sp>
        <p:nvSpPr>
          <p:cNvPr id="28" name="Text 26"/>
          <p:cNvSpPr txBox="1"/>
          <p:nvPr/>
        </p:nvSpPr>
        <p:spPr>
          <a:xfrm>
            <a:off x="9326880" y="3931920"/>
            <a:ext cx="2103120" cy="1143000"/>
          </a:xfrm>
          <a:prstGeom prst="rect">
            <a:avLst/>
          </a:prstGeom>
          <a:noFill/>
          <a:ln/>
        </p:spPr>
        <p:txBody>
          <a:bodyPr wrap="square" lIns="0" tIns="0" rIns="0" bIns="0" rtlCol="0" anchor="t"/>
          <a:lstStyle/>
          <a:p>
            <a:pPr indent="0" marL="0">
              <a:buNone/>
            </a:pPr>
            <a:r>
              <a:rPr lang="en-US" sz="1500" dirty="0">
                <a:solidFill>
                  <a:srgbClr val="4A4560"/>
                </a:solidFill>
              </a:rPr>
              <a:t>Chạy thử thiết bị, sửa lỗi, hoàn thiện UI, báo cáo, demo</a:t>
            </a:r>
            <a:endParaRPr lang="en-US" sz="1500" dirty="0"/>
          </a:p>
        </p:txBody>
      </p:sp>
      <p:sp>
        <p:nvSpPr>
          <p:cNvPr id="29" name="Hiện trạng"/>
          <p:cNvSpPr/>
          <p:nvPr/>
        </p:nvSpPr>
        <p:spPr>
          <a:xfrm>
            <a:off x="548640" y="5349240"/>
            <a:ext cx="11018520" cy="868680"/>
          </a:xfrm>
          <a:prstGeom prst="roundRect">
            <a:avLst>
              <a:gd name="adj" fmla="val 12632"/>
            </a:avLst>
          </a:prstGeom>
          <a:solidFill>
            <a:schemeClr val="tx2"/>
          </a:solidFill>
          <a:ln/>
          <a:effectLst>
            <a:outerShdw sx="100000" sy="100000" kx="0" ky="0" algn="bl" rotWithShape="0" blurRad="101600" dist="25400" dir="5400000">
              <a:srgbClr val="2B1B5A">
                <a:alpha val="12000"/>
              </a:srgbClr>
            </a:outerShdw>
          </a:effectLst>
        </p:spPr>
      </p:sp>
      <p:sp>
        <p:nvSpPr>
          <p:cNvPr id="30" name="Text 28"/>
          <p:cNvSpPr txBox="1"/>
          <p:nvPr/>
        </p:nvSpPr>
        <p:spPr>
          <a:xfrm>
            <a:off x="822960" y="5349240"/>
            <a:ext cx="10515600" cy="868680"/>
          </a:xfrm>
          <a:prstGeom prst="rect">
            <a:avLst/>
          </a:prstGeom>
          <a:noFill/>
          <a:ln/>
        </p:spPr>
        <p:txBody>
          <a:bodyPr wrap="square" lIns="0" tIns="0" rIns="0" bIns="0" rtlCol="0" anchor="ctr"/>
          <a:lstStyle/>
          <a:p>
            <a:pPr indent="0" marL="0">
              <a:buNone/>
            </a:pPr>
            <a:r>
              <a:rPr lang="en-US" sz="1500" b="1" dirty="0">
                <a:solidFill>
                  <a:srgbClr val="FFD166"/>
                </a:solidFill>
              </a:rPr>
              <a:t>Hiện trạng: </a:t>
            </a:r>
            <a:pPr indent="0" marL="0">
              <a:buNone/>
            </a:pPr>
            <a:r>
              <a:rPr lang="en-US" sz="1500" dirty="0">
                <a:solidFill>
                  <a:schemeClr val="bg1"/>
                </a:solidFill>
              </a:rPr>
              <a:t>đã có mã triển khai chức năng cốt lõi và một số mở rộng. Tiếp theo: chạy thử thiết bị, xử lý lỗi, đồng bộ tài liệu, chuẩn bị demo.</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E8AA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indent="0" marL="0">
              <a:buNone/>
            </a:pPr>
            <a:r>
              <a:rPr lang="en-US" sz="3600" b="1" dirty="0">
                <a:solidFill>
                  <a:schemeClr val="tx2"/>
                </a:solidFill>
              </a:rPr>
              <a:t>Công việc còn lại trước nghiệm thu</a:t>
            </a:r>
            <a:endParaRPr lang="en-US" sz="3600" dirty="0"/>
          </a:p>
        </p:txBody>
      </p:sp>
      <p:sp>
        <p:nvSpPr>
          <p:cNvPr id="3" name="Việc 1 circle"/>
          <p:cNvSpPr/>
          <p:nvPr/>
        </p:nvSpPr>
        <p:spPr>
          <a:xfrm>
            <a:off x="548640" y="1417320"/>
            <a:ext cx="566928" cy="566928"/>
          </a:xfrm>
          <a:prstGeom prst="ellipse">
            <a:avLst/>
          </a:prstGeom>
          <a:solidFill>
            <a:schemeClr val="accent1"/>
          </a:solidFill>
          <a:ln/>
        </p:spPr>
      </p:sp>
      <p:pic>
        <p:nvPicPr>
          <p:cNvPr id="4" name="Việc 1 icon" descr="Việc 1">    </p:cNvPr>
          <p:cNvPicPr>
            <a:picLocks noChangeAspect="1"/>
          </p:cNvPicPr>
          <p:nvPr/>
        </p:nvPicPr>
        <p:blipFill>
          <a:blip r:embed="rId1"/>
          <a:stretch>
            <a:fillRect/>
          </a:stretch>
        </p:blipFill>
        <p:spPr>
          <a:xfrm>
            <a:off x="696041" y="1564721"/>
            <a:ext cx="272125" cy="272125"/>
          </a:xfrm>
          <a:prstGeom prst="rect">
            <a:avLst/>
          </a:prstGeom>
        </p:spPr>
      </p:pic>
      <p:sp>
        <p:nvSpPr>
          <p:cNvPr id="5" name="Text 2"/>
          <p:cNvSpPr txBox="1"/>
          <p:nvPr/>
        </p:nvSpPr>
        <p:spPr>
          <a:xfrm>
            <a:off x="1325880" y="1417320"/>
            <a:ext cx="4846320" cy="566928"/>
          </a:xfrm>
          <a:prstGeom prst="rect">
            <a:avLst/>
          </a:prstGeom>
          <a:noFill/>
          <a:ln/>
        </p:spPr>
        <p:txBody>
          <a:bodyPr wrap="square" lIns="0" tIns="0" rIns="0" bIns="0" rtlCol="0" anchor="ctr"/>
          <a:lstStyle/>
          <a:p>
            <a:pPr indent="0" marL="0">
              <a:buNone/>
            </a:pPr>
            <a:r>
              <a:rPr lang="en-US" sz="1600" dirty="0">
                <a:solidFill>
                  <a:schemeClr val="tx2"/>
                </a:solidFill>
              </a:rPr>
              <a:t>Chạy thử toàn bộ luồng trên máy thật hoặc máy ảo</a:t>
            </a:r>
            <a:endParaRPr lang="en-US" sz="1600" dirty="0"/>
          </a:p>
        </p:txBody>
      </p:sp>
      <p:sp>
        <p:nvSpPr>
          <p:cNvPr id="6" name="Việc 2 circle"/>
          <p:cNvSpPr/>
          <p:nvPr/>
        </p:nvSpPr>
        <p:spPr>
          <a:xfrm>
            <a:off x="548640" y="2350008"/>
            <a:ext cx="566928" cy="566928"/>
          </a:xfrm>
          <a:prstGeom prst="ellipse">
            <a:avLst/>
          </a:prstGeom>
          <a:solidFill>
            <a:schemeClr val="accent2"/>
          </a:solidFill>
          <a:ln/>
        </p:spPr>
      </p:sp>
      <p:pic>
        <p:nvPicPr>
          <p:cNvPr id="7" name="Việc 2 icon" descr="Việc 2">    </p:cNvPr>
          <p:cNvPicPr>
            <a:picLocks noChangeAspect="1"/>
          </p:cNvPicPr>
          <p:nvPr/>
        </p:nvPicPr>
        <p:blipFill>
          <a:blip r:embed="rId2"/>
          <a:stretch>
            <a:fillRect/>
          </a:stretch>
        </p:blipFill>
        <p:spPr>
          <a:xfrm>
            <a:off x="696041" y="2497409"/>
            <a:ext cx="272125" cy="272125"/>
          </a:xfrm>
          <a:prstGeom prst="rect">
            <a:avLst/>
          </a:prstGeom>
        </p:spPr>
      </p:pic>
      <p:sp>
        <p:nvSpPr>
          <p:cNvPr id="8" name="Text 4"/>
          <p:cNvSpPr txBox="1"/>
          <p:nvPr/>
        </p:nvSpPr>
        <p:spPr>
          <a:xfrm>
            <a:off x="1325880" y="2350008"/>
            <a:ext cx="4846320" cy="566928"/>
          </a:xfrm>
          <a:prstGeom prst="rect">
            <a:avLst/>
          </a:prstGeom>
          <a:noFill/>
          <a:ln/>
        </p:spPr>
        <p:txBody>
          <a:bodyPr wrap="square" lIns="0" tIns="0" rIns="0" bIns="0" rtlCol="0" anchor="ctr"/>
          <a:lstStyle/>
          <a:p>
            <a:pPr indent="0" marL="0">
              <a:buNone/>
            </a:pPr>
            <a:r>
              <a:rPr lang="en-US" sz="1600" dirty="0">
                <a:solidFill>
                  <a:schemeClr val="tx2"/>
                </a:solidFill>
              </a:rPr>
              <a:t>Kiểm tra quyền và nhận thông báo; từ chối rồi cấp lại quyền</a:t>
            </a:r>
            <a:endParaRPr lang="en-US" sz="1600" dirty="0"/>
          </a:p>
        </p:txBody>
      </p:sp>
      <p:sp>
        <p:nvSpPr>
          <p:cNvPr id="9" name="Việc 3 circle"/>
          <p:cNvSpPr/>
          <p:nvPr/>
        </p:nvSpPr>
        <p:spPr>
          <a:xfrm>
            <a:off x="548640" y="3282696"/>
            <a:ext cx="566928" cy="566928"/>
          </a:xfrm>
          <a:prstGeom prst="ellipse">
            <a:avLst/>
          </a:prstGeom>
          <a:solidFill>
            <a:schemeClr val="accent3"/>
          </a:solidFill>
          <a:ln/>
        </p:spPr>
      </p:sp>
      <p:pic>
        <p:nvPicPr>
          <p:cNvPr id="10" name="Việc 3 icon" descr="Việc 3">    </p:cNvPr>
          <p:cNvPicPr>
            <a:picLocks noChangeAspect="1"/>
          </p:cNvPicPr>
          <p:nvPr/>
        </p:nvPicPr>
        <p:blipFill>
          <a:blip r:embed="rId3"/>
          <a:stretch>
            <a:fillRect/>
          </a:stretch>
        </p:blipFill>
        <p:spPr>
          <a:xfrm>
            <a:off x="696041" y="3430097"/>
            <a:ext cx="272125" cy="272125"/>
          </a:xfrm>
          <a:prstGeom prst="rect">
            <a:avLst/>
          </a:prstGeom>
        </p:spPr>
      </p:pic>
      <p:sp>
        <p:nvSpPr>
          <p:cNvPr id="11" name="Text 6"/>
          <p:cNvSpPr txBox="1"/>
          <p:nvPr/>
        </p:nvSpPr>
        <p:spPr>
          <a:xfrm>
            <a:off x="1325880" y="3282696"/>
            <a:ext cx="4846320" cy="566928"/>
          </a:xfrm>
          <a:prstGeom prst="rect">
            <a:avLst/>
          </a:prstGeom>
          <a:noFill/>
          <a:ln/>
        </p:spPr>
        <p:txBody>
          <a:bodyPr wrap="square" lIns="0" tIns="0" rIns="0" bIns="0" rtlCol="0" anchor="ctr"/>
          <a:lstStyle/>
          <a:p>
            <a:pPr indent="0" marL="0">
              <a:buNone/>
            </a:pPr>
            <a:r>
              <a:rPr lang="en-US" sz="1600" dirty="0">
                <a:solidFill>
                  <a:schemeClr val="tx2"/>
                </a:solidFill>
              </a:rPr>
              <a:t>Kiểm tra Lịch, xuất CSV, chia sẻ, dữ liệu sau khi đóng/mở app</a:t>
            </a:r>
            <a:endParaRPr lang="en-US" sz="1600" dirty="0"/>
          </a:p>
        </p:txBody>
      </p:sp>
      <p:sp>
        <p:nvSpPr>
          <p:cNvPr id="12" name="Việc 4 circle"/>
          <p:cNvSpPr/>
          <p:nvPr/>
        </p:nvSpPr>
        <p:spPr>
          <a:xfrm>
            <a:off x="548640" y="4215384"/>
            <a:ext cx="566928" cy="566928"/>
          </a:xfrm>
          <a:prstGeom prst="ellipse">
            <a:avLst/>
          </a:prstGeom>
          <a:solidFill>
            <a:schemeClr val="accent4"/>
          </a:solidFill>
          <a:ln/>
        </p:spPr>
      </p:sp>
      <p:pic>
        <p:nvPicPr>
          <p:cNvPr id="13" name="Việc 4 icon" descr="Việc 4">    </p:cNvPr>
          <p:cNvPicPr>
            <a:picLocks noChangeAspect="1"/>
          </p:cNvPicPr>
          <p:nvPr/>
        </p:nvPicPr>
        <p:blipFill>
          <a:blip r:embed="rId4"/>
          <a:stretch>
            <a:fillRect/>
          </a:stretch>
        </p:blipFill>
        <p:spPr>
          <a:xfrm>
            <a:off x="696041" y="4362785"/>
            <a:ext cx="272125" cy="272125"/>
          </a:xfrm>
          <a:prstGeom prst="rect">
            <a:avLst/>
          </a:prstGeom>
        </p:spPr>
      </p:pic>
      <p:sp>
        <p:nvSpPr>
          <p:cNvPr id="14" name="Text 8"/>
          <p:cNvSpPr txBox="1"/>
          <p:nvPr/>
        </p:nvSpPr>
        <p:spPr>
          <a:xfrm>
            <a:off x="1325880" y="4215384"/>
            <a:ext cx="4846320" cy="566928"/>
          </a:xfrm>
          <a:prstGeom prst="rect">
            <a:avLst/>
          </a:prstGeom>
          <a:noFill/>
          <a:ln/>
        </p:spPr>
        <p:txBody>
          <a:bodyPr wrap="square" lIns="0" tIns="0" rIns="0" bIns="0" rtlCol="0" anchor="ctr"/>
          <a:lstStyle/>
          <a:p>
            <a:pPr indent="0" marL="0">
              <a:buNone/>
            </a:pPr>
            <a:r>
              <a:rPr lang="en-US" sz="1600" dirty="0">
                <a:solidFill>
                  <a:schemeClr val="tx2"/>
                </a:solidFill>
              </a:rPr>
              <a:t>Hoàn thiện tên thành viên và phân công</a:t>
            </a:r>
            <a:endParaRPr lang="en-US" sz="1600" dirty="0"/>
          </a:p>
        </p:txBody>
      </p:sp>
      <p:sp>
        <p:nvSpPr>
          <p:cNvPr id="15" name="Việc 5 circle"/>
          <p:cNvSpPr/>
          <p:nvPr/>
        </p:nvSpPr>
        <p:spPr>
          <a:xfrm>
            <a:off x="548640" y="5148072"/>
            <a:ext cx="566928" cy="566928"/>
          </a:xfrm>
          <a:prstGeom prst="ellipse">
            <a:avLst/>
          </a:prstGeom>
          <a:solidFill>
            <a:schemeClr val="accent5"/>
          </a:solidFill>
          <a:ln/>
        </p:spPr>
      </p:sp>
      <p:pic>
        <p:nvPicPr>
          <p:cNvPr id="16" name="Việc 5 icon" descr="Việc 5">    </p:cNvPr>
          <p:cNvPicPr>
            <a:picLocks noChangeAspect="1"/>
          </p:cNvPicPr>
          <p:nvPr/>
        </p:nvPicPr>
        <p:blipFill>
          <a:blip r:embed="rId5"/>
          <a:stretch>
            <a:fillRect/>
          </a:stretch>
        </p:blipFill>
        <p:spPr>
          <a:xfrm>
            <a:off x="696041" y="5295473"/>
            <a:ext cx="272125" cy="272125"/>
          </a:xfrm>
          <a:prstGeom prst="rect">
            <a:avLst/>
          </a:prstGeom>
        </p:spPr>
      </p:pic>
      <p:sp>
        <p:nvSpPr>
          <p:cNvPr id="17" name="Text 10"/>
          <p:cNvSpPr txBox="1"/>
          <p:nvPr/>
        </p:nvSpPr>
        <p:spPr>
          <a:xfrm>
            <a:off x="1325880" y="5148072"/>
            <a:ext cx="4846320" cy="566928"/>
          </a:xfrm>
          <a:prstGeom prst="rect">
            <a:avLst/>
          </a:prstGeom>
          <a:noFill/>
          <a:ln/>
        </p:spPr>
        <p:txBody>
          <a:bodyPr wrap="square" lIns="0" tIns="0" rIns="0" bIns="0" rtlCol="0" anchor="ctr"/>
          <a:lstStyle/>
          <a:p>
            <a:pPr indent="0" marL="0">
              <a:buNone/>
            </a:pPr>
            <a:r>
              <a:rPr lang="en-US" sz="1600" dirty="0">
                <a:solidFill>
                  <a:schemeClr val="tx2"/>
                </a:solidFill>
              </a:rPr>
              <a:t>Ghi kết quả kiểm thử thực tế, chuẩn bị dữ liệu mẫu và kịch bản demo</a:t>
            </a:r>
            <a:endParaRPr lang="en-US" sz="1600" dirty="0"/>
          </a:p>
        </p:txBody>
      </p:sp>
      <p:sp>
        <p:nvSpPr>
          <p:cNvPr id="18" name="Giới hạn cần nói rõ"/>
          <p:cNvSpPr/>
          <p:nvPr/>
        </p:nvSpPr>
        <p:spPr>
          <a:xfrm>
            <a:off x="6583680" y="1371600"/>
            <a:ext cx="4983480" cy="4754880"/>
          </a:xfrm>
          <a:prstGeom prst="roundRect">
            <a:avLst>
              <a:gd name="adj" fmla="val 2308"/>
            </a:avLst>
          </a:prstGeom>
          <a:solidFill>
            <a:srgbClr val="FFF6D6"/>
          </a:solidFill>
          <a:ln/>
          <a:effectLst>
            <a:outerShdw sx="100000" sy="100000" kx="0" ky="0" algn="bl" rotWithShape="0" blurRad="101600" dist="25400" dir="5400000">
              <a:srgbClr val="2B1B5A">
                <a:alpha val="12000"/>
              </a:srgbClr>
            </a:outerShdw>
          </a:effectLst>
        </p:spPr>
      </p:sp>
      <p:sp>
        <p:nvSpPr>
          <p:cNvPr id="19" name="Text 12"/>
          <p:cNvSpPr txBox="1"/>
          <p:nvPr/>
        </p:nvSpPr>
        <p:spPr>
          <a:xfrm>
            <a:off x="6858000" y="1554480"/>
            <a:ext cx="4480560" cy="411480"/>
          </a:xfrm>
          <a:prstGeom prst="rect">
            <a:avLst/>
          </a:prstGeom>
          <a:noFill/>
          <a:ln/>
        </p:spPr>
        <p:txBody>
          <a:bodyPr wrap="square" lIns="0" tIns="0" rIns="0" bIns="0" rtlCol="0" anchor="t"/>
          <a:lstStyle/>
          <a:p>
            <a:pPr indent="0" marL="0">
              <a:buNone/>
            </a:pPr>
            <a:r>
              <a:rPr lang="en-US" sz="1800" b="1" dirty="0">
                <a:solidFill>
                  <a:srgbClr val="6B4E00"/>
                </a:solidFill>
              </a:rPr>
              <a:t>Giới hạn cần nói rõ</a:t>
            </a:r>
            <a:endParaRPr lang="en-US" sz="1800" dirty="0"/>
          </a:p>
        </p:txBody>
      </p:sp>
      <p:sp>
        <p:nvSpPr>
          <p:cNvPr id="20" name="Text 13"/>
          <p:cNvSpPr txBox="1"/>
          <p:nvPr/>
        </p:nvSpPr>
        <p:spPr>
          <a:xfrm>
            <a:off x="6858000" y="2103120"/>
            <a:ext cx="4526280" cy="3840480"/>
          </a:xfrm>
          <a:prstGeom prst="rect">
            <a:avLst/>
          </a:prstGeom>
          <a:noFill/>
          <a:ln/>
        </p:spPr>
        <p:txBody>
          <a:bodyPr wrap="square" lIns="0" tIns="0" rIns="0" bIns="0" rtlCol="0" anchor="t"/>
          <a:lstStyle/>
          <a:p>
            <a:pPr marL="342900" indent="-342900">
              <a:spcAft>
                <a:spcPts val="1400"/>
              </a:spcAft>
              <a:buSzPct val="100000"/>
              <a:buChar char="•"/>
            </a:pPr>
            <a:r>
              <a:rPr lang="en-US" sz="1700" dirty="0">
                <a:solidFill>
                  <a:srgbClr val="5A4300"/>
                </a:solidFill>
              </a:rPr>
              <a:t>Nhắc hạn: kiểm tra định kỳ, không đúng giờ cố định; phụ thuộc quyền thông báo</a:t>
            </a:r>
            <a:endParaRPr lang="en-US" sz="1700" dirty="0"/>
          </a:p>
          <a:p>
            <a:pPr marL="342900" indent="-342900">
              <a:spcAft>
                <a:spcPts val="1400"/>
              </a:spcAft>
              <a:buSzPct val="100000"/>
              <a:buChar char="•"/>
            </a:pPr>
            <a:r>
              <a:rPr lang="en-US" sz="1700" dirty="0">
                <a:solidFill>
                  <a:srgbClr val="5A4300"/>
                </a:solidFill>
              </a:rPr>
              <a:t>Dữ liệu: SQLite trên máy, chưa có tài khoản hay khôi phục bằng file</a:t>
            </a:r>
            <a:endParaRPr lang="en-US" sz="1700" dirty="0"/>
          </a:p>
          <a:p>
            <a:pPr marL="342900" indent="-342900">
              <a:spcAft>
                <a:spcPts val="1400"/>
              </a:spcAft>
              <a:buSzPct val="100000"/>
              <a:buChar char="•"/>
            </a:pPr>
            <a:r>
              <a:rPr lang="en-US" sz="1700" dirty="0">
                <a:solidFill>
                  <a:srgbClr val="5A4300"/>
                </a:solidFill>
              </a:rPr>
              <a:t>Báo cáo: chi phí tương đương theo chu kỳ, không phải lịch sử thanh toán</a:t>
            </a:r>
            <a:endParaRPr lang="en-US" sz="1700" dirty="0"/>
          </a:p>
          <a:p>
            <a:pPr marL="342900" indent="-342900">
              <a:spcAft>
                <a:spcPts val="1400"/>
              </a:spcAft>
              <a:buSzPct val="100000"/>
              <a:buChar char="•"/>
            </a:pPr>
            <a:r>
              <a:rPr lang="en-US" sz="1700" dirty="0">
                <a:solidFill>
                  <a:srgbClr val="5A4300"/>
                </a:solidFill>
              </a:rPr>
              <a:t>Hủy gói: trạng thái trong app không hủy dịch vụ thật</a:t>
            </a:r>
            <a:endParaRPr lang="en-US" sz="1700" dirty="0"/>
          </a:p>
          <a:p>
            <a:pPr marL="342900" indent="-342900">
              <a:spcAft>
                <a:spcPts val="1400"/>
              </a:spcAft>
              <a:buSzPct val="100000"/>
              <a:buChar char="•"/>
            </a:pPr>
            <a:r>
              <a:rPr lang="en-US" sz="1700" dirty="0">
                <a:solidFill>
                  <a:srgbClr val="5A4300"/>
                </a:solidFill>
              </a:rPr>
              <a:t>Gói dùng chung: một người theo dõi, chưa chia tiền</a:t>
            </a:r>
            <a:endParaRPr lang="en-US" sz="17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E8AA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766560" cy="1371600"/>
          </a:xfrm>
          <a:prstGeom prst="rect">
            <a:avLst/>
          </a:prstGeom>
          <a:noFill/>
          <a:ln/>
        </p:spPr>
        <p:txBody>
          <a:bodyPr wrap="square" lIns="0" tIns="0" rIns="0" bIns="0" rtlCol="0" anchor="b"/>
          <a:lstStyle/>
          <a:p>
            <a:pPr algn="l" indent="0" marL="0">
              <a:buNone/>
            </a:pPr>
            <a:r>
              <a:rPr lang="en-US" sz="5400" b="1" dirty="0">
                <a:solidFill>
                  <a:schemeClr val="bg1"/>
                </a:solidFill>
              </a:rPr>
              <a:t>Cảm ơn thầy cô và các bạn</a:t>
            </a:r>
            <a:endParaRPr lang="en-US" sz="5400" dirty="0"/>
          </a:p>
        </p:txBody>
      </p:sp>
      <p:sp>
        <p:nvSpPr>
          <p:cNvPr id="3" name="Text 0"/>
          <p:cNvSpPr/>
          <p:nvPr>
            <p:ph idx="101" type="body" hasCustomPrompt="1"/>
          </p:nvPr>
        </p:nvSpPr>
        <p:spPr>
          <a:xfrm>
            <a:off x="640080" y="3520440"/>
            <a:ext cx="6766560" cy="1463040"/>
          </a:xfrm>
          <a:prstGeom prst="rect">
            <a:avLst/>
          </a:prstGeom>
          <a:noFill/>
          <a:ln/>
        </p:spPr>
        <p:txBody>
          <a:bodyPr wrap="square" lIns="0" tIns="0" rIns="0" bIns="0" rtlCol="0" anchor="t"/>
          <a:lstStyle/>
          <a:p>
            <a:pPr algn="l" indent="0" marL="0">
              <a:buNone/>
            </a:pPr>
            <a:r>
              <a:rPr lang="en-US" sz="2200" dirty="0">
                <a:solidFill>
                  <a:srgbClr val="D9D2F5"/>
                </a:solidFill>
              </a:rPr>
              <a:t>Nhóm 4 – SubTrack · Rất mong nhận được góp ý</a:t>
            </a:r>
            <a:endParaRPr lang="en-US" sz="2200" dirty="0"/>
          </a:p>
        </p:txBody>
      </p:sp>
      <p:sp>
        <p:nvSpPr>
          <p:cNvPr id="4" name="Trang trí circle"/>
          <p:cNvSpPr/>
          <p:nvPr/>
        </p:nvSpPr>
        <p:spPr>
          <a:xfrm>
            <a:off x="8229600" y="1280160"/>
            <a:ext cx="1371600" cy="1371600"/>
          </a:xfrm>
          <a:prstGeom prst="ellipse">
            <a:avLst/>
          </a:prstGeom>
          <a:solidFill>
            <a:schemeClr val="accent1"/>
          </a:solidFill>
          <a:ln/>
        </p:spPr>
      </p:sp>
      <p:pic>
        <p:nvPicPr>
          <p:cNvPr id="5" name="Trang trí icon" descr="Trang trí">    </p:cNvPr>
          <p:cNvPicPr>
            <a:picLocks noChangeAspect="1"/>
          </p:cNvPicPr>
          <p:nvPr/>
        </p:nvPicPr>
        <p:blipFill>
          <a:blip r:embed="rId1"/>
          <a:stretch>
            <a:fillRect/>
          </a:stretch>
        </p:blipFill>
        <p:spPr>
          <a:xfrm>
            <a:off x="8586216" y="1636776"/>
            <a:ext cx="658368" cy="658368"/>
          </a:xfrm>
          <a:prstGeom prst="rect">
            <a:avLst/>
          </a:prstGeom>
        </p:spPr>
      </p:pic>
      <p:sp>
        <p:nvSpPr>
          <p:cNvPr id="6" name="Trang trí circle"/>
          <p:cNvSpPr/>
          <p:nvPr/>
        </p:nvSpPr>
        <p:spPr>
          <a:xfrm>
            <a:off x="9966960" y="2103120"/>
            <a:ext cx="1097280" cy="1097280"/>
          </a:xfrm>
          <a:prstGeom prst="ellipse">
            <a:avLst/>
          </a:prstGeom>
          <a:solidFill>
            <a:schemeClr val="accent2"/>
          </a:solidFill>
          <a:ln/>
        </p:spPr>
      </p:sp>
      <p:pic>
        <p:nvPicPr>
          <p:cNvPr id="7" name="Trang trí icon" descr="Trang trí">    </p:cNvPr>
          <p:cNvPicPr>
            <a:picLocks noChangeAspect="1"/>
          </p:cNvPicPr>
          <p:nvPr/>
        </p:nvPicPr>
        <p:blipFill>
          <a:blip r:embed="rId2"/>
          <a:stretch>
            <a:fillRect/>
          </a:stretch>
        </p:blipFill>
        <p:spPr>
          <a:xfrm>
            <a:off x="10252253" y="2388413"/>
            <a:ext cx="526694" cy="526694"/>
          </a:xfrm>
          <a:prstGeom prst="rect">
            <a:avLst/>
          </a:prstGeom>
        </p:spPr>
      </p:pic>
      <p:sp>
        <p:nvSpPr>
          <p:cNvPr id="8" name="Trang trí circle"/>
          <p:cNvSpPr/>
          <p:nvPr/>
        </p:nvSpPr>
        <p:spPr>
          <a:xfrm>
            <a:off x="8595360" y="3108960"/>
            <a:ext cx="1737360" cy="1737360"/>
          </a:xfrm>
          <a:prstGeom prst="ellipse">
            <a:avLst/>
          </a:prstGeom>
          <a:solidFill>
            <a:schemeClr val="accent3"/>
          </a:solidFill>
          <a:ln/>
        </p:spPr>
      </p:sp>
      <p:pic>
        <p:nvPicPr>
          <p:cNvPr id="9" name="Trang trí icon" descr="Trang trí">    </p:cNvPr>
          <p:cNvPicPr>
            <a:picLocks noChangeAspect="1"/>
          </p:cNvPicPr>
          <p:nvPr/>
        </p:nvPicPr>
        <p:blipFill>
          <a:blip r:embed="rId3"/>
          <a:stretch>
            <a:fillRect/>
          </a:stretch>
        </p:blipFill>
        <p:spPr>
          <a:xfrm>
            <a:off x="9047074" y="3560674"/>
            <a:ext cx="833933" cy="833933"/>
          </a:xfrm>
          <a:prstGeom prst="rect">
            <a:avLst/>
          </a:prstGeom>
        </p:spPr>
      </p:pic>
      <p:sp>
        <p:nvSpPr>
          <p:cNvPr id="10" name="Trang trí circle"/>
          <p:cNvSpPr/>
          <p:nvPr/>
        </p:nvSpPr>
        <p:spPr>
          <a:xfrm>
            <a:off x="10424160" y="3749040"/>
            <a:ext cx="1005840" cy="1005840"/>
          </a:xfrm>
          <a:prstGeom prst="ellipse">
            <a:avLst/>
          </a:prstGeom>
          <a:solidFill>
            <a:schemeClr val="accent4"/>
          </a:solidFill>
          <a:ln/>
        </p:spPr>
      </p:sp>
      <p:pic>
        <p:nvPicPr>
          <p:cNvPr id="11" name="Trang trí icon" descr="Trang trí">    </p:cNvPr>
          <p:cNvPicPr>
            <a:picLocks noChangeAspect="1"/>
          </p:cNvPicPr>
          <p:nvPr/>
        </p:nvPicPr>
        <p:blipFill>
          <a:blip r:embed="rId4"/>
          <a:stretch>
            <a:fillRect/>
          </a:stretch>
        </p:blipFill>
        <p:spPr>
          <a:xfrm>
            <a:off x="10685678" y="4010558"/>
            <a:ext cx="482803" cy="482803"/>
          </a:xfrm>
          <a:prstGeom prst="rect">
            <a:avLst/>
          </a:prstGeom>
        </p:spPr>
      </p:pic>
      <p:sp>
        <p:nvSpPr>
          <p:cNvPr id="12" name="Trang trí circle"/>
          <p:cNvSpPr/>
          <p:nvPr/>
        </p:nvSpPr>
        <p:spPr>
          <a:xfrm>
            <a:off x="9326880" y="5120640"/>
            <a:ext cx="822960" cy="822960"/>
          </a:xfrm>
          <a:prstGeom prst="ellipse">
            <a:avLst/>
          </a:prstGeom>
          <a:solidFill>
            <a:schemeClr val="accent5"/>
          </a:solidFill>
          <a:ln/>
        </p:spPr>
      </p:sp>
      <p:pic>
        <p:nvPicPr>
          <p:cNvPr id="13" name="Trang trí icon" descr="Trang trí">    </p:cNvPr>
          <p:cNvPicPr>
            <a:picLocks noChangeAspect="1"/>
          </p:cNvPicPr>
          <p:nvPr/>
        </p:nvPicPr>
        <p:blipFill>
          <a:blip r:embed="rId5"/>
          <a:stretch>
            <a:fillRect/>
          </a:stretch>
        </p:blipFill>
        <p:spPr>
          <a:xfrm>
            <a:off x="9540850" y="5334610"/>
            <a:ext cx="395021" cy="395021"/>
          </a:xfrm>
          <a:prstGeom prst="rect">
            <a:avLst/>
          </a:prstGeom>
        </p:spPr>
      </p:pic>
    </p:spTree>
  </p:cSld>
  <p:clrMapOvr>
    <a:masterClrMapping/>
  </p:clrMapOvr>
</p:sld>
</file>

<file path=ppt/theme/theme1.xml><?xml version="1.0" encoding="utf-8"?>
<a:theme xmlns:a="http://schemas.openxmlformats.org/drawingml/2006/main" name="SubTrack">
  <a:themeElements>
    <a:clrScheme name="SubTrack">
      <a:dk1>
        <a:srgbClr val="1F1A3D"/>
      </a:dk1>
      <a:lt1>
        <a:srgbClr val="FFFFFF"/>
      </a:lt1>
      <a:dk2>
        <a:srgbClr val="2B1B5A"/>
      </a:dk2>
      <a:lt2>
        <a:srgbClr val="F3F0FB"/>
      </a:lt2>
      <a:accent1>
        <a:srgbClr val="6C4CF1"/>
      </a:accent1>
      <a:accent2>
        <a:srgbClr val="FF7A59"/>
      </a:accent2>
      <a:accent3>
        <a:srgbClr val="1FA99C"/>
      </a:accent3>
      <a:accent4>
        <a:srgbClr val="F2A900"/>
      </a:accent4>
      <a:accent5>
        <a:srgbClr val="8E7CC3"/>
      </a:accent5>
      <a:accent6>
        <a:srgbClr val="3D2C78"/>
      </a:accent6>
      <a:hlink>
        <a:srgbClr val="6C4CF1"/>
      </a:hlink>
      <a:folHlink>
        <a:srgbClr val="8E7CC3"/>
      </a:folHlink>
    </a:clrScheme>
    <a:fontScheme name="SubTrac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SubTrack – Ứng dụng quản lý gói đăng ký định kỳ</dc:title>
  <dc:subject>PptxGenJS Presentation</dc:subject>
  <dc:creator>Nhóm 4</dc:creator>
  <cp:lastModifiedBy>Nhóm 4</cp:lastModifiedBy>
  <cp:revision>1</cp:revision>
  <dcterms:created xsi:type="dcterms:W3CDTF">2026-10-28T11:45:23Z</dcterms:created>
  <dcterms:modified xsi:type="dcterms:W3CDTF">2026-10-28T11:45:23Z</dcterms:modified>
</cp:coreProperties>
</file>